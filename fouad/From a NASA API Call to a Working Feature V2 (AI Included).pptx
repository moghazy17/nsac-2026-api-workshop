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Space Grotesk" pitchFamily="34" charset="0"/>
      <p:regular r:id="rId44"/>
      <p:bold r:id="rId45"/>
    </p:embeddedFont>
    <p:embeddedFont>
      <p:font typeface="JetBrains Mono" panose="02000009000000000000" pitchFamily="49" charset="0"/>
      <p:regular r:id="rId46"/>
      <p:bold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font" Target="fonts/font1.fntdata"/><Relationship Id="rId45" Type="http://schemas.openxmlformats.org/officeDocument/2006/relationships/font" Target="fonts/font2.fntdata"/><Relationship Id="rId46" Type="http://schemas.openxmlformats.org/officeDocument/2006/relationships/font" Target="fonts/font3.fntdata"/><Relationship Id="rId47"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Introduce yourself in two sentences: you build AI and data systems at e&amp; Egypt and you have shipped hackathon projects that live or die on getting data in early. Today is about one skill every Space Apps team needs: getting real NASA data into a project and turning it into a feature. Every pair leaves with a working call, a saved data file and one feature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score Relevance, so NASA data has to sit at the core of the project, and only projects that use NASA data or resources can win a Global Award. Teams that get real data flowing in the first two to three hours have time left to build, test and tell their story. The order matters: data first, then one feature, then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quickly. About 30 minutes of building blocks, then three 2025 projects, then joining sources and planning for failure, then a 25-minute code-along, and 35 minutes for pairs to build their own feature. Timings are a guide: if the room is behind, shorten the theory and protect the hands-on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simple version: an API is a web address that gives you data instead of a page. Point at the three parts of the URL: the endpoint says where, the parameters say which data, and the key says who is asking. The 200 OK badge means the request worked and JSON came back. Next slides explain what happens between your code and NASA, and why it works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call from left to right. Your app (the client) sends an HTTP request. NASA’s server checks the key and the rate limit, fetches from a database you never see, and sends back JSON. Your code turns that JSON into a feature. Every API you will ever use follows this same cycle, so this picture is worth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NASA build APIs? Because a raw database is too complex, unsafe to expose, hard to keep consistent and hard to scale. The API is a small, stable front door: the same JSON shape for everyone, keys to know who is asking, and limits to protect the service. The table names on the right are only an illustration of what might sit behind the door. The point is the contract: you ask in a fixed way and NASA answers in a fixed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exist, but for NASA data you will almost always use GET because you are reading. A request has a method, an endpoint, parameters (the key usually travels here), and optional headers. A response has a status code, headers and a body, which is the JSON you care about. Once students can read these two boxes, every API in the hackathon looks familiar. The APOD fields shown are structure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codes are the API’s way of telling you what went wrong. 200 means it worked. 400 means a bad parameter, for example a date range longer than 7 days. 403 means a bad or missing key. 429 means too many calls. 500 and 503 are NASA’s problem, so wait, retry, or use your saved copy. The sneaky one is a 200 with an empty list: no error, but no data either. Always check the length before you draw anything. Confirm the DEMO_KEY limit on api.nasa.gov before presenting, because limits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your own free key from api.nasa.gov. DEMO_KEY is shared by everyone on the same Wi-Fi, so in a full room it runs out in minutes. A free NASA key in page code is acceptable: the worst case is someone uses your quota. A paid key, such as an AI key, never goes in a web page or a public repo. Saved response files can also leak your key, because NeoWs copies it into every link it returns, so clean those before you commit. Confirm the quota numbers on api.nasa.gov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beginners never learn to read documentation, and it is the skill that unlocks every API. When you open any docs page, look for these seven things in order. Then paste the example URL into the browser before you write a single line of code. Next slide: the NeoWs docs as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real NeoWs docs on screen and walk the seven items from the checklist. Show where each one lives on the page. The key lesson: the docs tell you the date limit before the API tells you with a 400. Then paste the example URL, with your own key, into the browser and look at the JSON. Firefox shows JSON nicely.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picture from the outside in. Curly braces are dictionaries, where you look things up by name. Square brackets are lists, where you look things up by position. The code on the right is the path you follow to reach one number: it is just the names and positions of the boxes you open. Point out that the miss distance arrives as text in quotes. That is the first cleaning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build this themselves in the code-along notebook. The slide gives the four moves, not the code: walk the dates, walk the asteroids, open the nested boxes, append one flat row. Let them print one asteroid first and find the fields. Hints: size is in a nested dictionary, speed and miss distance are inside the first close approach, and both arrive as text. The finished loop is in the speaker notebook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is never feature-ready. Five problems to look for every time: numbers that arrive as text, units you did not expect (NeoWs gives miss distance in kilometres), missing values coded as -999 in NASA POWER, times in milliseconds from USGS, and a 200 OK with an empty list. Participants fix each one themselves in the notebooks; the hints on the slide name the pandas tools, not the lines. The solutions are in the speaker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NASA data universe you will meet in the hackathon. Do not memorize it: the point is that there are many sources and each has a different shape, key requirement and limit. Teams that pick the source from their need, instead of picking a source they happen to know, save hours. Before presenting, check that each of these is still live and that the key requirement shown is still right, because NASA services change. Mention that Mars rover photos and other APIs also exist; the NASA open APIs page lists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selection strategy: ask what shape of data you need. Live, small and filtered means an API. Big bulk data means a file download. If you just need to look around first, use a ready tool such as NASA Worldview. The table matches six common needs to a source and the one thing that trips people up with each. APOD returned placeholder data in the week this deck was prepared, which is itself a lesson in planning for failure. Re-check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just showing winners, dissect them. For each project ask the same six questions: what problem, which data sources, where do the sources join, what could fail, what is the fallback, and why does it stand out. Students learn much more from taking a winner apart than from admiring it. All three examples are from 2025, so nothing here touches this year’s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SkySense was a 2025 Global Winner for Best Use of Technology in Will It Rain On My Parade. It joined NASA POWER weather history with a live forecast, Google and Gemini AI into one risk score for a place and a date. Ask the room where the sources meet: place and date. That shared field is the join. Then the failure question: with four sources, what is the plan when one is down? Their live site is gone because the domain expired, which is a lesson in itself: a demo that depends on a hosted site needs a recorded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feed code together as a model. Call the API. Check that the response is OK and has the field you expect. Reshape the by-date lists into one flat list. Show it. And on every failure path, return built-in fallback data. The code is shortened from Team Polaris’s NeoWs file; the key is blurred on the slide, and you should stay in the habit of blurring keys. A free NASA key in page code is acceptable, a paid key never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TechNova, a 2025 Global Finalist from Morocco, used the same NeoWs feed as Meteor Shield but built a different feature: a Learn, Simulate and Mitigate web app with an impact on a 3D view and a map. The lesson is that the API gives you the data and your idea makes the feature. Then ask the room the keys question: does the call run in the browser or on a server, and why does that matter for where the key lives? Take two or three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three case studies together. SkySense shows joining on one shared field. Meteor Shield shows failing gracefully. TechNova shows that the same data can become a completely different idea. In all three, the NASA data is the core of the project, which is what the Relevance criterion rewards. Students should leave this slide with one pattern they plan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three minutes. The scenario is a 2025-style one, so it does not touch this year’s challenges. Good answers: NeoWs for the asteroids, plus a second source such as JPL Small-Body Database for size and orbit, or USGS for earthquake context. The shared field might be the date or the object ID. Listen for a fallback plan in the third answer, and praise any pair that mentions a saved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outcome of the workshop: integration is joining sources by a shared field. Source A is asteroid data from NeoWs, Source B is earthquake data from USGS, and the shared field is the date. Join them and you get context neither source has alone. The values are made up for illustration. Introduce the vocabulary lightly: a join matches rows, the key is the shared field, the relationship says how many rows match on each side, and data fusion is the big-picture name for combining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write the join themselves in notebook 04. Three moves: make both date columns the same type, reduce the quakes to one row per day so one asteroid row cannot multiply, then merge on the shared date keeping every asteroid. Days with no earthquake show NaN, which is the honest answer. The table is only the target shape with illustrative values. On the right are the five ways joins usually go wrong in a hackathon. USGS timestamps are milliseconds since 1970 in UTC, and its GeoJSON coordinates come as longitude, latitude, depth. The working code is in the speaker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is one of the best topics for Space Apps. Demos break because of rate limits, missing values and slow APIs, not because the idea was bad. Run down the six failure types and say the fix for each in one sentence. The key habit: decide, before demo day, what the screen shows when each of these happens. Next slide: the full picture as a flow, and three things that actually broke in the week this deck was prepared.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failure story in one flow. Call the API. If it returns 200 OK, save a copy and show the feature. If not, show a clear message and use the saved copy, so the feature still appears. The three cards are real examples from the week this deck was prepared: the APOD API returned placeholder data, SkySense’s live site had gone because the domain expired, and Meteor Shield’s built-in fallback data would still have worked. Re-check the APOD status before you present and update the card if it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from the Meteor Shield slide, now as an exercise. Four ideas: ask before you trust (timeout, status code, empty check), save a fresh copy every time a call works with the key hidden, catch failures with one clear message, and fall back in order: live, saved copy, labelled sample. In the code-along a planned failure with a wrong key tests it. The finished function is in the speaker notebook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add-on for teams that want an AI feature. Three providers have a free tier: Gemini, Groq and OpenRouter. All use the same chat completions request, so one function can call any of them. Keys go in Colab Secrets. Free tiers can use prompts for training and limits change, so send no private data and check each dashboard. Notebooks 05 and 06 cover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one JSON answer. Walk left to right: your code sends a POST with the key in the header and the messages in the body. The provider answers with JSON. Only three fields matter at first: the text in choices zero message content, finish reason, and usage. Then the three response types: plain text, JSON that you must validate because JSON mode is only a hint, and streaming where lines start with data and end with DONE. Notebooks 05 and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can fail, so decide in advance. Temporary problems, 429 rate limit, server errors and timeouts: wait, honoring Retry-After but never more than ten seconds, and retry once. Permanent problems, a bad key, no access, a missing model or a bad request: skip at once because retrying cannot help. Then go to the next provider. Notebook 07 step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one question travel down the chain. First the cache, a miss. Gemini returns 429, we retry once, still 429. Groq says 401, a bad key, so we skip it. OpenRouter returns 200 and we have an answer. The template at the end is only used if every provider fails. Always label on screen who wrote the text. Notebook 07 builds this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response types: text, JSON and streaming. JSON mode is only a hint, so parse and validate. Errors: retry 429 and 5xx once, skip bad keys and missing models. Chain: cache, three providers, then a template that is honest about being the basic version. Notebook 07 builds this and notebook 08 puts it on NASA asteroid data. Facts from code, words from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supports the 48-hour plan. The bad architecture is the classic hackathon trap: ten APIs, no saved data, chaos. The good architecture is one NASA API, save the data, clean it, build one feature, and only then add a second source. The common mistakes along the bottom are what costs teams the most time: too many APIs at once, building their own backend or database, huge downloads, and chasing a perfect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25-minute code-along where pairs run each step. Open the NeoWs docs, build the URL and test it in the browser, call it from code, find the five fields in the nested JSON, clean units and flags, show a closest-asteroids-this-week list and save the data as a file. Include one planned failure at step 11: use a wrong key on purpose, show the clear message, then show the saved-file fallback. The milestones at the bottom are the checkpoints for the hands-on build that follows. Replace the placeholder with the real notebook link before the session; the original deck’s QR code and repository link were not carried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choose one API card, from easy to harder. EPIC is the easy one, NeoWs the medium one and NASA POWER the harder one, because it needs 20 years of data and has -999 missing values. Each card has a trap to find. Fast pairs can join a second source, for example USGS earthquakes. Done means: one 200 OK call, a clean table with units saved as JSON or CSV, one feature on screen, and one error handled with a clear message. Use APOD instead of EPIC only after checking that it is returning real data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48-hour plan in three steps. In the first three hours, get one real call working and save the response. Then build the feature on the saved copy, so a slow or broken API cannot stop you. Later, go live and join a second source by date or place. Avoid the four time sinks on the left. On AI assistants: they are useful for explaining docs and drafting parsing code, but they invent endpoints and field names, so test every field against the real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five things. Then take questions. If there is time, ask each pair to name the one failure they handled in their build. Make sure the link to the notebook, the API cards and the cheat sheet is on screen and in the room chat. Replace the placeholder text before the session; the original deck’s QR code and repository link were not carried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607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F4F5F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F4F5F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07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F4F5F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F4F5F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2.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2.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2.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 Id="rId5" Type="http://schemas.openxmlformats.org/officeDocument/2006/relationships/hyperlink" Target="https://github.com/moghazy17/nsac-2026-api-workshop" TargetMode="External"/><Relationship Id="rId6"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image" Target="../media/image-35-3.jpeg"/><Relationship Id="rId4" Type="http://schemas.openxmlformats.org/officeDocument/2006/relationships/image" Target="../media/image-35-4.png"/><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 Id="rId6" Type="http://schemas.openxmlformats.org/officeDocument/2006/relationships/hyperlink" Target="https://github.com/moghazy17/nsac-2026-api-workshop" TargetMode="External"/><Relationship Id="rId7"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70D"/>
        </a:solidFill>
      </p:bgPr>
    </p:bg>
    <p:spTree>
      <p:nvGrpSpPr>
        <p:cNvPr id="1" name=""/>
        <p:cNvGrpSpPr/>
        <p:nvPr/>
      </p:nvGrpSpPr>
      <p:grpSpPr>
        <a:xfrm>
          <a:off x="0" y="0"/>
          <a:ext cx="0" cy="0"/>
          <a:chOff x="0" y="0"/>
          <a:chExt cx="0" cy="0"/>
        </a:xfrm>
      </p:grpSpPr>
      <p:pic>
        <p:nvPicPr>
          <p:cNvPr id="2" name="Image 0" descr="Cairo at night seen from the International Space Station">    </p:cNvPr>
          <p:cNvPicPr>
            <a:picLocks noChangeAspect="1"/>
          </p:cNvPicPr>
          <p:nvPr/>
        </p:nvPicPr>
        <p:blipFill>
          <a:blip r:embed="rId1"/>
          <a:srcRect l="2335" r="2335" t="0" b="0"/>
          <a:stretch/>
        </p:blipFill>
        <p:spPr>
          <a:xfrm>
            <a:off x="7112000" y="0"/>
            <a:ext cx="5080000" cy="6858000"/>
          </a:xfrm>
          <a:prstGeom prst="rect">
            <a:avLst/>
          </a:prstGeom>
        </p:spPr>
      </p:pic>
      <p:sp>
        <p:nvSpPr>
          <p:cNvPr id="3" name="Shape 0"/>
          <p:cNvSpPr/>
          <p:nvPr/>
        </p:nvSpPr>
        <p:spPr>
          <a:xfrm>
            <a:off x="7112000" y="0"/>
            <a:ext cx="2286000" cy="6858000"/>
          </a:xfrm>
          <a:prstGeom prst="rect">
            <a:avLst/>
          </a:prstGeom>
          <a:gradFill rotWithShape="1">
            <a:gsLst>
              <a:gs pos="0">
                <a:srgbClr val="06070D"/>
              </a:gs>
              <a:gs pos="100000">
                <a:srgbClr val="06070D">
                  <a:alpha val="0"/>
                </a:srgbClr>
              </a:gs>
            </a:gsLst>
            <a:lin ang="0" scaled="0"/>
          </a:gradFill>
          <a:ln/>
        </p:spPr>
      </p:sp>
      <p:pic>
        <p:nvPicPr>
          <p:cNvPr id="4" name="Image 1" descr="NASA Space Apps Cairo logo">    </p:cNvPr>
          <p:cNvPicPr>
            <a:picLocks noChangeAspect="1"/>
          </p:cNvPicPr>
          <p:nvPr/>
        </p:nvPicPr>
        <p:blipFill>
          <a:blip r:embed="rId2"/>
          <a:srcRect l="-109" r="-109" t="0" b="0"/>
          <a:stretch/>
        </p:blipFill>
        <p:spPr>
          <a:xfrm>
            <a:off x="812800" y="812800"/>
            <a:ext cx="1168400" cy="457200"/>
          </a:xfrm>
          <a:prstGeom prst="rect">
            <a:avLst/>
          </a:prstGeom>
        </p:spPr>
      </p:pic>
      <p:pic>
        <p:nvPicPr>
          <p:cNvPr id="5" name="Image 2" descr="IEEE Young Professionals Egypt logo">    </p:cNvPr>
          <p:cNvPicPr>
            <a:picLocks noChangeAspect="1"/>
          </p:cNvPicPr>
          <p:nvPr/>
        </p:nvPicPr>
        <p:blipFill>
          <a:blip r:embed="rId3"/>
          <a:srcRect l="0" r="0" t="-3340" b="-3340"/>
          <a:stretch/>
        </p:blipFill>
        <p:spPr>
          <a:xfrm>
            <a:off x="2336800" y="812800"/>
            <a:ext cx="1784350" cy="457200"/>
          </a:xfrm>
          <a:prstGeom prst="rect">
            <a:avLst/>
          </a:prstGeom>
        </p:spPr>
      </p:pic>
      <p:sp>
        <p:nvSpPr>
          <p:cNvPr id="6" name="Text 1"/>
          <p:cNvSpPr/>
          <p:nvPr/>
        </p:nvSpPr>
        <p:spPr>
          <a:xfrm>
            <a:off x="812800" y="1868686"/>
            <a:ext cx="6148070"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FF3B1F"/>
                </a:solidFill>
                <a:latin typeface="IBM Plex Sans" pitchFamily="34" charset="0"/>
                <a:ea typeface="IBM Plex Sans" pitchFamily="34" charset="-122"/>
                <a:cs typeface="IBM Plex Sans" pitchFamily="34" charset="-120"/>
              </a:rPr>
              <a:t>NASA SPACE APPS CAIRO 2026 · BOOTCAMP</a:t>
            </a:r>
            <a:endParaRPr lang="en-US" sz="1400" dirty="0"/>
          </a:p>
        </p:txBody>
      </p:sp>
      <p:sp>
        <p:nvSpPr>
          <p:cNvPr id="7" name="Text 2"/>
          <p:cNvSpPr/>
          <p:nvPr>
            <p:ph type="title"/>
          </p:nvPr>
        </p:nvSpPr>
        <p:spPr>
          <a:xfrm>
            <a:off x="812800" y="2269927"/>
            <a:ext cx="6148070" cy="1835745"/>
          </a:xfrm>
          <a:prstGeom prst="rect">
            <a:avLst/>
          </a:prstGeom>
          <a:noFill/>
          <a:ln/>
        </p:spPr>
        <p:txBody>
          <a:bodyPr wrap="square" lIns="0" tIns="0" rIns="0" bIns="0" rtlCol="0" anchor="t">
            <a:normAutofit/>
          </a:bodyPr>
          <a:lstStyle/>
          <a:p>
            <a:pPr algn="l" indent="0" marL="0">
              <a:lnSpc>
                <a:spcPts val="4752"/>
              </a:lnSpc>
              <a:buNone/>
            </a:pPr>
            <a:r>
              <a:rPr lang="en-US" sz="4400" b="1" i="0" dirty="0">
                <a:solidFill>
                  <a:srgbClr val="F4F5FA"/>
                </a:solidFill>
                <a:latin typeface="Space Grotesk" pitchFamily="34" charset="0"/>
                <a:ea typeface="Space Grotesk" pitchFamily="34" charset="-122"/>
                <a:cs typeface="Space Grotesk" pitchFamily="34" charset="-120"/>
              </a:rPr>
              <a:t>From a NASA API</a:t>
            </a:r>
            <a:endParaRPr lang="en-US" sz="4400" dirty="0"/>
          </a:p>
          <a:p>
            <a:pPr algn="l" indent="0" marL="0">
              <a:lnSpc>
                <a:spcPts val="4752"/>
              </a:lnSpc>
              <a:buNone/>
            </a:pPr>
            <a:r>
              <a:rPr lang="en-US" sz="4400" b="1" i="0" dirty="0">
                <a:solidFill>
                  <a:srgbClr val="F4F5FA"/>
                </a:solidFill>
                <a:latin typeface="Space Grotesk" pitchFamily="34" charset="0"/>
                <a:ea typeface="Space Grotesk" pitchFamily="34" charset="-122"/>
                <a:cs typeface="Space Grotesk" pitchFamily="34" charset="-120"/>
              </a:rPr>
              <a:t>Call to a Working</a:t>
            </a:r>
            <a:endParaRPr lang="en-US" sz="4400" dirty="0"/>
          </a:p>
          <a:p>
            <a:pPr algn="l" indent="0" marL="0">
              <a:lnSpc>
                <a:spcPts val="4752"/>
              </a:lnSpc>
              <a:buNone/>
            </a:pPr>
            <a:r>
              <a:rPr lang="en-US" sz="4400" b="1" i="0" dirty="0">
                <a:solidFill>
                  <a:srgbClr val="F4F5FA"/>
                </a:solidFill>
                <a:latin typeface="Space Grotesk" pitchFamily="34" charset="0"/>
                <a:ea typeface="Space Grotesk" pitchFamily="34" charset="-122"/>
                <a:cs typeface="Space Grotesk" pitchFamily="34" charset="-120"/>
              </a:rPr>
              <a:t>Feature</a:t>
            </a:r>
            <a:endParaRPr lang="en-US" sz="4400" dirty="0"/>
          </a:p>
        </p:txBody>
      </p:sp>
      <p:sp>
        <p:nvSpPr>
          <p:cNvPr id="8" name="Text 3"/>
          <p:cNvSpPr/>
          <p:nvPr/>
        </p:nvSpPr>
        <p:spPr>
          <a:xfrm>
            <a:off x="812800" y="4232672"/>
            <a:ext cx="614807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9AA3B8"/>
                </a:solidFill>
                <a:latin typeface="IBM Plex Sans" pitchFamily="34" charset="0"/>
                <a:ea typeface="IBM Plex Sans" pitchFamily="34" charset="-122"/>
                <a:cs typeface="IBM Plex Sans" pitchFamily="34" charset="-120"/>
              </a:rPr>
              <a:t>API &amp; Data Integration workshop</a:t>
            </a:r>
            <a:endParaRPr lang="en-US" sz="1800" dirty="0"/>
          </a:p>
        </p:txBody>
      </p:sp>
      <p:sp>
        <p:nvSpPr>
          <p:cNvPr id="9" name="Text 4"/>
          <p:cNvSpPr/>
          <p:nvPr/>
        </p:nvSpPr>
        <p:spPr>
          <a:xfrm>
            <a:off x="812800" y="5151338"/>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5FA"/>
                </a:solidFill>
                <a:latin typeface="IBM Plex Sans" pitchFamily="34" charset="0"/>
                <a:ea typeface="IBM Plex Sans" pitchFamily="34" charset="-122"/>
                <a:cs typeface="IBM Plex Sans" pitchFamily="34" charset="-120"/>
              </a:rPr>
              <a:t>Fouad Soliman</a:t>
            </a:r>
            <a:endParaRPr lang="en-US" sz="1800" dirty="0"/>
          </a:p>
        </p:txBody>
      </p:sp>
      <p:sp>
        <p:nvSpPr>
          <p:cNvPr id="10" name="Text 5"/>
          <p:cNvSpPr/>
          <p:nvPr/>
        </p:nvSpPr>
        <p:spPr>
          <a:xfrm>
            <a:off x="812800" y="55094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AI &amp; Data Analytics Senior Specialist · e&amp; Egypt</a:t>
            </a:r>
            <a:endParaRPr lang="en-US" sz="1400" dirty="0"/>
          </a:p>
        </p:txBody>
      </p:sp>
      <p:sp>
        <p:nvSpPr>
          <p:cNvPr id="11" name="Text 6"/>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30 October 2026 · Nile University</a:t>
            </a:r>
            <a:endParaRPr lang="en-US" sz="1400" dirty="0"/>
          </a:p>
        </p:txBody>
      </p:sp>
      <p:sp>
        <p:nvSpPr>
          <p:cNvPr id="12" name="Text 7"/>
          <p:cNvSpPr/>
          <p:nvPr/>
        </p:nvSpPr>
        <p:spPr>
          <a:xfrm>
            <a:off x="7376414" y="6248400"/>
            <a:ext cx="40027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EBF5"/>
                </a:solidFill>
                <a:latin typeface="IBM Plex Sans" pitchFamily="34" charset="0"/>
                <a:ea typeface="IBM Plex Sans" pitchFamily="34" charset="-122"/>
                <a:cs typeface="IBM Plex Sans" pitchFamily="34" charset="-120"/>
              </a:rPr>
              <a:t>Cairo at night from the ISS · NASA, Jul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Why real NASA data comes first</a:t>
            </a:r>
            <a:endParaRPr lang="en-US" sz="3200" dirty="0"/>
          </a:p>
        </p:txBody>
      </p:sp>
      <p:sp>
        <p:nvSpPr>
          <p:cNvPr id="3" name="Shape 1"/>
          <p:cNvSpPr/>
          <p:nvPr/>
        </p:nvSpPr>
        <p:spPr>
          <a:xfrm>
            <a:off x="812800" y="1564580"/>
            <a:ext cx="3386634" cy="1654770"/>
          </a:xfrm>
          <a:prstGeom prst="roundRect">
            <a:avLst>
              <a:gd name="adj" fmla="val 7675"/>
            </a:avLst>
          </a:prstGeom>
          <a:solidFill>
            <a:srgbClr val="141A2E"/>
          </a:solidFill>
          <a:ln/>
        </p:spPr>
      </p:sp>
      <p:sp>
        <p:nvSpPr>
          <p:cNvPr id="4" name="Text 2"/>
          <p:cNvSpPr/>
          <p:nvPr/>
        </p:nvSpPr>
        <p:spPr>
          <a:xfrm>
            <a:off x="1041400" y="1793180"/>
            <a:ext cx="301731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F3B1F"/>
                </a:solidFill>
                <a:latin typeface="Space Grotesk" pitchFamily="34" charset="0"/>
                <a:ea typeface="Space Grotesk" pitchFamily="34" charset="-122"/>
                <a:cs typeface="Space Grotesk" pitchFamily="34" charset="-120"/>
              </a:rPr>
              <a:t>Relevance</a:t>
            </a:r>
            <a:endParaRPr lang="en-US" sz="2200" dirty="0"/>
          </a:p>
        </p:txBody>
      </p:sp>
      <p:sp>
        <p:nvSpPr>
          <p:cNvPr id="5" name="Text 3"/>
          <p:cNvSpPr/>
          <p:nvPr/>
        </p:nvSpPr>
        <p:spPr>
          <a:xfrm>
            <a:off x="1041400" y="2190651"/>
            <a:ext cx="301731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Judges want NASA data at the core of your project, not added on.</a:t>
            </a:r>
            <a:endParaRPr lang="en-US" sz="1500" dirty="0"/>
          </a:p>
        </p:txBody>
      </p:sp>
      <p:sp>
        <p:nvSpPr>
          <p:cNvPr id="6" name="Shape 4"/>
          <p:cNvSpPr/>
          <p:nvPr/>
        </p:nvSpPr>
        <p:spPr>
          <a:xfrm>
            <a:off x="4402634" y="1564580"/>
            <a:ext cx="3386733" cy="1654770"/>
          </a:xfrm>
          <a:prstGeom prst="roundRect">
            <a:avLst>
              <a:gd name="adj" fmla="val 7675"/>
            </a:avLst>
          </a:prstGeom>
          <a:solidFill>
            <a:srgbClr val="141A2E"/>
          </a:solidFill>
          <a:ln/>
        </p:spPr>
      </p:sp>
      <p:sp>
        <p:nvSpPr>
          <p:cNvPr id="7" name="Text 5"/>
          <p:cNvSpPr/>
          <p:nvPr/>
        </p:nvSpPr>
        <p:spPr>
          <a:xfrm>
            <a:off x="4631234" y="1793180"/>
            <a:ext cx="301741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F3B1F"/>
                </a:solidFill>
                <a:latin typeface="Space Grotesk" pitchFamily="34" charset="0"/>
                <a:ea typeface="Space Grotesk" pitchFamily="34" charset="-122"/>
                <a:cs typeface="Space Grotesk" pitchFamily="34" charset="-120"/>
              </a:rPr>
              <a:t>Global Award</a:t>
            </a:r>
            <a:endParaRPr lang="en-US" sz="2200" dirty="0"/>
          </a:p>
        </p:txBody>
      </p:sp>
      <p:sp>
        <p:nvSpPr>
          <p:cNvPr id="8" name="Text 6"/>
          <p:cNvSpPr/>
          <p:nvPr/>
        </p:nvSpPr>
        <p:spPr>
          <a:xfrm>
            <a:off x="4631234" y="2190651"/>
            <a:ext cx="301741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Only projects that use NASA data or resources can win one.</a:t>
            </a:r>
            <a:endParaRPr lang="en-US" sz="1500" dirty="0"/>
          </a:p>
        </p:txBody>
      </p:sp>
      <p:sp>
        <p:nvSpPr>
          <p:cNvPr id="9" name="Shape 7"/>
          <p:cNvSpPr/>
          <p:nvPr/>
        </p:nvSpPr>
        <p:spPr>
          <a:xfrm>
            <a:off x="7992566" y="1564580"/>
            <a:ext cx="3386634" cy="1654770"/>
          </a:xfrm>
          <a:prstGeom prst="roundRect">
            <a:avLst>
              <a:gd name="adj" fmla="val 7675"/>
            </a:avLst>
          </a:prstGeom>
          <a:solidFill>
            <a:srgbClr val="141A2E"/>
          </a:solidFill>
          <a:ln/>
        </p:spPr>
      </p:sp>
      <p:sp>
        <p:nvSpPr>
          <p:cNvPr id="10" name="Text 8"/>
          <p:cNvSpPr/>
          <p:nvPr/>
        </p:nvSpPr>
        <p:spPr>
          <a:xfrm>
            <a:off x="8221166" y="1793180"/>
            <a:ext cx="301731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F3B1F"/>
                </a:solidFill>
                <a:latin typeface="Space Grotesk" pitchFamily="34" charset="0"/>
                <a:ea typeface="Space Grotesk" pitchFamily="34" charset="-122"/>
                <a:cs typeface="Space Grotesk" pitchFamily="34" charset="-120"/>
              </a:rPr>
              <a:t>2–3 hours</a:t>
            </a:r>
            <a:endParaRPr lang="en-US" sz="2200" dirty="0"/>
          </a:p>
        </p:txBody>
      </p:sp>
      <p:sp>
        <p:nvSpPr>
          <p:cNvPr id="11" name="Text 9"/>
          <p:cNvSpPr/>
          <p:nvPr/>
        </p:nvSpPr>
        <p:spPr>
          <a:xfrm>
            <a:off x="8221166" y="2190651"/>
            <a:ext cx="30173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Get your first real call working and saved, then build.</a:t>
            </a:r>
            <a:endParaRPr lang="en-US" sz="1500" dirty="0"/>
          </a:p>
        </p:txBody>
      </p:sp>
      <p:sp>
        <p:nvSpPr>
          <p:cNvPr id="12" name="Shape 10"/>
          <p:cNvSpPr/>
          <p:nvPr/>
        </p:nvSpPr>
        <p:spPr>
          <a:xfrm>
            <a:off x="812800" y="3524151"/>
            <a:ext cx="2702223" cy="573980"/>
          </a:xfrm>
          <a:prstGeom prst="roundRect">
            <a:avLst>
              <a:gd name="adj" fmla="val 50000"/>
            </a:avLst>
          </a:prstGeom>
          <a:solidFill>
            <a:srgbClr val="141A2E"/>
          </a:solidFill>
          <a:ln/>
        </p:spPr>
      </p:sp>
      <p:sp>
        <p:nvSpPr>
          <p:cNvPr id="13" name="Text 11"/>
          <p:cNvSpPr/>
          <p:nvPr/>
        </p:nvSpPr>
        <p:spPr>
          <a:xfrm>
            <a:off x="1066800" y="3651151"/>
            <a:ext cx="15418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EA8FF"/>
                </a:solidFill>
                <a:latin typeface="Space Grotesk" pitchFamily="34" charset="0"/>
                <a:ea typeface="Space Grotesk" pitchFamily="34" charset="-122"/>
                <a:cs typeface="Space Grotesk" pitchFamily="34" charset="-120"/>
              </a:rPr>
              <a:t>1</a:t>
            </a:r>
            <a:endParaRPr lang="en-US" sz="1800" dirty="0"/>
          </a:p>
        </p:txBody>
      </p:sp>
      <p:sp>
        <p:nvSpPr>
          <p:cNvPr id="14" name="Text 12"/>
          <p:cNvSpPr/>
          <p:nvPr/>
        </p:nvSpPr>
        <p:spPr>
          <a:xfrm>
            <a:off x="1297186" y="3668911"/>
            <a:ext cx="22178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5FA"/>
                </a:solidFill>
                <a:latin typeface="IBM Plex Sans" pitchFamily="34" charset="0"/>
                <a:ea typeface="IBM Plex Sans" pitchFamily="34" charset="-122"/>
                <a:cs typeface="IBM Plex Sans" pitchFamily="34" charset="-120"/>
              </a:rPr>
              <a:t>Get real data flowing</a:t>
            </a:r>
            <a:endParaRPr lang="en-US" sz="1600" dirty="0"/>
          </a:p>
        </p:txBody>
      </p:sp>
      <p:pic>
        <p:nvPicPr>
          <p:cNvPr id="15" name="Image 0" descr="arrow-right">    </p:cNvPr>
          <p:cNvPicPr>
            <a:picLocks noChangeAspect="1"/>
          </p:cNvPicPr>
          <p:nvPr/>
        </p:nvPicPr>
        <p:blipFill>
          <a:blip r:embed="rId1"/>
          <a:srcRect l="0" r="0" t="0" b="0"/>
          <a:stretch/>
        </p:blipFill>
        <p:spPr>
          <a:xfrm>
            <a:off x="3667423" y="3715841"/>
            <a:ext cx="355600" cy="190500"/>
          </a:xfrm>
          <a:prstGeom prst="rect">
            <a:avLst/>
          </a:prstGeom>
        </p:spPr>
      </p:pic>
      <p:sp>
        <p:nvSpPr>
          <p:cNvPr id="16" name="Shape 13"/>
          <p:cNvSpPr/>
          <p:nvPr/>
        </p:nvSpPr>
        <p:spPr>
          <a:xfrm>
            <a:off x="4175423" y="3524151"/>
            <a:ext cx="2389882" cy="573980"/>
          </a:xfrm>
          <a:prstGeom prst="roundRect">
            <a:avLst>
              <a:gd name="adj" fmla="val 50000"/>
            </a:avLst>
          </a:prstGeom>
          <a:solidFill>
            <a:srgbClr val="141A2E"/>
          </a:solidFill>
          <a:ln/>
        </p:spPr>
      </p:sp>
      <p:sp>
        <p:nvSpPr>
          <p:cNvPr id="17" name="Text 14"/>
          <p:cNvSpPr/>
          <p:nvPr/>
        </p:nvSpPr>
        <p:spPr>
          <a:xfrm>
            <a:off x="4429423" y="3651151"/>
            <a:ext cx="18663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B347"/>
                </a:solidFill>
                <a:latin typeface="Space Grotesk" pitchFamily="34" charset="0"/>
                <a:ea typeface="Space Grotesk" pitchFamily="34" charset="-122"/>
                <a:cs typeface="Space Grotesk" pitchFamily="34" charset="-120"/>
              </a:rPr>
              <a:t>2</a:t>
            </a:r>
            <a:endParaRPr lang="en-US" sz="1800" dirty="0"/>
          </a:p>
        </p:txBody>
      </p:sp>
      <p:sp>
        <p:nvSpPr>
          <p:cNvPr id="18" name="Text 15"/>
          <p:cNvSpPr/>
          <p:nvPr/>
        </p:nvSpPr>
        <p:spPr>
          <a:xfrm>
            <a:off x="4692253" y="3668911"/>
            <a:ext cx="187305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5FA"/>
                </a:solidFill>
                <a:latin typeface="IBM Plex Sans" pitchFamily="34" charset="0"/>
                <a:ea typeface="IBM Plex Sans" pitchFamily="34" charset="-122"/>
                <a:cs typeface="IBM Plex Sans" pitchFamily="34" charset="-120"/>
              </a:rPr>
              <a:t>Build one feature</a:t>
            </a:r>
            <a:endParaRPr lang="en-US" sz="1600" dirty="0"/>
          </a:p>
        </p:txBody>
      </p:sp>
      <p:pic>
        <p:nvPicPr>
          <p:cNvPr id="19" name="Image 1" descr="arrow-right">    </p:cNvPr>
          <p:cNvPicPr>
            <a:picLocks noChangeAspect="1"/>
          </p:cNvPicPr>
          <p:nvPr/>
        </p:nvPicPr>
        <p:blipFill>
          <a:blip r:embed="rId2"/>
          <a:srcRect l="0" r="0" t="0" b="0"/>
          <a:stretch/>
        </p:blipFill>
        <p:spPr>
          <a:xfrm>
            <a:off x="6717705" y="3715841"/>
            <a:ext cx="355600" cy="190500"/>
          </a:xfrm>
          <a:prstGeom prst="rect">
            <a:avLst/>
          </a:prstGeom>
        </p:spPr>
      </p:pic>
      <p:sp>
        <p:nvSpPr>
          <p:cNvPr id="20" name="Shape 16"/>
          <p:cNvSpPr/>
          <p:nvPr/>
        </p:nvSpPr>
        <p:spPr>
          <a:xfrm>
            <a:off x="7225705" y="3524151"/>
            <a:ext cx="1992213" cy="573980"/>
          </a:xfrm>
          <a:prstGeom prst="roundRect">
            <a:avLst>
              <a:gd name="adj" fmla="val 50000"/>
            </a:avLst>
          </a:prstGeom>
          <a:solidFill>
            <a:srgbClr val="141A2E"/>
          </a:solidFill>
          <a:ln/>
        </p:spPr>
      </p:sp>
      <p:sp>
        <p:nvSpPr>
          <p:cNvPr id="21" name="Text 17"/>
          <p:cNvSpPr/>
          <p:nvPr/>
        </p:nvSpPr>
        <p:spPr>
          <a:xfrm>
            <a:off x="7479705" y="3651151"/>
            <a:ext cx="189805"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DDC97"/>
                </a:solidFill>
                <a:latin typeface="Space Grotesk" pitchFamily="34" charset="0"/>
                <a:ea typeface="Space Grotesk" pitchFamily="34" charset="-122"/>
                <a:cs typeface="Space Grotesk" pitchFamily="34" charset="-120"/>
              </a:rPr>
              <a:t>3</a:t>
            </a:r>
            <a:endParaRPr lang="en-US" sz="1800" dirty="0"/>
          </a:p>
        </p:txBody>
      </p:sp>
      <p:sp>
        <p:nvSpPr>
          <p:cNvPr id="22" name="Text 18"/>
          <p:cNvSpPr/>
          <p:nvPr/>
        </p:nvSpPr>
        <p:spPr>
          <a:xfrm>
            <a:off x="7745710" y="3668911"/>
            <a:ext cx="14618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5FA"/>
                </a:solidFill>
                <a:latin typeface="IBM Plex Sans" pitchFamily="34" charset="0"/>
                <a:ea typeface="IBM Plex Sans" pitchFamily="34" charset="-122"/>
                <a:cs typeface="IBM Plex Sans" pitchFamily="34" charset="-120"/>
              </a:rPr>
              <a:t>Tell the story</a:t>
            </a:r>
            <a:endParaRPr lang="en-US" sz="1600" dirty="0"/>
          </a:p>
        </p:txBody>
      </p:sp>
      <p:sp>
        <p:nvSpPr>
          <p:cNvPr id="23" name="Text 19"/>
          <p:cNvSpPr/>
          <p:nvPr/>
        </p:nvSpPr>
        <p:spPr>
          <a:xfrm>
            <a:off x="812800" y="440293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A3B8"/>
                </a:solidFill>
                <a:latin typeface="IBM Plex Sans" pitchFamily="34" charset="0"/>
                <a:ea typeface="IBM Plex Sans" pitchFamily="34" charset="-122"/>
                <a:cs typeface="IBM Plex Sans" pitchFamily="34" charset="-120"/>
              </a:rPr>
              <a:t>Today every pair leaves with: </a:t>
            </a:r>
            <a:r>
              <a:rPr lang="en-US" sz="1600" b="1" dirty="0">
                <a:solidFill>
                  <a:srgbClr val="F4F5FA"/>
                </a:solidFill>
                <a:latin typeface="IBM Plex Sans" pitchFamily="34" charset="0"/>
                <a:ea typeface="IBM Plex Sans" pitchFamily="34" charset="-122"/>
                <a:cs typeface="IBM Plex Sans" pitchFamily="34" charset="-120"/>
              </a:rPr>
              <a:t>a working call · a saved data file · one feature on screen</a:t>
            </a:r>
            <a:endParaRPr lang="en-US" sz="1600" dirty="0"/>
          </a:p>
        </p:txBody>
      </p:sp>
      <p:pic>
        <p:nvPicPr>
          <p:cNvPr id="24" name="Image 2" descr="NASA Space Apps Cairo logo">    </p:cNvPr>
          <p:cNvPicPr>
            <a:picLocks noChangeAspect="1"/>
          </p:cNvPicPr>
          <p:nvPr/>
        </p:nvPicPr>
        <p:blipFill>
          <a:blip r:embed="rId3"/>
          <a:srcRect l="-70" r="-70" t="0" b="0"/>
          <a:stretch/>
        </p:blipFill>
        <p:spPr>
          <a:xfrm>
            <a:off x="812800" y="6146800"/>
            <a:ext cx="908050" cy="355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Our two hours</a:t>
            </a:r>
            <a:endParaRPr lang="en-US" sz="3200" dirty="0"/>
          </a:p>
        </p:txBody>
      </p:sp>
      <p:sp>
        <p:nvSpPr>
          <p:cNvPr id="3" name="Text 1"/>
          <p:cNvSpPr/>
          <p:nvPr/>
        </p:nvSpPr>
        <p:spPr>
          <a:xfrm>
            <a:off x="1276062" y="1564580"/>
            <a:ext cx="539234"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0 min</a:t>
            </a:r>
            <a:endParaRPr lang="en-US" sz="1400" dirty="0"/>
          </a:p>
        </p:txBody>
      </p:sp>
      <p:sp>
        <p:nvSpPr>
          <p:cNvPr id="4" name="Shape 2"/>
          <p:cNvSpPr/>
          <p:nvPr/>
        </p:nvSpPr>
        <p:spPr>
          <a:xfrm>
            <a:off x="1456829" y="1902321"/>
            <a:ext cx="177800" cy="177800"/>
          </a:xfrm>
          <a:prstGeom prst="roundRect">
            <a:avLst>
              <a:gd name="adj" fmla="val 50000"/>
            </a:avLst>
          </a:prstGeom>
          <a:solidFill>
            <a:srgbClr val="9AA3B8"/>
          </a:solidFill>
          <a:ln/>
        </p:spPr>
      </p:sp>
      <p:sp>
        <p:nvSpPr>
          <p:cNvPr id="5" name="Text 3"/>
          <p:cNvSpPr/>
          <p:nvPr/>
        </p:nvSpPr>
        <p:spPr>
          <a:xfrm>
            <a:off x="1049010" y="2169021"/>
            <a:ext cx="99333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Welcome</a:t>
            </a:r>
            <a:endParaRPr lang="en-US" sz="1500" dirty="0"/>
          </a:p>
        </p:txBody>
      </p:sp>
      <p:sp>
        <p:nvSpPr>
          <p:cNvPr id="6" name="Text 4"/>
          <p:cNvSpPr/>
          <p:nvPr/>
        </p:nvSpPr>
        <p:spPr>
          <a:xfrm>
            <a:off x="2792819" y="1564580"/>
            <a:ext cx="539234"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5 min</a:t>
            </a:r>
            <a:endParaRPr lang="en-US" sz="1400" dirty="0"/>
          </a:p>
        </p:txBody>
      </p:sp>
      <p:sp>
        <p:nvSpPr>
          <p:cNvPr id="7" name="Shape 5"/>
          <p:cNvSpPr/>
          <p:nvPr/>
        </p:nvSpPr>
        <p:spPr>
          <a:xfrm>
            <a:off x="2973487" y="1902321"/>
            <a:ext cx="177800" cy="177800"/>
          </a:xfrm>
          <a:prstGeom prst="roundRect">
            <a:avLst>
              <a:gd name="adj" fmla="val 50000"/>
            </a:avLst>
          </a:prstGeom>
          <a:solidFill>
            <a:srgbClr val="9AA3B8"/>
          </a:solidFill>
          <a:ln/>
        </p:spPr>
      </p:sp>
      <p:sp>
        <p:nvSpPr>
          <p:cNvPr id="8" name="Text 6"/>
          <p:cNvSpPr/>
          <p:nvPr/>
        </p:nvSpPr>
        <p:spPr>
          <a:xfrm>
            <a:off x="2240250" y="2169021"/>
            <a:ext cx="164437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Building blocks</a:t>
            </a:r>
            <a:endParaRPr lang="en-US" sz="1500" dirty="0"/>
          </a:p>
        </p:txBody>
      </p:sp>
      <p:sp>
        <p:nvSpPr>
          <p:cNvPr id="9" name="Text 7"/>
          <p:cNvSpPr/>
          <p:nvPr/>
        </p:nvSpPr>
        <p:spPr>
          <a:xfrm>
            <a:off x="4245531" y="1564580"/>
            <a:ext cx="667226"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30 min</a:t>
            </a:r>
            <a:endParaRPr lang="en-US" sz="1400" dirty="0"/>
          </a:p>
        </p:txBody>
      </p:sp>
      <p:sp>
        <p:nvSpPr>
          <p:cNvPr id="10" name="Shape 8"/>
          <p:cNvSpPr/>
          <p:nvPr/>
        </p:nvSpPr>
        <p:spPr>
          <a:xfrm>
            <a:off x="4490244" y="1902321"/>
            <a:ext cx="177800" cy="177800"/>
          </a:xfrm>
          <a:prstGeom prst="roundRect">
            <a:avLst>
              <a:gd name="adj" fmla="val 50000"/>
            </a:avLst>
          </a:prstGeom>
          <a:solidFill>
            <a:srgbClr val="9AA3B8"/>
          </a:solidFill>
          <a:ln/>
        </p:spPr>
      </p:sp>
      <p:sp>
        <p:nvSpPr>
          <p:cNvPr id="11" name="Text 9"/>
          <p:cNvSpPr/>
          <p:nvPr/>
        </p:nvSpPr>
        <p:spPr>
          <a:xfrm>
            <a:off x="4130983" y="2169021"/>
            <a:ext cx="89642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Winners</a:t>
            </a:r>
            <a:endParaRPr lang="en-US" sz="1500" dirty="0"/>
          </a:p>
        </p:txBody>
      </p:sp>
      <p:sp>
        <p:nvSpPr>
          <p:cNvPr id="12" name="Text 10"/>
          <p:cNvSpPr/>
          <p:nvPr/>
        </p:nvSpPr>
        <p:spPr>
          <a:xfrm>
            <a:off x="5762288" y="1564580"/>
            <a:ext cx="667226"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40 min</a:t>
            </a:r>
            <a:endParaRPr lang="en-US" sz="1400" dirty="0"/>
          </a:p>
        </p:txBody>
      </p:sp>
      <p:sp>
        <p:nvSpPr>
          <p:cNvPr id="13" name="Shape 11"/>
          <p:cNvSpPr/>
          <p:nvPr/>
        </p:nvSpPr>
        <p:spPr>
          <a:xfrm>
            <a:off x="6007001" y="1902321"/>
            <a:ext cx="177800" cy="177800"/>
          </a:xfrm>
          <a:prstGeom prst="roundRect">
            <a:avLst>
              <a:gd name="adj" fmla="val 50000"/>
            </a:avLst>
          </a:prstGeom>
          <a:solidFill>
            <a:srgbClr val="9AA3B8"/>
          </a:solidFill>
          <a:ln/>
        </p:spPr>
      </p:sp>
      <p:sp>
        <p:nvSpPr>
          <p:cNvPr id="14" name="Text 12"/>
          <p:cNvSpPr/>
          <p:nvPr/>
        </p:nvSpPr>
        <p:spPr>
          <a:xfrm>
            <a:off x="5556776" y="2169021"/>
            <a:ext cx="107834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Join &amp; fail</a:t>
            </a:r>
            <a:endParaRPr lang="en-US" sz="1500" dirty="0"/>
          </a:p>
        </p:txBody>
      </p:sp>
      <p:sp>
        <p:nvSpPr>
          <p:cNvPr id="15" name="Text 13"/>
          <p:cNvSpPr/>
          <p:nvPr/>
        </p:nvSpPr>
        <p:spPr>
          <a:xfrm>
            <a:off x="7279045" y="1564580"/>
            <a:ext cx="667226"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50 min</a:t>
            </a:r>
            <a:endParaRPr lang="en-US" sz="1400" dirty="0"/>
          </a:p>
        </p:txBody>
      </p:sp>
      <p:sp>
        <p:nvSpPr>
          <p:cNvPr id="16" name="Shape 14"/>
          <p:cNvSpPr/>
          <p:nvPr/>
        </p:nvSpPr>
        <p:spPr>
          <a:xfrm>
            <a:off x="7523758" y="1902321"/>
            <a:ext cx="177800" cy="177800"/>
          </a:xfrm>
          <a:prstGeom prst="roundRect">
            <a:avLst>
              <a:gd name="adj" fmla="val 50000"/>
            </a:avLst>
          </a:prstGeom>
          <a:solidFill>
            <a:srgbClr val="9AA3B8"/>
          </a:solidFill>
          <a:ln/>
        </p:spPr>
      </p:sp>
      <p:sp>
        <p:nvSpPr>
          <p:cNvPr id="17" name="Text 15"/>
          <p:cNvSpPr/>
          <p:nvPr/>
        </p:nvSpPr>
        <p:spPr>
          <a:xfrm>
            <a:off x="6997462" y="2169021"/>
            <a:ext cx="123039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Code-along</a:t>
            </a:r>
            <a:endParaRPr lang="en-US" sz="1500" dirty="0"/>
          </a:p>
        </p:txBody>
      </p:sp>
      <p:sp>
        <p:nvSpPr>
          <p:cNvPr id="18" name="Text 16"/>
          <p:cNvSpPr/>
          <p:nvPr/>
        </p:nvSpPr>
        <p:spPr>
          <a:xfrm>
            <a:off x="8795802" y="1564580"/>
            <a:ext cx="667226"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F3B1F"/>
                </a:solidFill>
                <a:latin typeface="IBM Plex Sans" pitchFamily="34" charset="0"/>
                <a:ea typeface="IBM Plex Sans" pitchFamily="34" charset="-122"/>
                <a:cs typeface="IBM Plex Sans" pitchFamily="34" charset="-120"/>
              </a:rPr>
              <a:t>75 min</a:t>
            </a:r>
            <a:endParaRPr lang="en-US" sz="1400" dirty="0"/>
          </a:p>
        </p:txBody>
      </p:sp>
      <p:sp>
        <p:nvSpPr>
          <p:cNvPr id="19" name="Shape 17"/>
          <p:cNvSpPr/>
          <p:nvPr/>
        </p:nvSpPr>
        <p:spPr>
          <a:xfrm>
            <a:off x="9040515" y="1902321"/>
            <a:ext cx="177800" cy="177800"/>
          </a:xfrm>
          <a:prstGeom prst="roundRect">
            <a:avLst>
              <a:gd name="adj" fmla="val 50000"/>
            </a:avLst>
          </a:prstGeom>
          <a:solidFill>
            <a:srgbClr val="FF3B1F"/>
          </a:solidFill>
          <a:ln/>
        </p:spPr>
      </p:sp>
      <p:sp>
        <p:nvSpPr>
          <p:cNvPr id="20" name="Text 18"/>
          <p:cNvSpPr/>
          <p:nvPr/>
        </p:nvSpPr>
        <p:spPr>
          <a:xfrm>
            <a:off x="8305145" y="2169021"/>
            <a:ext cx="164853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3B1F"/>
                </a:solidFill>
                <a:latin typeface="IBM Plex Sans" pitchFamily="34" charset="0"/>
                <a:ea typeface="IBM Plex Sans" pitchFamily="34" charset="-122"/>
                <a:cs typeface="IBM Plex Sans" pitchFamily="34" charset="-120"/>
              </a:rPr>
              <a:t>Hands-on build</a:t>
            </a:r>
            <a:endParaRPr lang="en-US" sz="1500" dirty="0"/>
          </a:p>
        </p:txBody>
      </p:sp>
      <p:sp>
        <p:nvSpPr>
          <p:cNvPr id="21" name="Text 19"/>
          <p:cNvSpPr/>
          <p:nvPr/>
        </p:nvSpPr>
        <p:spPr>
          <a:xfrm>
            <a:off x="10248612" y="1564580"/>
            <a:ext cx="795218"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110 min</a:t>
            </a:r>
            <a:endParaRPr lang="en-US" sz="1400" dirty="0"/>
          </a:p>
        </p:txBody>
      </p:sp>
      <p:sp>
        <p:nvSpPr>
          <p:cNvPr id="22" name="Shape 20"/>
          <p:cNvSpPr/>
          <p:nvPr/>
        </p:nvSpPr>
        <p:spPr>
          <a:xfrm>
            <a:off x="10557272" y="1902321"/>
            <a:ext cx="177800" cy="177800"/>
          </a:xfrm>
          <a:prstGeom prst="roundRect">
            <a:avLst>
              <a:gd name="adj" fmla="val 50000"/>
            </a:avLst>
          </a:prstGeom>
          <a:solidFill>
            <a:srgbClr val="9AA3B8"/>
          </a:solidFill>
          <a:ln/>
        </p:spPr>
      </p:sp>
      <p:sp>
        <p:nvSpPr>
          <p:cNvPr id="23" name="Text 21"/>
          <p:cNvSpPr/>
          <p:nvPr/>
        </p:nvSpPr>
        <p:spPr>
          <a:xfrm>
            <a:off x="9987032" y="2169021"/>
            <a:ext cx="131837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Plan &amp; close</a:t>
            </a:r>
            <a:endParaRPr lang="en-US" sz="1500" dirty="0"/>
          </a:p>
        </p:txBody>
      </p:sp>
      <p:sp>
        <p:nvSpPr>
          <p:cNvPr id="24" name="Text 22"/>
          <p:cNvSpPr/>
          <p:nvPr/>
        </p:nvSpPr>
        <p:spPr>
          <a:xfrm>
            <a:off x="812800" y="27405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A3B8"/>
                </a:solidFill>
                <a:latin typeface="IBM Plex Sans" pitchFamily="34" charset="0"/>
                <a:ea typeface="IBM Plex Sans" pitchFamily="34" charset="-122"/>
                <a:cs typeface="IBM Plex Sans" pitchFamily="34" charset="-120"/>
              </a:rPr>
              <a:t>By the end you can:</a:t>
            </a:r>
            <a:endParaRPr lang="en-US" sz="1600" dirty="0"/>
          </a:p>
        </p:txBody>
      </p:sp>
      <p:sp>
        <p:nvSpPr>
          <p:cNvPr id="25" name="Shape 23"/>
          <p:cNvSpPr/>
          <p:nvPr/>
        </p:nvSpPr>
        <p:spPr>
          <a:xfrm>
            <a:off x="812800" y="3329781"/>
            <a:ext cx="2527300" cy="1508522"/>
          </a:xfrm>
          <a:prstGeom prst="roundRect">
            <a:avLst>
              <a:gd name="adj" fmla="val 8419"/>
            </a:avLst>
          </a:prstGeom>
          <a:solidFill>
            <a:srgbClr val="141A2E"/>
          </a:solidFill>
          <a:ln/>
        </p:spPr>
      </p:sp>
      <p:sp>
        <p:nvSpPr>
          <p:cNvPr id="26" name="Text 24"/>
          <p:cNvSpPr/>
          <p:nvPr/>
        </p:nvSpPr>
        <p:spPr>
          <a:xfrm>
            <a:off x="1016000" y="3532981"/>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6EA8FF"/>
                </a:solidFill>
                <a:latin typeface="Space Grotesk" pitchFamily="34" charset="0"/>
                <a:ea typeface="Space Grotesk" pitchFamily="34" charset="-122"/>
                <a:cs typeface="Space Grotesk" pitchFamily="34" charset="-120"/>
              </a:rPr>
              <a:t>Explain</a:t>
            </a:r>
            <a:endParaRPr lang="en-US" sz="2000" dirty="0"/>
          </a:p>
        </p:txBody>
      </p:sp>
      <p:sp>
        <p:nvSpPr>
          <p:cNvPr id="27" name="Text 25"/>
          <p:cNvSpPr/>
          <p:nvPr/>
        </p:nvSpPr>
        <p:spPr>
          <a:xfrm>
            <a:off x="1016000" y="3888581"/>
            <a:ext cx="218452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the request → response cycle with a NASA example</a:t>
            </a:r>
            <a:endParaRPr lang="en-US" sz="1400" dirty="0"/>
          </a:p>
        </p:txBody>
      </p:sp>
      <p:sp>
        <p:nvSpPr>
          <p:cNvPr id="28" name="Shape 26"/>
          <p:cNvSpPr/>
          <p:nvPr/>
        </p:nvSpPr>
        <p:spPr>
          <a:xfrm>
            <a:off x="3492500" y="3329781"/>
            <a:ext cx="2527300" cy="1508522"/>
          </a:xfrm>
          <a:prstGeom prst="roundRect">
            <a:avLst>
              <a:gd name="adj" fmla="val 8419"/>
            </a:avLst>
          </a:prstGeom>
          <a:solidFill>
            <a:srgbClr val="141A2E"/>
          </a:solidFill>
          <a:ln/>
        </p:spPr>
      </p:sp>
      <p:sp>
        <p:nvSpPr>
          <p:cNvPr id="29" name="Text 27"/>
          <p:cNvSpPr/>
          <p:nvPr/>
        </p:nvSpPr>
        <p:spPr>
          <a:xfrm>
            <a:off x="3695700" y="3532981"/>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FB347"/>
                </a:solidFill>
                <a:latin typeface="Space Grotesk" pitchFamily="34" charset="0"/>
                <a:ea typeface="Space Grotesk" pitchFamily="34" charset="-122"/>
                <a:cs typeface="Space Grotesk" pitchFamily="34" charset="-120"/>
              </a:rPr>
              <a:t>Choose</a:t>
            </a:r>
            <a:endParaRPr lang="en-US" sz="2000" dirty="0"/>
          </a:p>
        </p:txBody>
      </p:sp>
      <p:sp>
        <p:nvSpPr>
          <p:cNvPr id="30" name="Text 28"/>
          <p:cNvSpPr/>
          <p:nvPr/>
        </p:nvSpPr>
        <p:spPr>
          <a:xfrm>
            <a:off x="3695700" y="3888581"/>
            <a:ext cx="218452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the right NASA source for your need, from its docs and limits</a:t>
            </a:r>
            <a:endParaRPr lang="en-US" sz="1400" dirty="0"/>
          </a:p>
        </p:txBody>
      </p:sp>
      <p:sp>
        <p:nvSpPr>
          <p:cNvPr id="31" name="Shape 29"/>
          <p:cNvSpPr/>
          <p:nvPr/>
        </p:nvSpPr>
        <p:spPr>
          <a:xfrm>
            <a:off x="6172200" y="3329781"/>
            <a:ext cx="2527300" cy="1508522"/>
          </a:xfrm>
          <a:prstGeom prst="roundRect">
            <a:avLst>
              <a:gd name="adj" fmla="val 8419"/>
            </a:avLst>
          </a:prstGeom>
          <a:solidFill>
            <a:srgbClr val="141A2E"/>
          </a:solidFill>
          <a:ln/>
        </p:spPr>
      </p:sp>
      <p:sp>
        <p:nvSpPr>
          <p:cNvPr id="32" name="Text 30"/>
          <p:cNvSpPr/>
          <p:nvPr/>
        </p:nvSpPr>
        <p:spPr>
          <a:xfrm>
            <a:off x="6375400" y="3532981"/>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3DDC97"/>
                </a:solidFill>
                <a:latin typeface="Space Grotesk" pitchFamily="34" charset="0"/>
                <a:ea typeface="Space Grotesk" pitchFamily="34" charset="-122"/>
                <a:cs typeface="Space Grotesk" pitchFamily="34" charset="-120"/>
              </a:rPr>
              <a:t>Build</a:t>
            </a:r>
            <a:endParaRPr lang="en-US" sz="2000" dirty="0"/>
          </a:p>
        </p:txBody>
      </p:sp>
      <p:sp>
        <p:nvSpPr>
          <p:cNvPr id="33" name="Text 31"/>
          <p:cNvSpPr/>
          <p:nvPr/>
        </p:nvSpPr>
        <p:spPr>
          <a:xfrm>
            <a:off x="6375400" y="3888581"/>
            <a:ext cx="21845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a clean table, a saved file and one working feature</a:t>
            </a:r>
            <a:endParaRPr lang="en-US" sz="1400" dirty="0"/>
          </a:p>
        </p:txBody>
      </p:sp>
      <p:sp>
        <p:nvSpPr>
          <p:cNvPr id="34" name="Shape 32"/>
          <p:cNvSpPr/>
          <p:nvPr/>
        </p:nvSpPr>
        <p:spPr>
          <a:xfrm>
            <a:off x="8851900" y="3329781"/>
            <a:ext cx="2527300" cy="1508522"/>
          </a:xfrm>
          <a:prstGeom prst="roundRect">
            <a:avLst>
              <a:gd name="adj" fmla="val 8419"/>
            </a:avLst>
          </a:prstGeom>
          <a:solidFill>
            <a:srgbClr val="141A2E"/>
          </a:solidFill>
          <a:ln/>
        </p:spPr>
      </p:sp>
      <p:sp>
        <p:nvSpPr>
          <p:cNvPr id="35" name="Text 33"/>
          <p:cNvSpPr/>
          <p:nvPr/>
        </p:nvSpPr>
        <p:spPr>
          <a:xfrm>
            <a:off x="9055100" y="3532981"/>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F3B1F"/>
                </a:solidFill>
                <a:latin typeface="Space Grotesk" pitchFamily="34" charset="0"/>
                <a:ea typeface="Space Grotesk" pitchFamily="34" charset="-122"/>
                <a:cs typeface="Space Grotesk" pitchFamily="34" charset="-120"/>
              </a:rPr>
              <a:t>Recover</a:t>
            </a:r>
            <a:endParaRPr lang="en-US" sz="2000" dirty="0"/>
          </a:p>
        </p:txBody>
      </p:sp>
      <p:sp>
        <p:nvSpPr>
          <p:cNvPr id="36" name="Text 34"/>
          <p:cNvSpPr/>
          <p:nvPr/>
        </p:nvSpPr>
        <p:spPr>
          <a:xfrm>
            <a:off x="9055100" y="3888581"/>
            <a:ext cx="21845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from 403s, 429s, empty results and missing values</a:t>
            </a:r>
            <a:endParaRPr lang="en-US" sz="1400" dirty="0"/>
          </a:p>
        </p:txBody>
      </p:sp>
      <p:pic>
        <p:nvPicPr>
          <p:cNvPr id="37"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70D"/>
        </a:solidFill>
      </p:bgPr>
    </p:bg>
    <p:spTree>
      <p:nvGrpSpPr>
        <p:cNvPr id="1" name=""/>
        <p:cNvGrpSpPr/>
        <p:nvPr/>
      </p:nvGrpSpPr>
      <p:grpSpPr>
        <a:xfrm>
          <a:off x="0" y="0"/>
          <a:ext cx="0" cy="0"/>
          <a:chOff x="0" y="0"/>
          <a:chExt cx="0" cy="0"/>
        </a:xfrm>
      </p:grpSpPr>
      <p:pic>
        <p:nvPicPr>
          <p:cNvPr id="2" name="Image 0" descr="Earth seen from NASA's EPIC camera, centered on Africa">    </p:cNvPr>
          <p:cNvPicPr>
            <a:picLocks noChangeAspect="1"/>
          </p:cNvPicPr>
          <p:nvPr/>
        </p:nvPicPr>
        <p:blipFill>
          <a:blip r:embed="rId1"/>
          <a:srcRect l="8333" r="8333" t="0" b="0"/>
          <a:stretch/>
        </p:blipFill>
        <p:spPr>
          <a:xfrm>
            <a:off x="7366000" y="0"/>
            <a:ext cx="4826000" cy="6858000"/>
          </a:xfrm>
          <a:prstGeom prst="rect">
            <a:avLst/>
          </a:prstGeom>
        </p:spPr>
      </p:pic>
      <p:sp>
        <p:nvSpPr>
          <p:cNvPr id="3" name="Text 0"/>
          <p:cNvSpPr/>
          <p:nvPr>
            <p:ph type="title"/>
          </p:nvPr>
        </p:nvSpPr>
        <p:spPr>
          <a:xfrm>
            <a:off x="812800" y="812800"/>
            <a:ext cx="627888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An API is a web address that returns data</a:t>
            </a:r>
            <a:endParaRPr lang="en-US" sz="3200" dirty="0"/>
          </a:p>
        </p:txBody>
      </p:sp>
      <p:sp>
        <p:nvSpPr>
          <p:cNvPr id="4" name="Text 1"/>
          <p:cNvSpPr/>
          <p:nvPr/>
        </p:nvSpPr>
        <p:spPr>
          <a:xfrm>
            <a:off x="812800" y="193536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6D8"/>
                </a:solidFill>
                <a:latin typeface="IBM Plex Sans" pitchFamily="34" charset="0"/>
                <a:ea typeface="IBM Plex Sans" pitchFamily="34" charset="-122"/>
                <a:cs typeface="IBM Plex Sans" pitchFamily="34" charset="-120"/>
              </a:rPr>
              <a:t>Like opening a web page, but you get raw data (JSON) back instead of a website.</a:t>
            </a:r>
            <a:endParaRPr lang="en-US" sz="1600" dirty="0"/>
          </a:p>
        </p:txBody>
      </p:sp>
      <p:sp>
        <p:nvSpPr>
          <p:cNvPr id="5" name="Shape 2"/>
          <p:cNvSpPr/>
          <p:nvPr/>
        </p:nvSpPr>
        <p:spPr>
          <a:xfrm>
            <a:off x="812800" y="2732881"/>
            <a:ext cx="6096000" cy="1390650"/>
          </a:xfrm>
          <a:prstGeom prst="roundRect">
            <a:avLst>
              <a:gd name="adj" fmla="val 9132"/>
            </a:avLst>
          </a:prstGeom>
          <a:solidFill>
            <a:srgbClr val="141A2E"/>
          </a:solidFill>
          <a:ln/>
        </p:spPr>
      </p:sp>
      <p:sp>
        <p:nvSpPr>
          <p:cNvPr id="6" name="Text 3"/>
          <p:cNvSpPr/>
          <p:nvPr/>
        </p:nvSpPr>
        <p:spPr>
          <a:xfrm>
            <a:off x="1041400" y="2961481"/>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6EA8FF"/>
                </a:solidFill>
                <a:latin typeface="JetBrains Mono" pitchFamily="49" charset="0"/>
                <a:ea typeface="JetBrains Mono" pitchFamily="49" charset="-122"/>
                <a:cs typeface="JetBrains Mono" pitchFamily="49" charset="-120"/>
              </a:rPr>
              <a:t>https://api.nasa.gov/neo/rest/v1/feed</a:t>
            </a:r>
            <a:endParaRPr lang="en-US" sz="1500" dirty="0"/>
          </a:p>
        </p:txBody>
      </p:sp>
      <p:sp>
        <p:nvSpPr>
          <p:cNvPr id="7" name="Text 4"/>
          <p:cNvSpPr/>
          <p:nvPr/>
        </p:nvSpPr>
        <p:spPr>
          <a:xfrm>
            <a:off x="1041400" y="3285331"/>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FB347"/>
                </a:solidFill>
                <a:latin typeface="JetBrains Mono" pitchFamily="49" charset="0"/>
                <a:ea typeface="JetBrains Mono" pitchFamily="49" charset="-122"/>
                <a:cs typeface="JetBrains Mono" pitchFamily="49" charset="-120"/>
              </a:rPr>
              <a:t>?start_date=2025-10-01&amp;end_date=2025-10-07</a:t>
            </a:r>
            <a:endParaRPr lang="en-US" sz="1500" dirty="0"/>
          </a:p>
        </p:txBody>
      </p:sp>
      <p:sp>
        <p:nvSpPr>
          <p:cNvPr id="8" name="Text 5"/>
          <p:cNvSpPr/>
          <p:nvPr/>
        </p:nvSpPr>
        <p:spPr>
          <a:xfrm>
            <a:off x="1041400" y="3609181"/>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F3B1F"/>
                </a:solidFill>
                <a:latin typeface="JetBrains Mono" pitchFamily="49" charset="0"/>
                <a:ea typeface="JetBrains Mono" pitchFamily="49" charset="-122"/>
                <a:cs typeface="JetBrains Mono" pitchFamily="49" charset="-120"/>
              </a:rPr>
              <a:t>&amp;api_key=YOUR_KEY</a:t>
            </a:r>
            <a:endParaRPr lang="en-US" sz="1500" dirty="0"/>
          </a:p>
        </p:txBody>
      </p:sp>
      <p:sp>
        <p:nvSpPr>
          <p:cNvPr id="9" name="Shape 6"/>
          <p:cNvSpPr/>
          <p:nvPr/>
        </p:nvSpPr>
        <p:spPr>
          <a:xfrm>
            <a:off x="812800" y="4400352"/>
            <a:ext cx="152400" cy="152400"/>
          </a:xfrm>
          <a:prstGeom prst="roundRect">
            <a:avLst>
              <a:gd name="adj" fmla="val 50000"/>
            </a:avLst>
          </a:prstGeom>
          <a:solidFill>
            <a:srgbClr val="6EA8FF"/>
          </a:solidFill>
          <a:ln/>
        </p:spPr>
      </p:sp>
      <p:sp>
        <p:nvSpPr>
          <p:cNvPr id="10" name="Text 7"/>
          <p:cNvSpPr/>
          <p:nvPr/>
        </p:nvSpPr>
        <p:spPr>
          <a:xfrm>
            <a:off x="1041400" y="4352131"/>
            <a:ext cx="15231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Endpoint</a:t>
            </a:r>
            <a:r>
              <a:rPr lang="en-US" sz="1400" dirty="0">
                <a:solidFill>
                  <a:srgbClr val="BFC6D8"/>
                </a:solidFill>
                <a:latin typeface="IBM Plex Sans" pitchFamily="34" charset="0"/>
                <a:ea typeface="IBM Plex Sans" pitchFamily="34" charset="-122"/>
                <a:cs typeface="IBM Plex Sans" pitchFamily="34" charset="-120"/>
              </a:rPr>
              <a:t> where</a:t>
            </a:r>
            <a:endParaRPr lang="en-US" sz="1400" dirty="0"/>
          </a:p>
        </p:txBody>
      </p:sp>
      <p:sp>
        <p:nvSpPr>
          <p:cNvPr id="11" name="Shape 8"/>
          <p:cNvSpPr/>
          <p:nvPr/>
        </p:nvSpPr>
        <p:spPr>
          <a:xfrm>
            <a:off x="2564507" y="4400352"/>
            <a:ext cx="152400" cy="152400"/>
          </a:xfrm>
          <a:prstGeom prst="roundRect">
            <a:avLst>
              <a:gd name="adj" fmla="val 50000"/>
            </a:avLst>
          </a:prstGeom>
          <a:solidFill>
            <a:srgbClr val="FFB347"/>
          </a:solidFill>
          <a:ln/>
        </p:spPr>
      </p:sp>
      <p:sp>
        <p:nvSpPr>
          <p:cNvPr id="12" name="Text 9"/>
          <p:cNvSpPr/>
          <p:nvPr/>
        </p:nvSpPr>
        <p:spPr>
          <a:xfrm>
            <a:off x="2793107" y="4352131"/>
            <a:ext cx="211375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Parameters</a:t>
            </a:r>
            <a:r>
              <a:rPr lang="en-US" sz="1400" dirty="0">
                <a:solidFill>
                  <a:srgbClr val="BFC6D8"/>
                </a:solidFill>
                <a:latin typeface="IBM Plex Sans" pitchFamily="34" charset="0"/>
                <a:ea typeface="IBM Plex Sans" pitchFamily="34" charset="-122"/>
                <a:cs typeface="IBM Plex Sans" pitchFamily="34" charset="-120"/>
              </a:rPr>
              <a:t> which data</a:t>
            </a:r>
            <a:endParaRPr lang="en-US" sz="1400" dirty="0"/>
          </a:p>
        </p:txBody>
      </p:sp>
      <p:sp>
        <p:nvSpPr>
          <p:cNvPr id="13" name="Shape 10"/>
          <p:cNvSpPr/>
          <p:nvPr/>
        </p:nvSpPr>
        <p:spPr>
          <a:xfrm>
            <a:off x="4906863" y="4400352"/>
            <a:ext cx="152400" cy="152400"/>
          </a:xfrm>
          <a:prstGeom prst="roundRect">
            <a:avLst>
              <a:gd name="adj" fmla="val 50000"/>
            </a:avLst>
          </a:prstGeom>
          <a:solidFill>
            <a:srgbClr val="FF3B1F"/>
          </a:solidFill>
          <a:ln/>
        </p:spPr>
      </p:sp>
      <p:sp>
        <p:nvSpPr>
          <p:cNvPr id="14" name="Text 11"/>
          <p:cNvSpPr/>
          <p:nvPr/>
        </p:nvSpPr>
        <p:spPr>
          <a:xfrm>
            <a:off x="5135463" y="4352131"/>
            <a:ext cx="16444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Key</a:t>
            </a:r>
            <a:r>
              <a:rPr lang="en-US" sz="1400" dirty="0">
                <a:solidFill>
                  <a:srgbClr val="BFC6D8"/>
                </a:solidFill>
                <a:latin typeface="IBM Plex Sans" pitchFamily="34" charset="0"/>
                <a:ea typeface="IBM Plex Sans" pitchFamily="34" charset="-122"/>
                <a:cs typeface="IBM Plex Sans" pitchFamily="34" charset="-120"/>
              </a:rPr>
              <a:t> who’s asking</a:t>
            </a:r>
            <a:endParaRPr lang="en-US" sz="1400" dirty="0"/>
          </a:p>
        </p:txBody>
      </p:sp>
      <p:sp>
        <p:nvSpPr>
          <p:cNvPr id="15" name="Text 12"/>
          <p:cNvSpPr/>
          <p:nvPr/>
        </p:nvSpPr>
        <p:spPr>
          <a:xfrm>
            <a:off x="812800" y="4829572"/>
            <a:ext cx="1194197" cy="472380"/>
          </a:xfrm>
          <a:prstGeom prst="roundRect">
            <a:avLst>
              <a:gd name="adj" fmla="val 50000"/>
            </a:avLst>
          </a:prstGeom>
          <a:solidFill>
            <a:srgbClr val="3DDC97"/>
          </a:solidFill>
          <a:ln/>
        </p:spPr>
        <p:txBody>
          <a:bodyPr wrap="none" lIns="0" tIns="0" rIns="0" bIns="0" rtlCol="0" anchor="ctr">
            <a:normAutofit/>
          </a:bodyPr>
          <a:lstStyle/>
          <a:p>
            <a:pPr algn="ctr" indent="0" marL="0">
              <a:lnSpc>
                <a:spcPts val="2520"/>
              </a:lnSpc>
              <a:buNone/>
            </a:pPr>
            <a:r>
              <a:rPr lang="en-US" sz="1800" b="1" dirty="0">
                <a:solidFill>
                  <a:srgbClr val="06070D"/>
                </a:solidFill>
                <a:latin typeface="Space Grotesk" pitchFamily="34" charset="0"/>
                <a:ea typeface="Space Grotesk" pitchFamily="34" charset="-122"/>
                <a:cs typeface="Space Grotesk" pitchFamily="34" charset="-120"/>
              </a:rPr>
              <a:t>200 OK</a:t>
            </a:r>
            <a:endParaRPr lang="en-US" sz="1800" dirty="0"/>
          </a:p>
        </p:txBody>
      </p:sp>
      <p:sp>
        <p:nvSpPr>
          <p:cNvPr id="16" name="Text 13"/>
          <p:cNvSpPr/>
          <p:nvPr/>
        </p:nvSpPr>
        <p:spPr>
          <a:xfrm>
            <a:off x="2184797" y="4932363"/>
            <a:ext cx="3566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JetBrains Mono" pitchFamily="49" charset="0"/>
                <a:ea typeface="JetBrains Mono" pitchFamily="49" charset="-122"/>
                <a:cs typeface="JetBrains Mono" pitchFamily="49" charset="-120"/>
              </a:rPr>
              <a:t>{ "element_count": 37, … }</a:t>
            </a:r>
            <a:endParaRPr lang="en-US" sz="1500" dirty="0"/>
          </a:p>
        </p:txBody>
      </p:sp>
      <p:pic>
        <p:nvPicPr>
          <p:cNvPr id="17" name="Image 1" descr="NASA Space Apps Cairo logo">    </p:cNvPr>
          <p:cNvPicPr>
            <a:picLocks noChangeAspect="1"/>
          </p:cNvPicPr>
          <p:nvPr/>
        </p:nvPicPr>
        <p:blipFill>
          <a:blip r:embed="rId2"/>
          <a:srcRect l="-70" r="-70" t="0" b="0"/>
          <a:stretch/>
        </p:blipFill>
        <p:spPr>
          <a:xfrm>
            <a:off x="812800" y="6146800"/>
            <a:ext cx="908050" cy="355600"/>
          </a:xfrm>
          <a:prstGeom prst="rect">
            <a:avLst/>
          </a:prstGeom>
        </p:spPr>
      </p:pic>
      <p:sp>
        <p:nvSpPr>
          <p:cNvPr id="18" name="Text 14"/>
          <p:cNvSpPr/>
          <p:nvPr/>
        </p:nvSpPr>
        <p:spPr>
          <a:xfrm>
            <a:off x="7376414" y="6248400"/>
            <a:ext cx="40027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EBF5"/>
                </a:solidFill>
                <a:latin typeface="IBM Plex Sans" pitchFamily="34" charset="0"/>
                <a:ea typeface="IBM Plex Sans" pitchFamily="34" charset="-122"/>
                <a:cs typeface="IBM Plex Sans" pitchFamily="34" charset="-120"/>
              </a:rPr>
              <a:t>Earth from NASA EPIC · 1 Jun 2025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The journey of one API call</a:t>
            </a:r>
            <a:endParaRPr lang="en-US" sz="3200" dirty="0"/>
          </a:p>
        </p:txBody>
      </p:sp>
      <p:sp>
        <p:nvSpPr>
          <p:cNvPr id="3" name="Shape 1"/>
          <p:cNvSpPr/>
          <p:nvPr/>
        </p:nvSpPr>
        <p:spPr>
          <a:xfrm>
            <a:off x="812800" y="2986980"/>
            <a:ext cx="3420467" cy="1259681"/>
          </a:xfrm>
          <a:prstGeom prst="roundRect">
            <a:avLst>
              <a:gd name="adj" fmla="val 10082"/>
            </a:avLst>
          </a:prstGeom>
          <a:solidFill>
            <a:srgbClr val="141A2E"/>
          </a:solidFill>
          <a:ln/>
        </p:spPr>
      </p:sp>
      <p:sp>
        <p:nvSpPr>
          <p:cNvPr id="4" name="Text 2"/>
          <p:cNvSpPr/>
          <p:nvPr/>
        </p:nvSpPr>
        <p:spPr>
          <a:xfrm>
            <a:off x="1016000" y="3190180"/>
            <a:ext cx="3104489"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6EA8FF"/>
                </a:solidFill>
                <a:latin typeface="Space Grotesk" pitchFamily="34" charset="0"/>
                <a:ea typeface="Space Grotesk" pitchFamily="34" charset="-122"/>
                <a:cs typeface="Space Grotesk" pitchFamily="34" charset="-120"/>
              </a:rPr>
              <a:t>Client</a:t>
            </a:r>
            <a:endParaRPr lang="en-US" sz="2000" dirty="0"/>
          </a:p>
        </p:txBody>
      </p:sp>
      <p:sp>
        <p:nvSpPr>
          <p:cNvPr id="5" name="Text 3"/>
          <p:cNvSpPr/>
          <p:nvPr/>
        </p:nvSpPr>
        <p:spPr>
          <a:xfrm>
            <a:off x="1016000" y="3545780"/>
            <a:ext cx="31044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The one who asks: your browser, notebook or app.</a:t>
            </a:r>
            <a:endParaRPr lang="en-US" sz="1400" dirty="0"/>
          </a:p>
        </p:txBody>
      </p:sp>
      <p:sp>
        <p:nvSpPr>
          <p:cNvPr id="6" name="Shape 4"/>
          <p:cNvSpPr/>
          <p:nvPr/>
        </p:nvSpPr>
        <p:spPr>
          <a:xfrm>
            <a:off x="4385667" y="2986980"/>
            <a:ext cx="3420566" cy="1259681"/>
          </a:xfrm>
          <a:prstGeom prst="roundRect">
            <a:avLst>
              <a:gd name="adj" fmla="val 10082"/>
            </a:avLst>
          </a:prstGeom>
          <a:solidFill>
            <a:srgbClr val="141A2E"/>
          </a:solidFill>
          <a:ln/>
        </p:spPr>
      </p:sp>
      <p:sp>
        <p:nvSpPr>
          <p:cNvPr id="7" name="Text 5"/>
          <p:cNvSpPr/>
          <p:nvPr/>
        </p:nvSpPr>
        <p:spPr>
          <a:xfrm>
            <a:off x="4588867" y="3190180"/>
            <a:ext cx="310459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FB347"/>
                </a:solidFill>
                <a:latin typeface="Space Grotesk" pitchFamily="34" charset="0"/>
                <a:ea typeface="Space Grotesk" pitchFamily="34" charset="-122"/>
                <a:cs typeface="Space Grotesk" pitchFamily="34" charset="-120"/>
              </a:rPr>
              <a:t>Server</a:t>
            </a:r>
            <a:endParaRPr lang="en-US" sz="2000" dirty="0"/>
          </a:p>
        </p:txBody>
      </p:sp>
      <p:sp>
        <p:nvSpPr>
          <p:cNvPr id="8" name="Text 6"/>
          <p:cNvSpPr/>
          <p:nvPr/>
        </p:nvSpPr>
        <p:spPr>
          <a:xfrm>
            <a:off x="4588867" y="3545780"/>
            <a:ext cx="31045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The one who answers: NASA’s computers, which hold the data.</a:t>
            </a:r>
            <a:endParaRPr lang="en-US" sz="1400" dirty="0"/>
          </a:p>
        </p:txBody>
      </p:sp>
      <p:sp>
        <p:nvSpPr>
          <p:cNvPr id="9" name="Shape 7"/>
          <p:cNvSpPr/>
          <p:nvPr/>
        </p:nvSpPr>
        <p:spPr>
          <a:xfrm>
            <a:off x="7958634" y="2986980"/>
            <a:ext cx="3420566" cy="1259681"/>
          </a:xfrm>
          <a:prstGeom prst="roundRect">
            <a:avLst>
              <a:gd name="adj" fmla="val 10082"/>
            </a:avLst>
          </a:prstGeom>
          <a:solidFill>
            <a:srgbClr val="141A2E"/>
          </a:solidFill>
          <a:ln/>
        </p:spPr>
      </p:sp>
      <p:sp>
        <p:nvSpPr>
          <p:cNvPr id="10" name="Text 8"/>
          <p:cNvSpPr/>
          <p:nvPr/>
        </p:nvSpPr>
        <p:spPr>
          <a:xfrm>
            <a:off x="8161834" y="3190180"/>
            <a:ext cx="310459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3DDC97"/>
                </a:solidFill>
                <a:latin typeface="Space Grotesk" pitchFamily="34" charset="0"/>
                <a:ea typeface="Space Grotesk" pitchFamily="34" charset="-122"/>
                <a:cs typeface="Space Grotesk" pitchFamily="34" charset="-120"/>
              </a:rPr>
              <a:t>Request lifecycle</a:t>
            </a:r>
            <a:endParaRPr lang="en-US" sz="2000" dirty="0"/>
          </a:p>
        </p:txBody>
      </p:sp>
      <p:sp>
        <p:nvSpPr>
          <p:cNvPr id="11" name="Text 9"/>
          <p:cNvSpPr/>
          <p:nvPr/>
        </p:nvSpPr>
        <p:spPr>
          <a:xfrm>
            <a:off x="8161834" y="3545780"/>
            <a:ext cx="31045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Ask → check the key → fetch → reply with JSON.</a:t>
            </a:r>
            <a:endParaRPr lang="en-US" sz="1400" dirty="0"/>
          </a:p>
        </p:txBody>
      </p:sp>
      <p:sp>
        <p:nvSpPr>
          <p:cNvPr id="12" name="Shape 10"/>
          <p:cNvSpPr/>
          <p:nvPr/>
        </p:nvSpPr>
        <p:spPr>
          <a:xfrm>
            <a:off x="822325" y="1571625"/>
            <a:ext cx="1314450" cy="1098550"/>
          </a:xfrm>
          <a:prstGeom prst="roundRect">
            <a:avLst>
              <a:gd name="adj" fmla="val 10694"/>
            </a:avLst>
          </a:prstGeom>
          <a:solidFill>
            <a:srgbClr val="141A2E"/>
          </a:solidFill>
          <a:ln w="19050">
            <a:solidFill>
              <a:srgbClr val="6EA8FF"/>
            </a:solidFill>
            <a:prstDash val="solid"/>
          </a:ln>
        </p:spPr>
      </p:sp>
      <p:sp>
        <p:nvSpPr>
          <p:cNvPr id="13" name="Text 11"/>
          <p:cNvSpPr/>
          <p:nvPr/>
        </p:nvSpPr>
        <p:spPr>
          <a:xfrm>
            <a:off x="984250" y="1733550"/>
            <a:ext cx="104140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F4F5FA"/>
                </a:solidFill>
                <a:latin typeface="Space Grotesk" pitchFamily="34" charset="0"/>
                <a:ea typeface="Space Grotesk" pitchFamily="34" charset="-122"/>
                <a:cs typeface="Space Grotesk" pitchFamily="34" charset="-120"/>
              </a:rPr>
              <a:t>Your app</a:t>
            </a:r>
            <a:endParaRPr lang="en-US" sz="1500" dirty="0"/>
          </a:p>
        </p:txBody>
      </p:sp>
      <p:sp>
        <p:nvSpPr>
          <p:cNvPr id="14" name="Text 12"/>
          <p:cNvSpPr/>
          <p:nvPr/>
        </p:nvSpPr>
        <p:spPr>
          <a:xfrm>
            <a:off x="984250" y="2003425"/>
            <a:ext cx="1041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8"/>
                </a:solidFill>
                <a:latin typeface="IBM Plex Sans" pitchFamily="34" charset="0"/>
                <a:ea typeface="IBM Plex Sans" pitchFamily="34" charset="-122"/>
                <a:cs typeface="IBM Plex Sans" pitchFamily="34" charset="-120"/>
              </a:rPr>
              <a:t>browser or code</a:t>
            </a:r>
            <a:endParaRPr lang="en-US" sz="1200" dirty="0"/>
          </a:p>
        </p:txBody>
      </p:sp>
      <p:pic>
        <p:nvPicPr>
          <p:cNvPr id="15" name="Image 0" descr="arrow-right">    </p:cNvPr>
          <p:cNvPicPr>
            <a:picLocks noChangeAspect="1"/>
          </p:cNvPicPr>
          <p:nvPr/>
        </p:nvPicPr>
        <p:blipFill>
          <a:blip r:embed="rId1"/>
          <a:srcRect l="0" r="0" t="0" b="0"/>
          <a:stretch/>
        </p:blipFill>
        <p:spPr>
          <a:xfrm>
            <a:off x="2222500" y="2038350"/>
            <a:ext cx="254000" cy="165100"/>
          </a:xfrm>
          <a:prstGeom prst="rect">
            <a:avLst/>
          </a:prstGeom>
        </p:spPr>
      </p:pic>
      <p:sp>
        <p:nvSpPr>
          <p:cNvPr id="16" name="Shape 13"/>
          <p:cNvSpPr/>
          <p:nvPr/>
        </p:nvSpPr>
        <p:spPr>
          <a:xfrm>
            <a:off x="2562225" y="1571625"/>
            <a:ext cx="1314450" cy="1098550"/>
          </a:xfrm>
          <a:prstGeom prst="roundRect">
            <a:avLst>
              <a:gd name="adj" fmla="val 10694"/>
            </a:avLst>
          </a:prstGeom>
          <a:solidFill>
            <a:srgbClr val="141A2E"/>
          </a:solidFill>
          <a:ln w="19050">
            <a:solidFill>
              <a:srgbClr val="6EA8FF"/>
            </a:solidFill>
            <a:prstDash val="solid"/>
          </a:ln>
        </p:spPr>
      </p:sp>
      <p:sp>
        <p:nvSpPr>
          <p:cNvPr id="17" name="Text 14"/>
          <p:cNvSpPr/>
          <p:nvPr/>
        </p:nvSpPr>
        <p:spPr>
          <a:xfrm>
            <a:off x="2724150" y="1733550"/>
            <a:ext cx="1041400" cy="392212"/>
          </a:xfrm>
          <a:prstGeom prst="rect">
            <a:avLst/>
          </a:prstGeom>
          <a:noFill/>
          <a:ln/>
        </p:spPr>
        <p:txBody>
          <a:bodyPr wrap="square" lIns="0" tIns="0" rIns="0" bIns="0" rtlCol="0" anchor="t">
            <a:normAutofit/>
          </a:bodyPr>
          <a:lstStyle/>
          <a:p>
            <a:pPr algn="l" indent="0" marL="0">
              <a:lnSpc>
                <a:spcPts val="1461"/>
              </a:lnSpc>
              <a:buNone/>
            </a:pPr>
            <a:r>
              <a:rPr lang="en-US" sz="1270" b="1" dirty="0">
                <a:solidFill>
                  <a:srgbClr val="F4F5FA"/>
                </a:solidFill>
                <a:latin typeface="Space Grotesk" pitchFamily="34" charset="0"/>
                <a:ea typeface="Space Grotesk" pitchFamily="34" charset="-122"/>
                <a:cs typeface="Space Grotesk" pitchFamily="34" charset="-120"/>
              </a:rPr>
              <a:t>HTTP request</a:t>
            </a:r>
            <a:endParaRPr lang="en-US" sz="1270" dirty="0"/>
          </a:p>
        </p:txBody>
      </p:sp>
      <p:sp>
        <p:nvSpPr>
          <p:cNvPr id="18" name="Text 15"/>
          <p:cNvSpPr/>
          <p:nvPr/>
        </p:nvSpPr>
        <p:spPr>
          <a:xfrm>
            <a:off x="2724150" y="2151162"/>
            <a:ext cx="1143000" cy="382488"/>
          </a:xfrm>
          <a:prstGeom prst="rect">
            <a:avLst/>
          </a:prstGeom>
          <a:noFill/>
          <a:ln/>
        </p:spPr>
        <p:txBody>
          <a:bodyPr wrap="square" lIns="0" tIns="0" rIns="0" bIns="0" rtlCol="0" anchor="t">
            <a:normAutofit/>
          </a:bodyPr>
          <a:lstStyle/>
          <a:p>
            <a:pPr algn="l" indent="0" marL="0">
              <a:lnSpc>
                <a:spcPts val="1480"/>
              </a:lnSpc>
              <a:buNone/>
            </a:pPr>
            <a:r>
              <a:rPr lang="en-US" sz="1058" dirty="0">
                <a:solidFill>
                  <a:srgbClr val="9AA3B8"/>
                </a:solidFill>
                <a:latin typeface="IBM Plex Sans" pitchFamily="34" charset="0"/>
                <a:ea typeface="IBM Plex Sans" pitchFamily="34" charset="-122"/>
                <a:cs typeface="IBM Plex Sans" pitchFamily="34" charset="-120"/>
              </a:rPr>
              <a:t>GET + URL + key</a:t>
            </a:r>
            <a:endParaRPr lang="en-US" sz="1058" dirty="0"/>
          </a:p>
        </p:txBody>
      </p:sp>
      <p:pic>
        <p:nvPicPr>
          <p:cNvPr id="19" name="Image 1" descr="arrow-right">    </p:cNvPr>
          <p:cNvPicPr>
            <a:picLocks noChangeAspect="1"/>
          </p:cNvPicPr>
          <p:nvPr/>
        </p:nvPicPr>
        <p:blipFill>
          <a:blip r:embed="rId2"/>
          <a:srcRect l="0" r="0" t="0" b="0"/>
          <a:stretch/>
        </p:blipFill>
        <p:spPr>
          <a:xfrm>
            <a:off x="3962400" y="2038350"/>
            <a:ext cx="254000" cy="165100"/>
          </a:xfrm>
          <a:prstGeom prst="rect">
            <a:avLst/>
          </a:prstGeom>
        </p:spPr>
      </p:pic>
      <p:sp>
        <p:nvSpPr>
          <p:cNvPr id="20" name="Shape 16"/>
          <p:cNvSpPr/>
          <p:nvPr/>
        </p:nvSpPr>
        <p:spPr>
          <a:xfrm>
            <a:off x="4302125" y="1571625"/>
            <a:ext cx="1314450" cy="1098550"/>
          </a:xfrm>
          <a:prstGeom prst="roundRect">
            <a:avLst>
              <a:gd name="adj" fmla="val 10694"/>
            </a:avLst>
          </a:prstGeom>
          <a:solidFill>
            <a:srgbClr val="141A2E"/>
          </a:solidFill>
          <a:ln w="19050">
            <a:solidFill>
              <a:srgbClr val="FFB347"/>
            </a:solidFill>
            <a:prstDash val="solid"/>
          </a:ln>
        </p:spPr>
      </p:sp>
      <p:sp>
        <p:nvSpPr>
          <p:cNvPr id="21" name="Text 17"/>
          <p:cNvSpPr/>
          <p:nvPr/>
        </p:nvSpPr>
        <p:spPr>
          <a:xfrm>
            <a:off x="4464050" y="1733550"/>
            <a:ext cx="1143000" cy="392212"/>
          </a:xfrm>
          <a:prstGeom prst="rect">
            <a:avLst/>
          </a:prstGeom>
          <a:noFill/>
          <a:ln/>
        </p:spPr>
        <p:txBody>
          <a:bodyPr wrap="square" lIns="0" tIns="0" rIns="0" bIns="0" rtlCol="0" anchor="t">
            <a:normAutofit/>
          </a:bodyPr>
          <a:lstStyle/>
          <a:p>
            <a:pPr algn="l" indent="0" marL="0">
              <a:lnSpc>
                <a:spcPts val="1547"/>
              </a:lnSpc>
              <a:buNone/>
            </a:pPr>
            <a:r>
              <a:rPr lang="en-US" sz="1345" b="1" dirty="0">
                <a:solidFill>
                  <a:srgbClr val="F4F5FA"/>
                </a:solidFill>
                <a:latin typeface="Space Grotesk" pitchFamily="34" charset="0"/>
                <a:ea typeface="Space Grotesk" pitchFamily="34" charset="-122"/>
                <a:cs typeface="Space Grotesk" pitchFamily="34" charset="-120"/>
              </a:rPr>
              <a:t>NASA server</a:t>
            </a:r>
            <a:endParaRPr lang="en-US" sz="1345" dirty="0"/>
          </a:p>
        </p:txBody>
      </p:sp>
      <p:sp>
        <p:nvSpPr>
          <p:cNvPr id="22" name="Text 18"/>
          <p:cNvSpPr/>
          <p:nvPr/>
        </p:nvSpPr>
        <p:spPr>
          <a:xfrm>
            <a:off x="4464050" y="2151162"/>
            <a:ext cx="1041400" cy="382488"/>
          </a:xfrm>
          <a:prstGeom prst="rect">
            <a:avLst/>
          </a:prstGeom>
          <a:noFill/>
          <a:ln/>
        </p:spPr>
        <p:txBody>
          <a:bodyPr wrap="square" lIns="0" tIns="0" rIns="0" bIns="0" rtlCol="0" anchor="t">
            <a:normAutofit/>
          </a:bodyPr>
          <a:lstStyle/>
          <a:p>
            <a:pPr algn="l" indent="0" marL="0">
              <a:lnSpc>
                <a:spcPts val="1412"/>
              </a:lnSpc>
              <a:buNone/>
            </a:pPr>
            <a:r>
              <a:rPr lang="en-US" sz="1009" dirty="0">
                <a:solidFill>
                  <a:srgbClr val="9AA3B8"/>
                </a:solidFill>
                <a:latin typeface="IBM Plex Sans" pitchFamily="34" charset="0"/>
                <a:ea typeface="IBM Plex Sans" pitchFamily="34" charset="-122"/>
                <a:cs typeface="IBM Plex Sans" pitchFamily="34" charset="-120"/>
              </a:rPr>
              <a:t>checks your key and limits</a:t>
            </a:r>
            <a:endParaRPr lang="en-US" sz="1009" dirty="0"/>
          </a:p>
        </p:txBody>
      </p:sp>
      <p:pic>
        <p:nvPicPr>
          <p:cNvPr id="23" name="Image 2" descr="arrow-right">    </p:cNvPr>
          <p:cNvPicPr>
            <a:picLocks noChangeAspect="1"/>
          </p:cNvPicPr>
          <p:nvPr/>
        </p:nvPicPr>
        <p:blipFill>
          <a:blip r:embed="rId3"/>
          <a:srcRect l="0" r="0" t="0" b="0"/>
          <a:stretch/>
        </p:blipFill>
        <p:spPr>
          <a:xfrm>
            <a:off x="5702300" y="2038350"/>
            <a:ext cx="254000" cy="165100"/>
          </a:xfrm>
          <a:prstGeom prst="rect">
            <a:avLst/>
          </a:prstGeom>
        </p:spPr>
      </p:pic>
      <p:sp>
        <p:nvSpPr>
          <p:cNvPr id="24" name="Shape 19"/>
          <p:cNvSpPr/>
          <p:nvPr/>
        </p:nvSpPr>
        <p:spPr>
          <a:xfrm>
            <a:off x="6042025" y="1571625"/>
            <a:ext cx="1314450" cy="1098550"/>
          </a:xfrm>
          <a:prstGeom prst="roundRect">
            <a:avLst>
              <a:gd name="adj" fmla="val 10694"/>
            </a:avLst>
          </a:prstGeom>
          <a:solidFill>
            <a:srgbClr val="141A2E"/>
          </a:solidFill>
          <a:ln w="19050">
            <a:solidFill>
              <a:srgbClr val="FFB347"/>
            </a:solidFill>
            <a:prstDash val="solid"/>
          </a:ln>
        </p:spPr>
      </p:sp>
      <p:sp>
        <p:nvSpPr>
          <p:cNvPr id="25" name="Text 20"/>
          <p:cNvSpPr/>
          <p:nvPr/>
        </p:nvSpPr>
        <p:spPr>
          <a:xfrm>
            <a:off x="6203950" y="1733550"/>
            <a:ext cx="104140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F4F5FA"/>
                </a:solidFill>
                <a:latin typeface="Space Grotesk" pitchFamily="34" charset="0"/>
                <a:ea typeface="Space Grotesk" pitchFamily="34" charset="-122"/>
                <a:cs typeface="Space Grotesk" pitchFamily="34" charset="-120"/>
              </a:rPr>
              <a:t>Database</a:t>
            </a:r>
            <a:endParaRPr lang="en-US" sz="1500" dirty="0"/>
          </a:p>
        </p:txBody>
      </p:sp>
      <p:sp>
        <p:nvSpPr>
          <p:cNvPr id="26" name="Text 21"/>
          <p:cNvSpPr/>
          <p:nvPr/>
        </p:nvSpPr>
        <p:spPr>
          <a:xfrm>
            <a:off x="6203950" y="2003425"/>
            <a:ext cx="1041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8"/>
                </a:solidFill>
                <a:latin typeface="IBM Plex Sans" pitchFamily="34" charset="0"/>
                <a:ea typeface="IBM Plex Sans" pitchFamily="34" charset="-122"/>
                <a:cs typeface="IBM Plex Sans" pitchFamily="34" charset="-120"/>
              </a:rPr>
              <a:t>stays private</a:t>
            </a:r>
            <a:endParaRPr lang="en-US" sz="1200" dirty="0"/>
          </a:p>
        </p:txBody>
      </p:sp>
      <p:pic>
        <p:nvPicPr>
          <p:cNvPr id="27" name="Image 3" descr="arrow-right">    </p:cNvPr>
          <p:cNvPicPr>
            <a:picLocks noChangeAspect="1"/>
          </p:cNvPicPr>
          <p:nvPr/>
        </p:nvPicPr>
        <p:blipFill>
          <a:blip r:embed="rId4"/>
          <a:srcRect l="0" r="0" t="0" b="0"/>
          <a:stretch/>
        </p:blipFill>
        <p:spPr>
          <a:xfrm>
            <a:off x="7442200" y="2038350"/>
            <a:ext cx="254000" cy="165100"/>
          </a:xfrm>
          <a:prstGeom prst="rect">
            <a:avLst/>
          </a:prstGeom>
        </p:spPr>
      </p:pic>
      <p:sp>
        <p:nvSpPr>
          <p:cNvPr id="28" name="Shape 22"/>
          <p:cNvSpPr/>
          <p:nvPr/>
        </p:nvSpPr>
        <p:spPr>
          <a:xfrm>
            <a:off x="7781925" y="1571625"/>
            <a:ext cx="1314450" cy="1098550"/>
          </a:xfrm>
          <a:prstGeom prst="roundRect">
            <a:avLst>
              <a:gd name="adj" fmla="val 10694"/>
            </a:avLst>
          </a:prstGeom>
          <a:solidFill>
            <a:srgbClr val="141A2E"/>
          </a:solidFill>
          <a:ln w="19050">
            <a:solidFill>
              <a:srgbClr val="3DDC97"/>
            </a:solidFill>
            <a:prstDash val="solid"/>
          </a:ln>
        </p:spPr>
      </p:sp>
      <p:sp>
        <p:nvSpPr>
          <p:cNvPr id="29" name="Text 23"/>
          <p:cNvSpPr/>
          <p:nvPr/>
        </p:nvSpPr>
        <p:spPr>
          <a:xfrm>
            <a:off x="7943850" y="1733550"/>
            <a:ext cx="1143000" cy="319584"/>
          </a:xfrm>
          <a:prstGeom prst="rect">
            <a:avLst/>
          </a:prstGeom>
          <a:noFill/>
          <a:ln/>
        </p:spPr>
        <p:txBody>
          <a:bodyPr wrap="square" lIns="0" tIns="0" rIns="0" bIns="0" rtlCol="0" anchor="t">
            <a:normAutofit/>
          </a:bodyPr>
          <a:lstStyle/>
          <a:p>
            <a:pPr algn="l" indent="0" marL="0">
              <a:lnSpc>
                <a:spcPts val="1234"/>
              </a:lnSpc>
              <a:buNone/>
            </a:pPr>
            <a:r>
              <a:rPr lang="en-US" sz="1073" b="1" dirty="0">
                <a:solidFill>
                  <a:srgbClr val="F4F5FA"/>
                </a:solidFill>
                <a:latin typeface="Space Grotesk" pitchFamily="34" charset="0"/>
                <a:ea typeface="Space Grotesk" pitchFamily="34" charset="-122"/>
                <a:cs typeface="Space Grotesk" pitchFamily="34" charset="-120"/>
              </a:rPr>
              <a:t>JSON response</a:t>
            </a:r>
            <a:endParaRPr lang="en-US" sz="1073" dirty="0"/>
          </a:p>
        </p:txBody>
      </p:sp>
      <p:sp>
        <p:nvSpPr>
          <p:cNvPr id="30" name="Text 24"/>
          <p:cNvSpPr/>
          <p:nvPr/>
        </p:nvSpPr>
        <p:spPr>
          <a:xfrm>
            <a:off x="7943850" y="2078534"/>
            <a:ext cx="1041400" cy="455116"/>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9AA3B8"/>
                </a:solidFill>
                <a:latin typeface="IBM Plex Sans" pitchFamily="34" charset="0"/>
                <a:ea typeface="IBM Plex Sans" pitchFamily="34" charset="-122"/>
                <a:cs typeface="IBM Plex Sans" pitchFamily="34" charset="-120"/>
              </a:rPr>
              <a:t>only what NASA exposes</a:t>
            </a:r>
            <a:endParaRPr lang="en-US" sz="1196" dirty="0"/>
          </a:p>
        </p:txBody>
      </p:sp>
      <p:pic>
        <p:nvPicPr>
          <p:cNvPr id="31" name="Image 4" descr="arrow-right">    </p:cNvPr>
          <p:cNvPicPr>
            <a:picLocks noChangeAspect="1"/>
          </p:cNvPicPr>
          <p:nvPr/>
        </p:nvPicPr>
        <p:blipFill>
          <a:blip r:embed="rId5"/>
          <a:srcRect l="0" r="0" t="0" b="0"/>
          <a:stretch/>
        </p:blipFill>
        <p:spPr>
          <a:xfrm>
            <a:off x="9182100" y="2038350"/>
            <a:ext cx="254000" cy="165100"/>
          </a:xfrm>
          <a:prstGeom prst="rect">
            <a:avLst/>
          </a:prstGeom>
        </p:spPr>
      </p:pic>
      <p:sp>
        <p:nvSpPr>
          <p:cNvPr id="32" name="Shape 25"/>
          <p:cNvSpPr/>
          <p:nvPr/>
        </p:nvSpPr>
        <p:spPr>
          <a:xfrm>
            <a:off x="9521825" y="1571625"/>
            <a:ext cx="1314450" cy="1098550"/>
          </a:xfrm>
          <a:prstGeom prst="roundRect">
            <a:avLst>
              <a:gd name="adj" fmla="val 10694"/>
            </a:avLst>
          </a:prstGeom>
          <a:solidFill>
            <a:srgbClr val="141A2E"/>
          </a:solidFill>
          <a:ln w="19050">
            <a:solidFill>
              <a:srgbClr val="6EA8FF"/>
            </a:solidFill>
            <a:prstDash val="solid"/>
          </a:ln>
        </p:spPr>
      </p:sp>
      <p:sp>
        <p:nvSpPr>
          <p:cNvPr id="33" name="Text 26"/>
          <p:cNvSpPr/>
          <p:nvPr/>
        </p:nvSpPr>
        <p:spPr>
          <a:xfrm>
            <a:off x="9683750" y="1733550"/>
            <a:ext cx="1143000" cy="392212"/>
          </a:xfrm>
          <a:prstGeom prst="rect">
            <a:avLst/>
          </a:prstGeom>
          <a:noFill/>
          <a:ln/>
        </p:spPr>
        <p:txBody>
          <a:bodyPr wrap="square" lIns="0" tIns="0" rIns="0" bIns="0" rtlCol="0" anchor="t">
            <a:normAutofit/>
          </a:bodyPr>
          <a:lstStyle/>
          <a:p>
            <a:pPr algn="l" indent="0" marL="0">
              <a:lnSpc>
                <a:spcPts val="1499"/>
              </a:lnSpc>
              <a:buNone/>
            </a:pPr>
            <a:r>
              <a:rPr lang="en-US" sz="1303" b="1" dirty="0">
                <a:solidFill>
                  <a:srgbClr val="F4F5FA"/>
                </a:solidFill>
                <a:latin typeface="Space Grotesk" pitchFamily="34" charset="0"/>
                <a:ea typeface="Space Grotesk" pitchFamily="34" charset="-122"/>
                <a:cs typeface="Space Grotesk" pitchFamily="34" charset="-120"/>
              </a:rPr>
              <a:t>Your feature</a:t>
            </a:r>
            <a:endParaRPr lang="en-US" sz="1303" dirty="0"/>
          </a:p>
        </p:txBody>
      </p:sp>
      <p:sp>
        <p:nvSpPr>
          <p:cNvPr id="34" name="Text 27"/>
          <p:cNvSpPr/>
          <p:nvPr/>
        </p:nvSpPr>
        <p:spPr>
          <a:xfrm>
            <a:off x="9683750" y="2151162"/>
            <a:ext cx="1143000" cy="382488"/>
          </a:xfrm>
          <a:prstGeom prst="rect">
            <a:avLst/>
          </a:prstGeom>
          <a:noFill/>
          <a:ln/>
        </p:spPr>
        <p:txBody>
          <a:bodyPr wrap="square" lIns="0" tIns="0" rIns="0" bIns="0" rtlCol="0" anchor="t">
            <a:normAutofit/>
          </a:bodyPr>
          <a:lstStyle/>
          <a:p>
            <a:pPr algn="l" indent="0" marL="0">
              <a:lnSpc>
                <a:spcPts val="1507"/>
              </a:lnSpc>
              <a:buNone/>
            </a:pPr>
            <a:r>
              <a:rPr lang="en-US" sz="1076" dirty="0">
                <a:solidFill>
                  <a:srgbClr val="9AA3B8"/>
                </a:solidFill>
                <a:latin typeface="IBM Plex Sans" pitchFamily="34" charset="0"/>
                <a:ea typeface="IBM Plex Sans" pitchFamily="34" charset="-122"/>
                <a:cs typeface="IBM Plex Sans" pitchFamily="34" charset="-120"/>
              </a:rPr>
              <a:t>list, card or map</a:t>
            </a:r>
            <a:endParaRPr lang="en-US" sz="1076" dirty="0"/>
          </a:p>
        </p:txBody>
      </p:sp>
      <p:pic>
        <p:nvPicPr>
          <p:cNvPr id="35" name="Image 5" descr="NASA Space Apps Cairo logo">    </p:cNvPr>
          <p:cNvPicPr>
            <a:picLocks noChangeAspect="1"/>
          </p:cNvPicPr>
          <p:nvPr/>
        </p:nvPicPr>
        <p:blipFill>
          <a:blip r:embed="rId6"/>
          <a:srcRect l="-70" r="-70" t="0" b="0"/>
          <a:stretch/>
        </p:blipFill>
        <p:spPr>
          <a:xfrm>
            <a:off x="812800" y="6146800"/>
            <a:ext cx="908050" cy="355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Why NASA gives you an API, not its database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280"/>
          <a:ext cx="6337300" cy="2315766"/>
        </p:xfrm>
        <a:graphic>
          <a:graphicData uri="http://schemas.openxmlformats.org/drawingml/2006/table">
            <a:tbl>
              <a:tblPr/>
              <a:tblGrid>
                <a:gridCol w="2281428"/>
                <a:gridCol w="4055872"/>
              </a:tblGrid>
              <a:tr h="385961">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Problem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What the API does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Database too complex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Shows a simple menu of endpoints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Security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Keeps the raw tables private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Standardization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Everyone gets the same JSON shape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Scalability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One front door that can be cached and limited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Access control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Keys tell NASA who is asking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bl>
          </a:graphicData>
        </a:graphic>
      </p:graphicFrame>
      <p:sp>
        <p:nvSpPr>
          <p:cNvPr id="4" name="Shape 1"/>
          <p:cNvSpPr/>
          <p:nvPr/>
        </p:nvSpPr>
        <p:spPr>
          <a:xfrm>
            <a:off x="7416800" y="1564580"/>
            <a:ext cx="3962400" cy="3329682"/>
          </a:xfrm>
          <a:prstGeom prst="roundRect">
            <a:avLst>
              <a:gd name="adj" fmla="val 3814"/>
            </a:avLst>
          </a:prstGeom>
          <a:solidFill>
            <a:srgbClr val="141A2E"/>
          </a:solidFill>
          <a:ln/>
        </p:spPr>
      </p:sp>
      <p:sp>
        <p:nvSpPr>
          <p:cNvPr id="5" name="Text 2"/>
          <p:cNvSpPr/>
          <p:nvPr/>
        </p:nvSpPr>
        <p:spPr>
          <a:xfrm>
            <a:off x="7645400" y="1793180"/>
            <a:ext cx="36103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3B8"/>
                </a:solidFill>
                <a:latin typeface="IBM Plex Sans" pitchFamily="34" charset="0"/>
                <a:ea typeface="IBM Plex Sans" pitchFamily="34" charset="-122"/>
                <a:cs typeface="IBM Plex Sans" pitchFamily="34" charset="-120"/>
              </a:rPr>
              <a:t>IMAGINE, BEHIND THE SCENES</a:t>
            </a:r>
            <a:endParaRPr lang="en-US" sz="1200" dirty="0"/>
          </a:p>
        </p:txBody>
      </p:sp>
      <p:sp>
        <p:nvSpPr>
          <p:cNvPr id="6" name="Text 3"/>
          <p:cNvSpPr/>
          <p:nvPr/>
        </p:nvSpPr>
        <p:spPr>
          <a:xfrm>
            <a:off x="7645400" y="2095401"/>
            <a:ext cx="3610356"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neo_objects</a:t>
            </a:r>
            <a:endParaRPr lang="en-US" sz="1300" dirty="0"/>
          </a:p>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neo_orbits</a:t>
            </a:r>
            <a:endParaRPr lang="en-US" sz="1300" dirty="0"/>
          </a:p>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neo_size</a:t>
            </a:r>
            <a:endParaRPr lang="en-US" sz="1300" dirty="0"/>
          </a:p>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neo_hazard</a:t>
            </a:r>
            <a:endParaRPr lang="en-US" sz="1300" dirty="0"/>
          </a:p>
        </p:txBody>
      </p:sp>
      <p:sp>
        <p:nvSpPr>
          <p:cNvPr id="7" name="Text 4"/>
          <p:cNvSpPr/>
          <p:nvPr/>
        </p:nvSpPr>
        <p:spPr>
          <a:xfrm>
            <a:off x="7645400" y="3174901"/>
            <a:ext cx="36103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You never touch these tables. You call:</a:t>
            </a:r>
            <a:endParaRPr lang="en-US" sz="1400" dirty="0"/>
          </a:p>
        </p:txBody>
      </p:sp>
      <p:sp>
        <p:nvSpPr>
          <p:cNvPr id="8" name="Text 5"/>
          <p:cNvSpPr/>
          <p:nvPr/>
        </p:nvSpPr>
        <p:spPr>
          <a:xfrm>
            <a:off x="7645400" y="3512641"/>
            <a:ext cx="36103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EA8FF"/>
                </a:solidFill>
                <a:latin typeface="JetBrains Mono" pitchFamily="49" charset="0"/>
                <a:ea typeface="JetBrains Mono" pitchFamily="49" charset="-122"/>
                <a:cs typeface="JetBrains Mono" pitchFamily="49" charset="-120"/>
              </a:rPr>
              <a:t>GET /neo/rest/v1/feed</a:t>
            </a:r>
            <a:endParaRPr lang="en-US" sz="1300" dirty="0"/>
          </a:p>
        </p:txBody>
      </p:sp>
      <p:sp>
        <p:nvSpPr>
          <p:cNvPr id="9" name="Text 6"/>
          <p:cNvSpPr/>
          <p:nvPr/>
        </p:nvSpPr>
        <p:spPr>
          <a:xfrm>
            <a:off x="7645400" y="3832622"/>
            <a:ext cx="36103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and get only what NASA chooses to show.</a:t>
            </a:r>
            <a:endParaRPr lang="en-US" sz="1400" dirty="0"/>
          </a:p>
        </p:txBody>
      </p:sp>
      <p:sp>
        <p:nvSpPr>
          <p:cNvPr id="10" name="Text 7"/>
          <p:cNvSpPr/>
          <p:nvPr/>
        </p:nvSpPr>
        <p:spPr>
          <a:xfrm>
            <a:off x="7645400" y="4170363"/>
            <a:ext cx="3610356"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F3B1F"/>
                </a:solidFill>
                <a:latin typeface="IBM Plex Sans" pitchFamily="34" charset="0"/>
                <a:ea typeface="IBM Plex Sans" pitchFamily="34" charset="-122"/>
                <a:cs typeface="IBM Plex Sans" pitchFamily="34" charset="-120"/>
              </a:rPr>
              <a:t>An API is the contract between two systems.</a:t>
            </a:r>
            <a:endParaRPr lang="en-US" sz="1500" dirty="0"/>
          </a:p>
        </p:txBody>
      </p:sp>
      <p:pic>
        <p:nvPicPr>
          <p:cNvPr id="11"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Anatomy of an HTTP request</a:t>
            </a:r>
            <a:endParaRPr lang="en-US" sz="3200" dirty="0"/>
          </a:p>
        </p:txBody>
      </p:sp>
      <p:sp>
        <p:nvSpPr>
          <p:cNvPr id="3" name="Shape 1"/>
          <p:cNvSpPr/>
          <p:nvPr/>
        </p:nvSpPr>
        <p:spPr>
          <a:xfrm>
            <a:off x="822325" y="1497905"/>
            <a:ext cx="2527300" cy="514350"/>
          </a:xfrm>
          <a:prstGeom prst="roundRect">
            <a:avLst>
              <a:gd name="adj" fmla="val 17901"/>
            </a:avLst>
          </a:prstGeom>
          <a:solidFill>
            <a:srgbClr val="141A2E"/>
          </a:solidFill>
          <a:ln w="19050">
            <a:solidFill>
              <a:srgbClr val="3DDC97"/>
            </a:solidFill>
            <a:prstDash val="solid"/>
          </a:ln>
        </p:spPr>
      </p:sp>
      <p:sp>
        <p:nvSpPr>
          <p:cNvPr id="4" name="Text 2"/>
          <p:cNvSpPr/>
          <p:nvPr/>
        </p:nvSpPr>
        <p:spPr>
          <a:xfrm>
            <a:off x="984250" y="1621730"/>
            <a:ext cx="4114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DC97"/>
                </a:solidFill>
                <a:latin typeface="JetBrains Mono" pitchFamily="49" charset="0"/>
                <a:ea typeface="JetBrains Mono" pitchFamily="49" charset="-122"/>
                <a:cs typeface="JetBrains Mono" pitchFamily="49" charset="-120"/>
              </a:rPr>
              <a:t>GET</a:t>
            </a:r>
            <a:endParaRPr lang="en-US" sz="1500" dirty="0"/>
          </a:p>
        </p:txBody>
      </p:sp>
      <p:sp>
        <p:nvSpPr>
          <p:cNvPr id="5" name="Text 3"/>
          <p:cNvSpPr/>
          <p:nvPr/>
        </p:nvSpPr>
        <p:spPr>
          <a:xfrm>
            <a:off x="1428750" y="1639491"/>
            <a:ext cx="84403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read data</a:t>
            </a:r>
            <a:endParaRPr lang="en-US" sz="1300" dirty="0"/>
          </a:p>
        </p:txBody>
      </p:sp>
      <p:sp>
        <p:nvSpPr>
          <p:cNvPr id="6" name="Shape 4"/>
          <p:cNvSpPr/>
          <p:nvPr/>
        </p:nvSpPr>
        <p:spPr>
          <a:xfrm>
            <a:off x="3495675" y="1497905"/>
            <a:ext cx="2527300" cy="514350"/>
          </a:xfrm>
          <a:prstGeom prst="roundRect">
            <a:avLst>
              <a:gd name="adj" fmla="val 17901"/>
            </a:avLst>
          </a:prstGeom>
          <a:solidFill>
            <a:srgbClr val="141A2E"/>
          </a:solidFill>
          <a:ln w="19050">
            <a:solidFill>
              <a:srgbClr val="141A2E"/>
            </a:solidFill>
            <a:prstDash val="solid"/>
          </a:ln>
        </p:spPr>
      </p:sp>
      <p:sp>
        <p:nvSpPr>
          <p:cNvPr id="7" name="Text 5"/>
          <p:cNvSpPr/>
          <p:nvPr/>
        </p:nvSpPr>
        <p:spPr>
          <a:xfrm>
            <a:off x="3657600" y="1621730"/>
            <a:ext cx="5486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A3B8"/>
                </a:solidFill>
                <a:latin typeface="JetBrains Mono" pitchFamily="49" charset="0"/>
                <a:ea typeface="JetBrains Mono" pitchFamily="49" charset="-122"/>
                <a:cs typeface="JetBrains Mono" pitchFamily="49" charset="-120"/>
              </a:rPr>
              <a:t>POST</a:t>
            </a:r>
            <a:endParaRPr lang="en-US" sz="1500" dirty="0"/>
          </a:p>
        </p:txBody>
      </p:sp>
      <p:sp>
        <p:nvSpPr>
          <p:cNvPr id="8" name="Text 6"/>
          <p:cNvSpPr/>
          <p:nvPr/>
        </p:nvSpPr>
        <p:spPr>
          <a:xfrm>
            <a:off x="4216400" y="1639491"/>
            <a:ext cx="56352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create</a:t>
            </a:r>
            <a:endParaRPr lang="en-US" sz="1300" dirty="0"/>
          </a:p>
        </p:txBody>
      </p:sp>
      <p:sp>
        <p:nvSpPr>
          <p:cNvPr id="9" name="Shape 7"/>
          <p:cNvSpPr/>
          <p:nvPr/>
        </p:nvSpPr>
        <p:spPr>
          <a:xfrm>
            <a:off x="6169025" y="1497905"/>
            <a:ext cx="2527300" cy="514350"/>
          </a:xfrm>
          <a:prstGeom prst="roundRect">
            <a:avLst>
              <a:gd name="adj" fmla="val 17901"/>
            </a:avLst>
          </a:prstGeom>
          <a:solidFill>
            <a:srgbClr val="141A2E"/>
          </a:solidFill>
          <a:ln w="19050">
            <a:solidFill>
              <a:srgbClr val="141A2E"/>
            </a:solidFill>
            <a:prstDash val="solid"/>
          </a:ln>
        </p:spPr>
      </p:sp>
      <p:sp>
        <p:nvSpPr>
          <p:cNvPr id="10" name="Text 8"/>
          <p:cNvSpPr/>
          <p:nvPr/>
        </p:nvSpPr>
        <p:spPr>
          <a:xfrm>
            <a:off x="6330950" y="1621730"/>
            <a:ext cx="4114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A3B8"/>
                </a:solidFill>
                <a:latin typeface="JetBrains Mono" pitchFamily="49" charset="0"/>
                <a:ea typeface="JetBrains Mono" pitchFamily="49" charset="-122"/>
                <a:cs typeface="JetBrains Mono" pitchFamily="49" charset="-120"/>
              </a:rPr>
              <a:t>PUT</a:t>
            </a:r>
            <a:endParaRPr lang="en-US" sz="1500" dirty="0"/>
          </a:p>
        </p:txBody>
      </p:sp>
      <p:sp>
        <p:nvSpPr>
          <p:cNvPr id="11" name="Text 9"/>
          <p:cNvSpPr/>
          <p:nvPr/>
        </p:nvSpPr>
        <p:spPr>
          <a:xfrm>
            <a:off x="6775450" y="1639491"/>
            <a:ext cx="62567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update</a:t>
            </a:r>
            <a:endParaRPr lang="en-US" sz="1300" dirty="0"/>
          </a:p>
        </p:txBody>
      </p:sp>
      <p:sp>
        <p:nvSpPr>
          <p:cNvPr id="12" name="Shape 10"/>
          <p:cNvSpPr/>
          <p:nvPr/>
        </p:nvSpPr>
        <p:spPr>
          <a:xfrm>
            <a:off x="8842375" y="1497905"/>
            <a:ext cx="2527300" cy="514350"/>
          </a:xfrm>
          <a:prstGeom prst="roundRect">
            <a:avLst>
              <a:gd name="adj" fmla="val 17901"/>
            </a:avLst>
          </a:prstGeom>
          <a:solidFill>
            <a:srgbClr val="141A2E"/>
          </a:solidFill>
          <a:ln w="19050">
            <a:solidFill>
              <a:srgbClr val="141A2E"/>
            </a:solidFill>
            <a:prstDash val="solid"/>
          </a:ln>
        </p:spPr>
      </p:sp>
      <p:sp>
        <p:nvSpPr>
          <p:cNvPr id="13" name="Text 11"/>
          <p:cNvSpPr/>
          <p:nvPr/>
        </p:nvSpPr>
        <p:spPr>
          <a:xfrm>
            <a:off x="9004300" y="1621730"/>
            <a:ext cx="787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A3B8"/>
                </a:solidFill>
                <a:latin typeface="JetBrains Mono" pitchFamily="49" charset="0"/>
                <a:ea typeface="JetBrains Mono" pitchFamily="49" charset="-122"/>
                <a:cs typeface="JetBrains Mono" pitchFamily="49" charset="-120"/>
              </a:rPr>
              <a:t>DELETE</a:t>
            </a:r>
            <a:endParaRPr lang="en-US" sz="1500" dirty="0"/>
          </a:p>
        </p:txBody>
      </p:sp>
      <p:sp>
        <p:nvSpPr>
          <p:cNvPr id="14" name="Text 12"/>
          <p:cNvSpPr/>
          <p:nvPr/>
        </p:nvSpPr>
        <p:spPr>
          <a:xfrm>
            <a:off x="9791700" y="1639491"/>
            <a:ext cx="66758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remove</a:t>
            </a:r>
            <a:endParaRPr lang="en-US" sz="1300" dirty="0"/>
          </a:p>
        </p:txBody>
      </p:sp>
      <p:sp>
        <p:nvSpPr>
          <p:cNvPr id="15" name="Text 13"/>
          <p:cNvSpPr/>
          <p:nvPr/>
        </p:nvSpPr>
        <p:spPr>
          <a:xfrm>
            <a:off x="812800" y="22503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NASA data APIs are almost always </a:t>
            </a:r>
            <a:r>
              <a:rPr lang="en-US" sz="1500" b="1" dirty="0">
                <a:solidFill>
                  <a:srgbClr val="3DDC97"/>
                </a:solidFill>
                <a:latin typeface="IBM Plex Sans" pitchFamily="34" charset="0"/>
                <a:ea typeface="IBM Plex Sans" pitchFamily="34" charset="-122"/>
                <a:cs typeface="IBM Plex Sans" pitchFamily="34" charset="-120"/>
              </a:rPr>
              <a:t>GET</a:t>
            </a:r>
            <a:r>
              <a:rPr lang="en-US" sz="1500" dirty="0">
                <a:solidFill>
                  <a:srgbClr val="BFC6D8"/>
                </a:solidFill>
                <a:latin typeface="IBM Plex Sans" pitchFamily="34" charset="0"/>
                <a:ea typeface="IBM Plex Sans" pitchFamily="34" charset="-122"/>
                <a:cs typeface="IBM Plex Sans" pitchFamily="34" charset="-120"/>
              </a:rPr>
              <a:t>, because we only read.</a:t>
            </a:r>
            <a:endParaRPr lang="en-US" sz="1500" dirty="0"/>
          </a:p>
        </p:txBody>
      </p:sp>
      <p:sp>
        <p:nvSpPr>
          <p:cNvPr id="16" name="Shape 14"/>
          <p:cNvSpPr/>
          <p:nvPr/>
        </p:nvSpPr>
        <p:spPr>
          <a:xfrm>
            <a:off x="812800" y="2745680"/>
            <a:ext cx="5181600" cy="2209701"/>
          </a:xfrm>
          <a:prstGeom prst="roundRect">
            <a:avLst>
              <a:gd name="adj" fmla="val 5747"/>
            </a:avLst>
          </a:prstGeom>
          <a:solidFill>
            <a:srgbClr val="141A2E"/>
          </a:solidFill>
          <a:ln/>
        </p:spPr>
      </p:sp>
      <p:sp>
        <p:nvSpPr>
          <p:cNvPr id="17" name="Text 15"/>
          <p:cNvSpPr/>
          <p:nvPr/>
        </p:nvSpPr>
        <p:spPr>
          <a:xfrm>
            <a:off x="1041400" y="2974280"/>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REQUEST</a:t>
            </a:r>
            <a:endParaRPr lang="en-US" sz="1200" dirty="0"/>
          </a:p>
        </p:txBody>
      </p:sp>
      <p:sp>
        <p:nvSpPr>
          <p:cNvPr id="18" name="Text 16"/>
          <p:cNvSpPr/>
          <p:nvPr/>
        </p:nvSpPr>
        <p:spPr>
          <a:xfrm>
            <a:off x="1041400" y="3251101"/>
            <a:ext cx="486613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DC97"/>
                </a:solidFill>
                <a:latin typeface="JetBrains Mono" pitchFamily="49" charset="0"/>
                <a:ea typeface="JetBrains Mono" pitchFamily="49" charset="-122"/>
                <a:cs typeface="JetBrains Mono" pitchFamily="49" charset="-120"/>
              </a:rPr>
              <a:t>GET</a:t>
            </a:r>
            <a:r>
              <a:rPr lang="en-US" sz="1300" dirty="0">
                <a:solidFill>
                  <a:srgbClr val="F4F5FA"/>
                </a:solidFill>
                <a:latin typeface="JetBrains Mono" pitchFamily="49" charset="0"/>
                <a:ea typeface="JetBrains Mono" pitchFamily="49" charset="-122"/>
                <a:cs typeface="JetBrains Mono" pitchFamily="49" charset="-120"/>
              </a:rPr>
              <a:t> /planetary/apod</a:t>
            </a:r>
            <a:endParaRPr lang="en-US" sz="1300" dirty="0"/>
          </a:p>
        </p:txBody>
      </p:sp>
      <p:sp>
        <p:nvSpPr>
          <p:cNvPr id="19" name="Text 17"/>
          <p:cNvSpPr/>
          <p:nvPr/>
        </p:nvSpPr>
        <p:spPr>
          <a:xfrm>
            <a:off x="1041400" y="3562251"/>
            <a:ext cx="486613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B347"/>
                </a:solidFill>
                <a:latin typeface="JetBrains Mono" pitchFamily="49" charset="0"/>
                <a:ea typeface="JetBrains Mono" pitchFamily="49" charset="-122"/>
                <a:cs typeface="JetBrains Mono" pitchFamily="49" charset="-120"/>
              </a:rPr>
              <a:t>?api_key=YOUR_KEY</a:t>
            </a:r>
            <a:endParaRPr lang="en-US" sz="1300" dirty="0"/>
          </a:p>
        </p:txBody>
      </p:sp>
      <p:sp>
        <p:nvSpPr>
          <p:cNvPr id="20" name="Text 18"/>
          <p:cNvSpPr/>
          <p:nvPr/>
        </p:nvSpPr>
        <p:spPr>
          <a:xfrm>
            <a:off x="1041400" y="3873401"/>
            <a:ext cx="486613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Host: api.nasa.gov</a:t>
            </a:r>
            <a:endParaRPr lang="en-US" sz="1300" dirty="0"/>
          </a:p>
        </p:txBody>
      </p:sp>
      <p:sp>
        <p:nvSpPr>
          <p:cNvPr id="21" name="Text 19"/>
          <p:cNvSpPr/>
          <p:nvPr/>
        </p:nvSpPr>
        <p:spPr>
          <a:xfrm>
            <a:off x="1041400" y="4184551"/>
            <a:ext cx="486613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Accept: application/json</a:t>
            </a:r>
            <a:endParaRPr lang="en-US" sz="1300" dirty="0"/>
          </a:p>
        </p:txBody>
      </p:sp>
      <p:sp>
        <p:nvSpPr>
          <p:cNvPr id="22" name="Text 20"/>
          <p:cNvSpPr/>
          <p:nvPr/>
        </p:nvSpPr>
        <p:spPr>
          <a:xfrm>
            <a:off x="1041400" y="4495701"/>
            <a:ext cx="486613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Method · endpoint · parameters (with the key) · headers</a:t>
            </a:r>
            <a:endParaRPr lang="en-US" sz="1300" dirty="0"/>
          </a:p>
        </p:txBody>
      </p:sp>
      <p:sp>
        <p:nvSpPr>
          <p:cNvPr id="23" name="Shape 21"/>
          <p:cNvSpPr/>
          <p:nvPr/>
        </p:nvSpPr>
        <p:spPr>
          <a:xfrm>
            <a:off x="6197600" y="2745680"/>
            <a:ext cx="5181600" cy="2209701"/>
          </a:xfrm>
          <a:prstGeom prst="roundRect">
            <a:avLst>
              <a:gd name="adj" fmla="val 5747"/>
            </a:avLst>
          </a:prstGeom>
          <a:solidFill>
            <a:srgbClr val="141A2E"/>
          </a:solidFill>
          <a:ln/>
        </p:spPr>
      </p:sp>
      <p:sp>
        <p:nvSpPr>
          <p:cNvPr id="24" name="Text 22"/>
          <p:cNvSpPr/>
          <p:nvPr/>
        </p:nvSpPr>
        <p:spPr>
          <a:xfrm>
            <a:off x="6426200" y="2974280"/>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RESPONSE</a:t>
            </a:r>
            <a:endParaRPr lang="en-US" sz="1200" dirty="0"/>
          </a:p>
        </p:txBody>
      </p:sp>
      <p:sp>
        <p:nvSpPr>
          <p:cNvPr id="25" name="Text 23"/>
          <p:cNvSpPr/>
          <p:nvPr/>
        </p:nvSpPr>
        <p:spPr>
          <a:xfrm>
            <a:off x="6426200" y="3251101"/>
            <a:ext cx="4866132"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3DDC97"/>
                </a:solidFill>
                <a:latin typeface="JetBrains Mono" pitchFamily="49" charset="0"/>
                <a:ea typeface="JetBrains Mono" pitchFamily="49" charset="-122"/>
                <a:cs typeface="JetBrains Mono" pitchFamily="49" charset="-120"/>
              </a:rPr>
              <a:t>200 OK</a:t>
            </a:r>
            <a:endParaRPr lang="en-US" sz="1300" dirty="0"/>
          </a:p>
        </p:txBody>
      </p:sp>
      <p:sp>
        <p:nvSpPr>
          <p:cNvPr id="26" name="Text 24"/>
          <p:cNvSpPr/>
          <p:nvPr/>
        </p:nvSpPr>
        <p:spPr>
          <a:xfrm>
            <a:off x="6426200" y="3562251"/>
            <a:ext cx="486613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8"/>
                </a:solidFill>
                <a:latin typeface="JetBrains Mono" pitchFamily="49" charset="0"/>
                <a:ea typeface="JetBrains Mono" pitchFamily="49" charset="-122"/>
                <a:cs typeface="JetBrains Mono" pitchFamily="49" charset="-120"/>
              </a:rPr>
              <a:t>Content-Type: application/json</a:t>
            </a:r>
            <a:endParaRPr lang="en-US" sz="1300" dirty="0"/>
          </a:p>
        </p:txBody>
      </p:sp>
      <p:sp>
        <p:nvSpPr>
          <p:cNvPr id="27" name="Text 25"/>
          <p:cNvSpPr/>
          <p:nvPr/>
        </p:nvSpPr>
        <p:spPr>
          <a:xfrm>
            <a:off x="6426200" y="3873401"/>
            <a:ext cx="486613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4F5FA"/>
                </a:solidFill>
                <a:latin typeface="JetBrains Mono" pitchFamily="49" charset="0"/>
                <a:ea typeface="JetBrains Mono" pitchFamily="49" charset="-122"/>
                <a:cs typeface="JetBrains Mono" pitchFamily="49" charset="-120"/>
              </a:rPr>
              <a:t>{ "title": "…", "date": "…", "url": "…" }</a:t>
            </a:r>
            <a:endParaRPr lang="en-US" sz="1300" dirty="0"/>
          </a:p>
        </p:txBody>
      </p:sp>
      <p:sp>
        <p:nvSpPr>
          <p:cNvPr id="28" name="Text 26"/>
          <p:cNvSpPr/>
          <p:nvPr/>
        </p:nvSpPr>
        <p:spPr>
          <a:xfrm>
            <a:off x="6426200" y="4184551"/>
            <a:ext cx="486613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Status code · headers · body (JSON)</a:t>
            </a:r>
            <a:endParaRPr lang="en-US" sz="1300" dirty="0"/>
          </a:p>
        </p:txBody>
      </p:sp>
      <p:pic>
        <p:nvPicPr>
          <p:cNvPr id="29"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Status codes tell you what went wrong</a:t>
            </a:r>
            <a:endParaRPr lang="en-US" sz="3200" dirty="0"/>
          </a:p>
        </p:txBody>
      </p:sp>
      <p:sp>
        <p:nvSpPr>
          <p:cNvPr id="3" name="Shape 1"/>
          <p:cNvSpPr/>
          <p:nvPr/>
        </p:nvSpPr>
        <p:spPr>
          <a:xfrm>
            <a:off x="812800" y="1488380"/>
            <a:ext cx="3420467" cy="1338461"/>
          </a:xfrm>
          <a:prstGeom prst="roundRect">
            <a:avLst>
              <a:gd name="adj" fmla="val 9489"/>
            </a:avLst>
          </a:prstGeom>
          <a:solidFill>
            <a:srgbClr val="141A2E"/>
          </a:solidFill>
          <a:ln/>
        </p:spPr>
      </p:sp>
      <p:sp>
        <p:nvSpPr>
          <p:cNvPr id="4" name="Text 2"/>
          <p:cNvSpPr/>
          <p:nvPr/>
        </p:nvSpPr>
        <p:spPr>
          <a:xfrm>
            <a:off x="1016000" y="1666180"/>
            <a:ext cx="310448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3DDC97"/>
                </a:solidFill>
                <a:latin typeface="JetBrains Mono" pitchFamily="49" charset="0"/>
                <a:ea typeface="JetBrains Mono" pitchFamily="49" charset="-122"/>
                <a:cs typeface="JetBrains Mono" pitchFamily="49" charset="-120"/>
              </a:rPr>
              <a:t>200</a:t>
            </a:r>
            <a:endParaRPr lang="en-US" sz="2800" dirty="0"/>
          </a:p>
        </p:txBody>
      </p:sp>
      <p:sp>
        <p:nvSpPr>
          <p:cNvPr id="5" name="Text 3"/>
          <p:cNvSpPr/>
          <p:nvPr/>
        </p:nvSpPr>
        <p:spPr>
          <a:xfrm>
            <a:off x="1016000" y="2108101"/>
            <a:ext cx="31044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IBM Plex Sans" pitchFamily="34" charset="0"/>
                <a:ea typeface="IBM Plex Sans" pitchFamily="34" charset="-122"/>
                <a:cs typeface="IBM Plex Sans" pitchFamily="34" charset="-120"/>
              </a:rPr>
              <a:t>It worked</a:t>
            </a:r>
            <a:endParaRPr lang="en-US" sz="1700" dirty="0"/>
          </a:p>
        </p:txBody>
      </p:sp>
      <p:sp>
        <p:nvSpPr>
          <p:cNvPr id="6" name="Text 4"/>
          <p:cNvSpPr/>
          <p:nvPr/>
        </p:nvSpPr>
        <p:spPr>
          <a:xfrm>
            <a:off x="1016000" y="2417961"/>
            <a:ext cx="31044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8"/>
                </a:solidFill>
                <a:latin typeface="JetBrains Mono" pitchFamily="49" charset="0"/>
                <a:ea typeface="JetBrains Mono" pitchFamily="49" charset="-122"/>
                <a:cs typeface="JetBrains Mono" pitchFamily="49" charset="-120"/>
              </a:rPr>
              <a:t>{"element_count": 37, …}</a:t>
            </a:r>
            <a:endParaRPr lang="en-US" sz="1200" dirty="0"/>
          </a:p>
        </p:txBody>
      </p:sp>
      <p:sp>
        <p:nvSpPr>
          <p:cNvPr id="7" name="Shape 5"/>
          <p:cNvSpPr/>
          <p:nvPr/>
        </p:nvSpPr>
        <p:spPr>
          <a:xfrm>
            <a:off x="4385667" y="1488380"/>
            <a:ext cx="3420566" cy="1338461"/>
          </a:xfrm>
          <a:prstGeom prst="roundRect">
            <a:avLst>
              <a:gd name="adj" fmla="val 9489"/>
            </a:avLst>
          </a:prstGeom>
          <a:solidFill>
            <a:srgbClr val="141A2E"/>
          </a:solidFill>
          <a:ln/>
        </p:spPr>
      </p:sp>
      <p:sp>
        <p:nvSpPr>
          <p:cNvPr id="8" name="Text 6"/>
          <p:cNvSpPr/>
          <p:nvPr/>
        </p:nvSpPr>
        <p:spPr>
          <a:xfrm>
            <a:off x="4588867" y="1666180"/>
            <a:ext cx="3104591"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B347"/>
                </a:solidFill>
                <a:latin typeface="JetBrains Mono" pitchFamily="49" charset="0"/>
                <a:ea typeface="JetBrains Mono" pitchFamily="49" charset="-122"/>
                <a:cs typeface="JetBrains Mono" pitchFamily="49" charset="-120"/>
              </a:rPr>
              <a:t>400</a:t>
            </a:r>
            <a:endParaRPr lang="en-US" sz="2800" dirty="0"/>
          </a:p>
        </p:txBody>
      </p:sp>
      <p:sp>
        <p:nvSpPr>
          <p:cNvPr id="9" name="Text 7"/>
          <p:cNvSpPr/>
          <p:nvPr/>
        </p:nvSpPr>
        <p:spPr>
          <a:xfrm>
            <a:off x="4588867" y="2108101"/>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IBM Plex Sans" pitchFamily="34" charset="0"/>
                <a:ea typeface="IBM Plex Sans" pitchFamily="34" charset="-122"/>
                <a:cs typeface="IBM Plex Sans" pitchFamily="34" charset="-120"/>
              </a:rPr>
              <a:t>Bad parameter</a:t>
            </a:r>
            <a:endParaRPr lang="en-US" sz="1700" dirty="0"/>
          </a:p>
        </p:txBody>
      </p:sp>
      <p:sp>
        <p:nvSpPr>
          <p:cNvPr id="10" name="Text 8"/>
          <p:cNvSpPr/>
          <p:nvPr/>
        </p:nvSpPr>
        <p:spPr>
          <a:xfrm>
            <a:off x="4588867" y="241796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“The Feed date limit is only 7 Days”</a:t>
            </a:r>
            <a:endParaRPr lang="en-US" sz="1300" dirty="0"/>
          </a:p>
        </p:txBody>
      </p:sp>
      <p:sp>
        <p:nvSpPr>
          <p:cNvPr id="11" name="Shape 9"/>
          <p:cNvSpPr/>
          <p:nvPr/>
        </p:nvSpPr>
        <p:spPr>
          <a:xfrm>
            <a:off x="7958634" y="1488380"/>
            <a:ext cx="3420566" cy="1338461"/>
          </a:xfrm>
          <a:prstGeom prst="roundRect">
            <a:avLst>
              <a:gd name="adj" fmla="val 9489"/>
            </a:avLst>
          </a:prstGeom>
          <a:solidFill>
            <a:srgbClr val="141A2E"/>
          </a:solidFill>
          <a:ln/>
        </p:spPr>
      </p:sp>
      <p:sp>
        <p:nvSpPr>
          <p:cNvPr id="12" name="Text 10"/>
          <p:cNvSpPr/>
          <p:nvPr/>
        </p:nvSpPr>
        <p:spPr>
          <a:xfrm>
            <a:off x="8161834" y="1666180"/>
            <a:ext cx="3104591"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6EA8FF"/>
                </a:solidFill>
                <a:latin typeface="JetBrains Mono" pitchFamily="49" charset="0"/>
                <a:ea typeface="JetBrains Mono" pitchFamily="49" charset="-122"/>
                <a:cs typeface="JetBrains Mono" pitchFamily="49" charset="-120"/>
              </a:rPr>
              <a:t>401/404</a:t>
            </a:r>
            <a:endParaRPr lang="en-US" sz="2800" dirty="0"/>
          </a:p>
        </p:txBody>
      </p:sp>
      <p:sp>
        <p:nvSpPr>
          <p:cNvPr id="13" name="Text 11"/>
          <p:cNvSpPr/>
          <p:nvPr/>
        </p:nvSpPr>
        <p:spPr>
          <a:xfrm>
            <a:off x="8161834" y="2108101"/>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IBM Plex Sans" pitchFamily="34" charset="0"/>
                <a:ea typeface="IBM Plex Sans" pitchFamily="34" charset="-122"/>
                <a:cs typeface="IBM Plex Sans" pitchFamily="34" charset="-120"/>
              </a:rPr>
              <a:t>Wrong address</a:t>
            </a:r>
            <a:endParaRPr lang="en-US" sz="1700" dirty="0"/>
          </a:p>
        </p:txBody>
      </p:sp>
      <p:sp>
        <p:nvSpPr>
          <p:cNvPr id="14" name="Text 12"/>
          <p:cNvSpPr/>
          <p:nvPr/>
        </p:nvSpPr>
        <p:spPr>
          <a:xfrm>
            <a:off x="8161834" y="2417961"/>
            <a:ext cx="32173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NASA answers 401 for a wrong endpoint</a:t>
            </a:r>
            <a:endParaRPr lang="en-US" sz="1300" dirty="0"/>
          </a:p>
        </p:txBody>
      </p:sp>
      <p:sp>
        <p:nvSpPr>
          <p:cNvPr id="15" name="Shape 13"/>
          <p:cNvSpPr/>
          <p:nvPr/>
        </p:nvSpPr>
        <p:spPr>
          <a:xfrm>
            <a:off x="812800" y="2979241"/>
            <a:ext cx="3420467" cy="1338461"/>
          </a:xfrm>
          <a:prstGeom prst="roundRect">
            <a:avLst>
              <a:gd name="adj" fmla="val 9489"/>
            </a:avLst>
          </a:prstGeom>
          <a:solidFill>
            <a:srgbClr val="141A2E"/>
          </a:solidFill>
          <a:ln/>
        </p:spPr>
      </p:sp>
      <p:sp>
        <p:nvSpPr>
          <p:cNvPr id="16" name="Text 14"/>
          <p:cNvSpPr/>
          <p:nvPr/>
        </p:nvSpPr>
        <p:spPr>
          <a:xfrm>
            <a:off x="1016000" y="3157041"/>
            <a:ext cx="310448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3B1F"/>
                </a:solidFill>
                <a:latin typeface="JetBrains Mono" pitchFamily="49" charset="0"/>
                <a:ea typeface="JetBrains Mono" pitchFamily="49" charset="-122"/>
                <a:cs typeface="JetBrains Mono" pitchFamily="49" charset="-120"/>
              </a:rPr>
              <a:t>403</a:t>
            </a:r>
            <a:endParaRPr lang="en-US" sz="2800" dirty="0"/>
          </a:p>
        </p:txBody>
      </p:sp>
      <p:sp>
        <p:nvSpPr>
          <p:cNvPr id="17" name="Text 15"/>
          <p:cNvSpPr/>
          <p:nvPr/>
        </p:nvSpPr>
        <p:spPr>
          <a:xfrm>
            <a:off x="1016000" y="3598962"/>
            <a:ext cx="31044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IBM Plex Sans" pitchFamily="34" charset="0"/>
                <a:ea typeface="IBM Plex Sans" pitchFamily="34" charset="-122"/>
                <a:cs typeface="IBM Plex Sans" pitchFamily="34" charset="-120"/>
              </a:rPr>
              <a:t>Bad or missing key</a:t>
            </a:r>
            <a:endParaRPr lang="en-US" sz="1700" dirty="0"/>
          </a:p>
        </p:txBody>
      </p:sp>
      <p:sp>
        <p:nvSpPr>
          <p:cNvPr id="18" name="Text 16"/>
          <p:cNvSpPr/>
          <p:nvPr/>
        </p:nvSpPr>
        <p:spPr>
          <a:xfrm>
            <a:off x="1016000" y="3908822"/>
            <a:ext cx="31044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“API_KEY_INVALID”</a:t>
            </a:r>
            <a:endParaRPr lang="en-US" sz="1300" dirty="0"/>
          </a:p>
        </p:txBody>
      </p:sp>
      <p:sp>
        <p:nvSpPr>
          <p:cNvPr id="19" name="Shape 17"/>
          <p:cNvSpPr/>
          <p:nvPr/>
        </p:nvSpPr>
        <p:spPr>
          <a:xfrm>
            <a:off x="4385667" y="2979241"/>
            <a:ext cx="3420566" cy="1338461"/>
          </a:xfrm>
          <a:prstGeom prst="roundRect">
            <a:avLst>
              <a:gd name="adj" fmla="val 9489"/>
            </a:avLst>
          </a:prstGeom>
          <a:solidFill>
            <a:srgbClr val="141A2E"/>
          </a:solidFill>
          <a:ln/>
        </p:spPr>
      </p:sp>
      <p:sp>
        <p:nvSpPr>
          <p:cNvPr id="20" name="Text 18"/>
          <p:cNvSpPr/>
          <p:nvPr/>
        </p:nvSpPr>
        <p:spPr>
          <a:xfrm>
            <a:off x="4588867" y="3157041"/>
            <a:ext cx="3104591"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3B1F"/>
                </a:solidFill>
                <a:latin typeface="JetBrains Mono" pitchFamily="49" charset="0"/>
                <a:ea typeface="JetBrains Mono" pitchFamily="49" charset="-122"/>
                <a:cs typeface="JetBrains Mono" pitchFamily="49" charset="-120"/>
              </a:rPr>
              <a:t>429</a:t>
            </a:r>
            <a:endParaRPr lang="en-US" sz="2800" dirty="0"/>
          </a:p>
        </p:txBody>
      </p:sp>
      <p:sp>
        <p:nvSpPr>
          <p:cNvPr id="21" name="Text 19"/>
          <p:cNvSpPr/>
          <p:nvPr/>
        </p:nvSpPr>
        <p:spPr>
          <a:xfrm>
            <a:off x="4588867" y="3598962"/>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IBM Plex Sans" pitchFamily="34" charset="0"/>
                <a:ea typeface="IBM Plex Sans" pitchFamily="34" charset="-122"/>
                <a:cs typeface="IBM Plex Sans" pitchFamily="34" charset="-120"/>
              </a:rPr>
              <a:t>Too many calls</a:t>
            </a:r>
            <a:endParaRPr lang="en-US" sz="1700" dirty="0"/>
          </a:p>
        </p:txBody>
      </p:sp>
      <p:sp>
        <p:nvSpPr>
          <p:cNvPr id="22" name="Text 20"/>
          <p:cNvSpPr/>
          <p:nvPr/>
        </p:nvSpPr>
        <p:spPr>
          <a:xfrm>
            <a:off x="4588867" y="3908822"/>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DEMO_KEY allows 10 calls per hour</a:t>
            </a:r>
            <a:endParaRPr lang="en-US" sz="1300" dirty="0"/>
          </a:p>
        </p:txBody>
      </p:sp>
      <p:sp>
        <p:nvSpPr>
          <p:cNvPr id="23" name="Shape 21"/>
          <p:cNvSpPr/>
          <p:nvPr/>
        </p:nvSpPr>
        <p:spPr>
          <a:xfrm>
            <a:off x="7958634" y="2979241"/>
            <a:ext cx="3420566" cy="1338461"/>
          </a:xfrm>
          <a:prstGeom prst="roundRect">
            <a:avLst>
              <a:gd name="adj" fmla="val 9489"/>
            </a:avLst>
          </a:prstGeom>
          <a:solidFill>
            <a:srgbClr val="141A2E"/>
          </a:solidFill>
          <a:ln/>
        </p:spPr>
      </p:sp>
      <p:sp>
        <p:nvSpPr>
          <p:cNvPr id="24" name="Text 22"/>
          <p:cNvSpPr/>
          <p:nvPr/>
        </p:nvSpPr>
        <p:spPr>
          <a:xfrm>
            <a:off x="8161834" y="3157041"/>
            <a:ext cx="3104591"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9AA3B8"/>
                </a:solidFill>
                <a:latin typeface="JetBrains Mono" pitchFamily="49" charset="0"/>
                <a:ea typeface="JetBrains Mono" pitchFamily="49" charset="-122"/>
                <a:cs typeface="JetBrains Mono" pitchFamily="49" charset="-120"/>
              </a:rPr>
              <a:t>500/503</a:t>
            </a:r>
            <a:endParaRPr lang="en-US" sz="2800" dirty="0"/>
          </a:p>
        </p:txBody>
      </p:sp>
      <p:sp>
        <p:nvSpPr>
          <p:cNvPr id="25" name="Text 23"/>
          <p:cNvSpPr/>
          <p:nvPr/>
        </p:nvSpPr>
        <p:spPr>
          <a:xfrm>
            <a:off x="8161834" y="3598962"/>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IBM Plex Sans" pitchFamily="34" charset="0"/>
                <a:ea typeface="IBM Plex Sans" pitchFamily="34" charset="-122"/>
                <a:cs typeface="IBM Plex Sans" pitchFamily="34" charset="-120"/>
              </a:rPr>
              <a:t>Their problem</a:t>
            </a:r>
            <a:endParaRPr lang="en-US" sz="1700" dirty="0"/>
          </a:p>
        </p:txBody>
      </p:sp>
      <p:sp>
        <p:nvSpPr>
          <p:cNvPr id="26" name="Text 24"/>
          <p:cNvSpPr/>
          <p:nvPr/>
        </p:nvSpPr>
        <p:spPr>
          <a:xfrm>
            <a:off x="8161834" y="3908822"/>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Wait, retry, use your saved copy</a:t>
            </a:r>
            <a:endParaRPr lang="en-US" sz="1300" dirty="0"/>
          </a:p>
        </p:txBody>
      </p:sp>
      <p:sp>
        <p:nvSpPr>
          <p:cNvPr id="27" name="Text 25"/>
          <p:cNvSpPr/>
          <p:nvPr/>
        </p:nvSpPr>
        <p:spPr>
          <a:xfrm>
            <a:off x="812800" y="45463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B347"/>
                </a:solidFill>
                <a:latin typeface="IBM Plex Sans" pitchFamily="34" charset="0"/>
                <a:ea typeface="IBM Plex Sans" pitchFamily="34" charset="-122"/>
                <a:cs typeface="IBM Plex Sans" pitchFamily="34" charset="-120"/>
              </a:rPr>
              <a:t>Quiet failure:</a:t>
            </a:r>
            <a:r>
              <a:rPr lang="en-US" sz="1500" dirty="0">
                <a:solidFill>
                  <a:srgbClr val="BFC6D8"/>
                </a:solidFill>
                <a:latin typeface="IBM Plex Sans" pitchFamily="34" charset="0"/>
                <a:ea typeface="IBM Plex Sans" pitchFamily="34" charset="-122"/>
                <a:cs typeface="IBM Plex Sans" pitchFamily="34" charset="-120"/>
              </a:rPr>
              <a:t> 200 OK with an empty list [ ] means no error, but also no data. Check for it.</a:t>
            </a:r>
            <a:endParaRPr lang="en-US" sz="1500" dirty="0"/>
          </a:p>
        </p:txBody>
      </p:sp>
      <p:pic>
        <p:nvPicPr>
          <p:cNvPr id="28"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Your key, and where it may live</a:t>
            </a:r>
            <a:endParaRPr lang="en-US" sz="3200" dirty="0"/>
          </a:p>
        </p:txBody>
      </p:sp>
      <p:sp>
        <p:nvSpPr>
          <p:cNvPr id="3" name="Text 1"/>
          <p:cNvSpPr/>
          <p:nvPr/>
        </p:nvSpPr>
        <p:spPr>
          <a:xfrm>
            <a:off x="812800" y="1513780"/>
            <a:ext cx="3662680" cy="932160"/>
          </a:xfrm>
          <a:prstGeom prst="rect">
            <a:avLst/>
          </a:prstGeom>
          <a:noFill/>
          <a:ln/>
        </p:spPr>
        <p:txBody>
          <a:bodyPr wrap="square" lIns="0" tIns="0" rIns="0" bIns="0" rtlCol="0" anchor="t">
            <a:normAutofit/>
          </a:bodyPr>
          <a:lstStyle/>
          <a:p>
            <a:pPr algn="l" indent="0" marL="0">
              <a:lnSpc>
                <a:spcPts val="7140"/>
              </a:lnSpc>
              <a:buNone/>
            </a:pPr>
            <a:r>
              <a:rPr lang="en-US" sz="6800" b="1" dirty="0">
                <a:solidFill>
                  <a:srgbClr val="F4F5FA"/>
                </a:solidFill>
                <a:latin typeface="Space Grotesk" pitchFamily="34" charset="0"/>
                <a:ea typeface="Space Grotesk" pitchFamily="34" charset="-122"/>
                <a:cs typeface="Space Grotesk" pitchFamily="34" charset="-120"/>
              </a:rPr>
              <a:t>10,000</a:t>
            </a:r>
            <a:endParaRPr lang="en-US" sz="6800" dirty="0"/>
          </a:p>
        </p:txBody>
      </p:sp>
      <p:sp>
        <p:nvSpPr>
          <p:cNvPr id="4" name="Text 2"/>
          <p:cNvSpPr/>
          <p:nvPr/>
        </p:nvSpPr>
        <p:spPr>
          <a:xfrm>
            <a:off x="812800" y="2445941"/>
            <a:ext cx="36626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calls per hour with your own free key</a:t>
            </a:r>
            <a:endParaRPr lang="en-US" sz="1500" dirty="0"/>
          </a:p>
        </p:txBody>
      </p:sp>
      <p:sp>
        <p:nvSpPr>
          <p:cNvPr id="5" name="Text 3"/>
          <p:cNvSpPr/>
          <p:nvPr/>
        </p:nvSpPr>
        <p:spPr>
          <a:xfrm>
            <a:off x="812800" y="2941241"/>
            <a:ext cx="3662680" cy="932160"/>
          </a:xfrm>
          <a:prstGeom prst="rect">
            <a:avLst/>
          </a:prstGeom>
          <a:noFill/>
          <a:ln/>
        </p:spPr>
        <p:txBody>
          <a:bodyPr wrap="square" lIns="0" tIns="0" rIns="0" bIns="0" rtlCol="0" anchor="t">
            <a:normAutofit/>
          </a:bodyPr>
          <a:lstStyle/>
          <a:p>
            <a:pPr algn="l" indent="0" marL="0">
              <a:lnSpc>
                <a:spcPts val="7140"/>
              </a:lnSpc>
              <a:buNone/>
            </a:pPr>
            <a:r>
              <a:rPr lang="en-US" sz="6800" b="1" dirty="0">
                <a:solidFill>
                  <a:srgbClr val="FF3B1F"/>
                </a:solidFill>
                <a:latin typeface="Space Grotesk" pitchFamily="34" charset="0"/>
                <a:ea typeface="Space Grotesk" pitchFamily="34" charset="-122"/>
                <a:cs typeface="Space Grotesk" pitchFamily="34" charset="-120"/>
              </a:rPr>
              <a:t>10</a:t>
            </a:r>
            <a:endParaRPr lang="en-US" sz="6800" dirty="0"/>
          </a:p>
        </p:txBody>
      </p:sp>
      <p:sp>
        <p:nvSpPr>
          <p:cNvPr id="6" name="Text 4"/>
          <p:cNvSpPr/>
          <p:nvPr/>
        </p:nvSpPr>
        <p:spPr>
          <a:xfrm>
            <a:off x="812800" y="3873401"/>
            <a:ext cx="36626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calls per hour on DEMO_KEY, shared by everyone on this Wi-Fi</a:t>
            </a:r>
            <a:endParaRPr lang="en-US" sz="1500" dirty="0"/>
          </a:p>
        </p:txBody>
      </p:sp>
      <p:sp>
        <p:nvSpPr>
          <p:cNvPr id="7" name="Shape 5"/>
          <p:cNvSpPr/>
          <p:nvPr/>
        </p:nvSpPr>
        <p:spPr>
          <a:xfrm>
            <a:off x="4724400" y="1513780"/>
            <a:ext cx="6654800" cy="805061"/>
          </a:xfrm>
          <a:prstGeom prst="roundRect">
            <a:avLst>
              <a:gd name="adj" fmla="val 15775"/>
            </a:avLst>
          </a:prstGeom>
          <a:solidFill>
            <a:srgbClr val="141A2E"/>
          </a:solidFill>
          <a:ln/>
        </p:spPr>
      </p:sp>
      <p:pic>
        <p:nvPicPr>
          <p:cNvPr id="8" name="Image 0" descr="CheckCircle">    </p:cNvPr>
          <p:cNvPicPr>
            <a:picLocks noChangeAspect="1"/>
          </p:cNvPicPr>
          <p:nvPr/>
        </p:nvPicPr>
        <p:blipFill>
          <a:blip r:embed="rId1"/>
          <a:srcRect l="0" r="0" t="0" b="0"/>
          <a:stretch/>
        </p:blipFill>
        <p:spPr>
          <a:xfrm>
            <a:off x="4927600" y="1751211"/>
            <a:ext cx="330200" cy="330200"/>
          </a:xfrm>
          <a:prstGeom prst="rect">
            <a:avLst/>
          </a:prstGeom>
        </p:spPr>
      </p:pic>
      <p:sp>
        <p:nvSpPr>
          <p:cNvPr id="9" name="Text 6"/>
          <p:cNvSpPr/>
          <p:nvPr/>
        </p:nvSpPr>
        <p:spPr>
          <a:xfrm>
            <a:off x="5410200" y="1666180"/>
            <a:ext cx="593877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IBM Plex Sans" pitchFamily="34" charset="0"/>
                <a:ea typeface="IBM Plex Sans" pitchFamily="34" charset="-122"/>
                <a:cs typeface="IBM Plex Sans" pitchFamily="34" charset="-120"/>
              </a:rPr>
              <a:t>Free NASA key in a web page: OK</a:t>
            </a:r>
            <a:endParaRPr lang="en-US" sz="1600" dirty="0"/>
          </a:p>
        </p:txBody>
      </p:sp>
      <p:sp>
        <p:nvSpPr>
          <p:cNvPr id="10" name="Text 7"/>
          <p:cNvSpPr/>
          <p:nvPr/>
        </p:nvSpPr>
        <p:spPr>
          <a:xfrm>
            <a:off x="5410200" y="1935361"/>
            <a:ext cx="59387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Worst case, someone uses up your quota</a:t>
            </a:r>
            <a:endParaRPr lang="en-US" sz="1300" dirty="0"/>
          </a:p>
        </p:txBody>
      </p:sp>
      <p:sp>
        <p:nvSpPr>
          <p:cNvPr id="11" name="Shape 8"/>
          <p:cNvSpPr/>
          <p:nvPr/>
        </p:nvSpPr>
        <p:spPr>
          <a:xfrm>
            <a:off x="4724400" y="2445841"/>
            <a:ext cx="6654800" cy="805061"/>
          </a:xfrm>
          <a:prstGeom prst="roundRect">
            <a:avLst>
              <a:gd name="adj" fmla="val 15775"/>
            </a:avLst>
          </a:prstGeom>
          <a:solidFill>
            <a:srgbClr val="141A2E"/>
          </a:solidFill>
          <a:ln/>
        </p:spPr>
      </p:sp>
      <p:pic>
        <p:nvPicPr>
          <p:cNvPr id="12" name="Image 1" descr="Lock">    </p:cNvPr>
          <p:cNvPicPr>
            <a:picLocks noChangeAspect="1"/>
          </p:cNvPicPr>
          <p:nvPr/>
        </p:nvPicPr>
        <p:blipFill>
          <a:blip r:embed="rId2"/>
          <a:srcRect l="0" r="0" t="0" b="0"/>
          <a:stretch/>
        </p:blipFill>
        <p:spPr>
          <a:xfrm>
            <a:off x="4927600" y="2683272"/>
            <a:ext cx="330200" cy="330200"/>
          </a:xfrm>
          <a:prstGeom prst="rect">
            <a:avLst/>
          </a:prstGeom>
        </p:spPr>
      </p:pic>
      <p:sp>
        <p:nvSpPr>
          <p:cNvPr id="13" name="Text 9"/>
          <p:cNvSpPr/>
          <p:nvPr/>
        </p:nvSpPr>
        <p:spPr>
          <a:xfrm>
            <a:off x="5410200" y="2598241"/>
            <a:ext cx="593877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IBM Plex Sans" pitchFamily="34" charset="0"/>
                <a:ea typeface="IBM Plex Sans" pitchFamily="34" charset="-122"/>
                <a:cs typeface="IBM Plex Sans" pitchFamily="34" charset="-120"/>
              </a:rPr>
              <a:t>Paid key (e.g. an AI key): never</a:t>
            </a:r>
            <a:endParaRPr lang="en-US" sz="1600" dirty="0"/>
          </a:p>
        </p:txBody>
      </p:sp>
      <p:sp>
        <p:nvSpPr>
          <p:cNvPr id="14" name="Text 10"/>
          <p:cNvSpPr/>
          <p:nvPr/>
        </p:nvSpPr>
        <p:spPr>
          <a:xfrm>
            <a:off x="5410200" y="2867422"/>
            <a:ext cx="59387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Not in a web page, not in a public repo</a:t>
            </a:r>
            <a:endParaRPr lang="en-US" sz="1300" dirty="0"/>
          </a:p>
        </p:txBody>
      </p:sp>
      <p:sp>
        <p:nvSpPr>
          <p:cNvPr id="15" name="Shape 11"/>
          <p:cNvSpPr/>
          <p:nvPr/>
        </p:nvSpPr>
        <p:spPr>
          <a:xfrm>
            <a:off x="4724400" y="3377902"/>
            <a:ext cx="6654800" cy="805061"/>
          </a:xfrm>
          <a:prstGeom prst="roundRect">
            <a:avLst>
              <a:gd name="adj" fmla="val 15775"/>
            </a:avLst>
          </a:prstGeom>
          <a:solidFill>
            <a:srgbClr val="141A2E"/>
          </a:solidFill>
          <a:ln/>
        </p:spPr>
      </p:sp>
      <p:pic>
        <p:nvPicPr>
          <p:cNvPr id="16" name="Image 2" descr="Warning">    </p:cNvPr>
          <p:cNvPicPr>
            <a:picLocks noChangeAspect="1"/>
          </p:cNvPicPr>
          <p:nvPr/>
        </p:nvPicPr>
        <p:blipFill>
          <a:blip r:embed="rId3"/>
          <a:srcRect l="0" r="0" t="0" b="0"/>
          <a:stretch/>
        </p:blipFill>
        <p:spPr>
          <a:xfrm>
            <a:off x="4927600" y="3615333"/>
            <a:ext cx="330200" cy="330200"/>
          </a:xfrm>
          <a:prstGeom prst="rect">
            <a:avLst/>
          </a:prstGeom>
        </p:spPr>
      </p:pic>
      <p:sp>
        <p:nvSpPr>
          <p:cNvPr id="17" name="Text 12"/>
          <p:cNvSpPr/>
          <p:nvPr/>
        </p:nvSpPr>
        <p:spPr>
          <a:xfrm>
            <a:off x="5410200" y="3530302"/>
            <a:ext cx="593877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IBM Plex Sans" pitchFamily="34" charset="0"/>
                <a:ea typeface="IBM Plex Sans" pitchFamily="34" charset="-122"/>
                <a:cs typeface="IBM Plex Sans" pitchFamily="34" charset="-120"/>
              </a:rPr>
              <a:t>Saved files can leak your key</a:t>
            </a:r>
            <a:endParaRPr lang="en-US" sz="1600" dirty="0"/>
          </a:p>
        </p:txBody>
      </p:sp>
      <p:sp>
        <p:nvSpPr>
          <p:cNvPr id="18" name="Text 13"/>
          <p:cNvSpPr/>
          <p:nvPr/>
        </p:nvSpPr>
        <p:spPr>
          <a:xfrm>
            <a:off x="5410200" y="3799483"/>
            <a:ext cx="59387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NeoWs copies it into every link it returns</a:t>
            </a:r>
            <a:endParaRPr lang="en-US" sz="1300" dirty="0"/>
          </a:p>
        </p:txBody>
      </p:sp>
      <p:sp>
        <p:nvSpPr>
          <p:cNvPr id="19" name="Shape 14"/>
          <p:cNvSpPr/>
          <p:nvPr/>
        </p:nvSpPr>
        <p:spPr>
          <a:xfrm>
            <a:off x="4724400" y="4309963"/>
            <a:ext cx="6654800" cy="805061"/>
          </a:xfrm>
          <a:prstGeom prst="roundRect">
            <a:avLst>
              <a:gd name="adj" fmla="val 15775"/>
            </a:avLst>
          </a:prstGeom>
          <a:solidFill>
            <a:srgbClr val="141A2E"/>
          </a:solidFill>
          <a:ln/>
        </p:spPr>
      </p:sp>
      <p:pic>
        <p:nvPicPr>
          <p:cNvPr id="20" name="Image 3" descr="Key">    </p:cNvPr>
          <p:cNvPicPr>
            <a:picLocks noChangeAspect="1"/>
          </p:cNvPicPr>
          <p:nvPr/>
        </p:nvPicPr>
        <p:blipFill>
          <a:blip r:embed="rId4"/>
          <a:srcRect l="0" r="0" t="0" b="0"/>
          <a:stretch/>
        </p:blipFill>
        <p:spPr>
          <a:xfrm>
            <a:off x="4927600" y="4547394"/>
            <a:ext cx="330200" cy="330200"/>
          </a:xfrm>
          <a:prstGeom prst="rect">
            <a:avLst/>
          </a:prstGeom>
        </p:spPr>
      </p:pic>
      <p:sp>
        <p:nvSpPr>
          <p:cNvPr id="21" name="Text 15"/>
          <p:cNvSpPr/>
          <p:nvPr/>
        </p:nvSpPr>
        <p:spPr>
          <a:xfrm>
            <a:off x="5410200" y="4462363"/>
            <a:ext cx="593877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IBM Plex Sans" pitchFamily="34" charset="0"/>
                <a:ea typeface="IBM Plex Sans" pitchFamily="34" charset="-122"/>
                <a:cs typeface="IBM Plex Sans" pitchFamily="34" charset="-120"/>
              </a:rPr>
              <a:t>Browser or server?</a:t>
            </a:r>
            <a:endParaRPr lang="en-US" sz="1600" dirty="0"/>
          </a:p>
        </p:txBody>
      </p:sp>
      <p:sp>
        <p:nvSpPr>
          <p:cNvPr id="22" name="Text 16"/>
          <p:cNvSpPr/>
          <p:nvPr/>
        </p:nvSpPr>
        <p:spPr>
          <a:xfrm>
            <a:off x="5410200" y="4731544"/>
            <a:ext cx="593877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A call from the page shows your key to anyone who looks</a:t>
            </a:r>
            <a:endParaRPr lang="en-US" sz="1300" dirty="0"/>
          </a:p>
        </p:txBody>
      </p:sp>
      <p:pic>
        <p:nvPicPr>
          <p:cNvPr id="23" name="Image 4" descr="NASA Space Apps Cairo logo">    </p:cNvPr>
          <p:cNvPicPr>
            <a:picLocks noChangeAspect="1"/>
          </p:cNvPicPr>
          <p:nvPr/>
        </p:nvPicPr>
        <p:blipFill>
          <a:blip r:embed="rId5"/>
          <a:srcRect l="-70" r="-70" t="0" b="0"/>
          <a:stretch/>
        </p:blipFill>
        <p:spPr>
          <a:xfrm>
            <a:off x="812800" y="6146800"/>
            <a:ext cx="908050" cy="355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Reading API docs: seven things to find</a:t>
            </a:r>
            <a:endParaRPr lang="en-US" sz="3200" dirty="0"/>
          </a:p>
        </p:txBody>
      </p:sp>
      <p:sp>
        <p:nvSpPr>
          <p:cNvPr id="3" name="Shape 1"/>
          <p:cNvSpPr/>
          <p:nvPr/>
        </p:nvSpPr>
        <p:spPr>
          <a:xfrm>
            <a:off x="812800" y="1564580"/>
            <a:ext cx="2527300" cy="1452662"/>
          </a:xfrm>
          <a:prstGeom prst="roundRect">
            <a:avLst>
              <a:gd name="adj" fmla="val 8743"/>
            </a:avLst>
          </a:prstGeom>
          <a:solidFill>
            <a:srgbClr val="141A2E"/>
          </a:solidFill>
          <a:ln/>
        </p:spPr>
      </p:sp>
      <p:sp>
        <p:nvSpPr>
          <p:cNvPr id="4" name="Text 2"/>
          <p:cNvSpPr/>
          <p:nvPr/>
        </p:nvSpPr>
        <p:spPr>
          <a:xfrm>
            <a:off x="990600" y="1742380"/>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990600" y="205472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Base URL</a:t>
            </a:r>
            <a:endParaRPr lang="en-US" sz="1700" dirty="0"/>
          </a:p>
        </p:txBody>
      </p:sp>
      <p:sp>
        <p:nvSpPr>
          <p:cNvPr id="6" name="Text 4"/>
          <p:cNvSpPr/>
          <p:nvPr/>
        </p:nvSpPr>
        <p:spPr>
          <a:xfrm>
            <a:off x="990600" y="2377281"/>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Where the API lives, e.g. api.nasa.gov</a:t>
            </a:r>
            <a:endParaRPr lang="en-US" sz="1300" dirty="0"/>
          </a:p>
        </p:txBody>
      </p:sp>
      <p:sp>
        <p:nvSpPr>
          <p:cNvPr id="7" name="Shape 5"/>
          <p:cNvSpPr/>
          <p:nvPr/>
        </p:nvSpPr>
        <p:spPr>
          <a:xfrm>
            <a:off x="3492500" y="1564580"/>
            <a:ext cx="2527300" cy="1452662"/>
          </a:xfrm>
          <a:prstGeom prst="roundRect">
            <a:avLst>
              <a:gd name="adj" fmla="val 8743"/>
            </a:avLst>
          </a:prstGeom>
          <a:solidFill>
            <a:srgbClr val="141A2E"/>
          </a:solidFill>
          <a:ln/>
        </p:spPr>
      </p:sp>
      <p:sp>
        <p:nvSpPr>
          <p:cNvPr id="8" name="Text 6"/>
          <p:cNvSpPr/>
          <p:nvPr/>
        </p:nvSpPr>
        <p:spPr>
          <a:xfrm>
            <a:off x="3670300" y="1742380"/>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3670300" y="205472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Endpoint</a:t>
            </a:r>
            <a:endParaRPr lang="en-US" sz="1700" dirty="0"/>
          </a:p>
        </p:txBody>
      </p:sp>
      <p:sp>
        <p:nvSpPr>
          <p:cNvPr id="10" name="Text 8"/>
          <p:cNvSpPr/>
          <p:nvPr/>
        </p:nvSpPr>
        <p:spPr>
          <a:xfrm>
            <a:off x="3670300" y="2377281"/>
            <a:ext cx="23495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The path for one kind of data</a:t>
            </a:r>
            <a:endParaRPr lang="en-US" sz="1300" dirty="0"/>
          </a:p>
        </p:txBody>
      </p:sp>
      <p:sp>
        <p:nvSpPr>
          <p:cNvPr id="11" name="Shape 9"/>
          <p:cNvSpPr/>
          <p:nvPr/>
        </p:nvSpPr>
        <p:spPr>
          <a:xfrm>
            <a:off x="6172200" y="1564580"/>
            <a:ext cx="2527300" cy="1452662"/>
          </a:xfrm>
          <a:prstGeom prst="roundRect">
            <a:avLst>
              <a:gd name="adj" fmla="val 8743"/>
            </a:avLst>
          </a:prstGeom>
          <a:solidFill>
            <a:srgbClr val="141A2E"/>
          </a:solidFill>
          <a:ln/>
        </p:spPr>
      </p:sp>
      <p:sp>
        <p:nvSpPr>
          <p:cNvPr id="12" name="Text 10"/>
          <p:cNvSpPr/>
          <p:nvPr/>
        </p:nvSpPr>
        <p:spPr>
          <a:xfrm>
            <a:off x="6350000" y="1742380"/>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6350000" y="205472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Parameters</a:t>
            </a:r>
            <a:endParaRPr lang="en-US" sz="1700" dirty="0"/>
          </a:p>
        </p:txBody>
      </p:sp>
      <p:sp>
        <p:nvSpPr>
          <p:cNvPr id="14" name="Text 12"/>
          <p:cNvSpPr/>
          <p:nvPr/>
        </p:nvSpPr>
        <p:spPr>
          <a:xfrm>
            <a:off x="6350000" y="2377281"/>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What you can ask for, and in which format</a:t>
            </a:r>
            <a:endParaRPr lang="en-US" sz="1300" dirty="0"/>
          </a:p>
        </p:txBody>
      </p:sp>
      <p:sp>
        <p:nvSpPr>
          <p:cNvPr id="15" name="Shape 13"/>
          <p:cNvSpPr/>
          <p:nvPr/>
        </p:nvSpPr>
        <p:spPr>
          <a:xfrm>
            <a:off x="8851900" y="1564580"/>
            <a:ext cx="2527300" cy="1452662"/>
          </a:xfrm>
          <a:prstGeom prst="roundRect">
            <a:avLst>
              <a:gd name="adj" fmla="val 8743"/>
            </a:avLst>
          </a:prstGeom>
          <a:solidFill>
            <a:srgbClr val="141A2E"/>
          </a:solidFill>
          <a:ln/>
        </p:spPr>
      </p:sp>
      <p:sp>
        <p:nvSpPr>
          <p:cNvPr id="16" name="Text 14"/>
          <p:cNvSpPr/>
          <p:nvPr/>
        </p:nvSpPr>
        <p:spPr>
          <a:xfrm>
            <a:off x="9029700" y="1742380"/>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9029700" y="205472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Response example</a:t>
            </a:r>
            <a:endParaRPr lang="en-US" sz="1700" dirty="0"/>
          </a:p>
        </p:txBody>
      </p:sp>
      <p:sp>
        <p:nvSpPr>
          <p:cNvPr id="18" name="Text 16"/>
          <p:cNvSpPr/>
          <p:nvPr/>
        </p:nvSpPr>
        <p:spPr>
          <a:xfrm>
            <a:off x="9029700" y="2377281"/>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The JSON shape you will get back</a:t>
            </a:r>
            <a:endParaRPr lang="en-US" sz="1300" dirty="0"/>
          </a:p>
        </p:txBody>
      </p:sp>
      <p:sp>
        <p:nvSpPr>
          <p:cNvPr id="19" name="Shape 17"/>
          <p:cNvSpPr/>
          <p:nvPr/>
        </p:nvSpPr>
        <p:spPr>
          <a:xfrm>
            <a:off x="812800" y="3169642"/>
            <a:ext cx="2527300" cy="1452662"/>
          </a:xfrm>
          <a:prstGeom prst="roundRect">
            <a:avLst>
              <a:gd name="adj" fmla="val 8743"/>
            </a:avLst>
          </a:prstGeom>
          <a:solidFill>
            <a:srgbClr val="141A2E"/>
          </a:solidFill>
          <a:ln/>
        </p:spPr>
      </p:sp>
      <p:sp>
        <p:nvSpPr>
          <p:cNvPr id="20" name="Text 18"/>
          <p:cNvSpPr/>
          <p:nvPr/>
        </p:nvSpPr>
        <p:spPr>
          <a:xfrm>
            <a:off x="990600" y="3347442"/>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990600" y="3659783"/>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Rate limits</a:t>
            </a:r>
            <a:endParaRPr lang="en-US" sz="1700" dirty="0"/>
          </a:p>
        </p:txBody>
      </p:sp>
      <p:sp>
        <p:nvSpPr>
          <p:cNvPr id="22" name="Text 20"/>
          <p:cNvSpPr/>
          <p:nvPr/>
        </p:nvSpPr>
        <p:spPr>
          <a:xfrm>
            <a:off x="990600" y="3982343"/>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How many calls per hour or day</a:t>
            </a:r>
            <a:endParaRPr lang="en-US" sz="1300" dirty="0"/>
          </a:p>
        </p:txBody>
      </p:sp>
      <p:sp>
        <p:nvSpPr>
          <p:cNvPr id="23" name="Shape 21"/>
          <p:cNvSpPr/>
          <p:nvPr/>
        </p:nvSpPr>
        <p:spPr>
          <a:xfrm>
            <a:off x="3492500" y="3169642"/>
            <a:ext cx="2527300" cy="1452662"/>
          </a:xfrm>
          <a:prstGeom prst="roundRect">
            <a:avLst>
              <a:gd name="adj" fmla="val 8743"/>
            </a:avLst>
          </a:prstGeom>
          <a:solidFill>
            <a:srgbClr val="141A2E"/>
          </a:solidFill>
          <a:ln/>
        </p:spPr>
      </p:sp>
      <p:sp>
        <p:nvSpPr>
          <p:cNvPr id="24" name="Text 22"/>
          <p:cNvSpPr/>
          <p:nvPr/>
        </p:nvSpPr>
        <p:spPr>
          <a:xfrm>
            <a:off x="3670300" y="3347442"/>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06</a:t>
            </a:r>
            <a:endParaRPr lang="en-US" sz="1400" dirty="0"/>
          </a:p>
        </p:txBody>
      </p:sp>
      <p:sp>
        <p:nvSpPr>
          <p:cNvPr id="25" name="Text 23"/>
          <p:cNvSpPr/>
          <p:nvPr/>
        </p:nvSpPr>
        <p:spPr>
          <a:xfrm>
            <a:off x="3670300" y="3659783"/>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Authentication</a:t>
            </a:r>
            <a:endParaRPr lang="en-US" sz="1700" dirty="0"/>
          </a:p>
        </p:txBody>
      </p:sp>
      <p:sp>
        <p:nvSpPr>
          <p:cNvPr id="26" name="Text 24"/>
          <p:cNvSpPr/>
          <p:nvPr/>
        </p:nvSpPr>
        <p:spPr>
          <a:xfrm>
            <a:off x="3670300" y="3982343"/>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Is a key needed, and where does it go?</a:t>
            </a:r>
            <a:endParaRPr lang="en-US" sz="1300" dirty="0"/>
          </a:p>
        </p:txBody>
      </p:sp>
      <p:sp>
        <p:nvSpPr>
          <p:cNvPr id="27" name="Shape 25"/>
          <p:cNvSpPr/>
          <p:nvPr/>
        </p:nvSpPr>
        <p:spPr>
          <a:xfrm>
            <a:off x="6172200" y="3169642"/>
            <a:ext cx="2527300" cy="1452662"/>
          </a:xfrm>
          <a:prstGeom prst="roundRect">
            <a:avLst>
              <a:gd name="adj" fmla="val 8743"/>
            </a:avLst>
          </a:prstGeom>
          <a:solidFill>
            <a:srgbClr val="141A2E"/>
          </a:solidFill>
          <a:ln/>
        </p:spPr>
      </p:sp>
      <p:sp>
        <p:nvSpPr>
          <p:cNvPr id="28" name="Text 26"/>
          <p:cNvSpPr/>
          <p:nvPr/>
        </p:nvSpPr>
        <p:spPr>
          <a:xfrm>
            <a:off x="6350000" y="3347442"/>
            <a:ext cx="22368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07</a:t>
            </a:r>
            <a:endParaRPr lang="en-US" sz="1400" dirty="0"/>
          </a:p>
        </p:txBody>
      </p:sp>
      <p:sp>
        <p:nvSpPr>
          <p:cNvPr id="29" name="Text 27"/>
          <p:cNvSpPr/>
          <p:nvPr/>
        </p:nvSpPr>
        <p:spPr>
          <a:xfrm>
            <a:off x="6350000" y="3659783"/>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Error codes</a:t>
            </a:r>
            <a:endParaRPr lang="en-US" sz="1700" dirty="0"/>
          </a:p>
        </p:txBody>
      </p:sp>
      <p:sp>
        <p:nvSpPr>
          <p:cNvPr id="30" name="Text 28"/>
          <p:cNvSpPr/>
          <p:nvPr/>
        </p:nvSpPr>
        <p:spPr>
          <a:xfrm>
            <a:off x="6350000" y="3982343"/>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What each failure looks like</a:t>
            </a:r>
            <a:endParaRPr lang="en-US" sz="1300" dirty="0"/>
          </a:p>
        </p:txBody>
      </p:sp>
      <p:sp>
        <p:nvSpPr>
          <p:cNvPr id="31" name="Text 29"/>
          <p:cNvSpPr/>
          <p:nvPr/>
        </p:nvSpPr>
        <p:spPr>
          <a:xfrm>
            <a:off x="8851900" y="3169642"/>
            <a:ext cx="2527300" cy="1452662"/>
          </a:xfrm>
          <a:prstGeom prst="roundRect">
            <a:avLst>
              <a:gd name="adj" fmla="val 8743"/>
            </a:avLst>
          </a:prstGeom>
          <a:solidFill>
            <a:srgbClr val="FF3B1F"/>
          </a:solidFill>
          <a:ln/>
        </p:spPr>
        <p:txBody>
          <a:bodyPr wrap="square" lIns="140603" tIns="140603" rIns="75452" bIns="140603" rtlCol="0" anchor="ctr">
            <a:normAutofit/>
          </a:bodyPr>
          <a:lstStyle/>
          <a:p>
            <a:pPr algn="l" indent="0" marL="0">
              <a:lnSpc>
                <a:spcPts val="2040"/>
              </a:lnSpc>
              <a:buNone/>
            </a:pPr>
            <a:r>
              <a:rPr lang="en-US" sz="1700" b="1" dirty="0">
                <a:solidFill>
                  <a:srgbClr val="06070D"/>
                </a:solidFill>
                <a:latin typeface="Space Grotesk" pitchFamily="34" charset="0"/>
                <a:ea typeface="Space Grotesk" pitchFamily="34" charset="-122"/>
                <a:cs typeface="Space Grotesk" pitchFamily="34" charset="-120"/>
              </a:rPr>
              <a:t>Test the URL in your browser first</a:t>
            </a:r>
            <a:endParaRPr lang="en-US" sz="1700" dirty="0"/>
          </a:p>
        </p:txBody>
      </p:sp>
      <p:pic>
        <p:nvPicPr>
          <p:cNvPr id="32"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Docs in practice: the NeoWs Feed</a:t>
            </a:r>
            <a:endParaRPr lang="en-US" sz="3200" dirty="0"/>
          </a:p>
        </p:txBody>
      </p:sp>
      <p:sp>
        <p:nvSpPr>
          <p:cNvPr id="3" name="Shape 1"/>
          <p:cNvSpPr/>
          <p:nvPr/>
        </p:nvSpPr>
        <p:spPr>
          <a:xfrm>
            <a:off x="812800" y="1564580"/>
            <a:ext cx="5080000" cy="2886869"/>
          </a:xfrm>
          <a:prstGeom prst="roundRect">
            <a:avLst>
              <a:gd name="adj" fmla="val 4399"/>
            </a:avLst>
          </a:prstGeom>
          <a:solidFill>
            <a:srgbClr val="141A2E"/>
          </a:solidFill>
          <a:ln/>
        </p:spPr>
      </p:sp>
      <p:sp>
        <p:nvSpPr>
          <p:cNvPr id="4" name="Text 2"/>
          <p:cNvSpPr/>
          <p:nvPr/>
        </p:nvSpPr>
        <p:spPr>
          <a:xfrm>
            <a:off x="1041400" y="1793180"/>
            <a:ext cx="47614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3B8"/>
                </a:solidFill>
                <a:latin typeface="IBM Plex Sans" pitchFamily="34" charset="0"/>
                <a:ea typeface="IBM Plex Sans" pitchFamily="34" charset="-122"/>
                <a:cs typeface="IBM Plex Sans" pitchFamily="34" charset="-120"/>
              </a:rPr>
              <a:t>WHAT THE DOCS SAY</a:t>
            </a:r>
            <a:endParaRPr lang="en-US" sz="1200" dirty="0"/>
          </a:p>
        </p:txBody>
      </p:sp>
      <p:sp>
        <p:nvSpPr>
          <p:cNvPr id="5" name="Text 3"/>
          <p:cNvSpPr/>
          <p:nvPr/>
        </p:nvSpPr>
        <p:spPr>
          <a:xfrm>
            <a:off x="1041400" y="2133501"/>
            <a:ext cx="476148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3DDC97"/>
                </a:solidFill>
                <a:latin typeface="JetBrains Mono" pitchFamily="49" charset="0"/>
                <a:ea typeface="JetBrains Mono" pitchFamily="49" charset="-122"/>
                <a:cs typeface="JetBrains Mono" pitchFamily="49" charset="-120"/>
              </a:rPr>
              <a:t>GET</a:t>
            </a:r>
            <a:r>
              <a:rPr lang="en-US" sz="1300" b="1" dirty="0">
                <a:solidFill>
                  <a:srgbClr val="6EA8FF"/>
                </a:solidFill>
                <a:latin typeface="JetBrains Mono" pitchFamily="49" charset="0"/>
                <a:ea typeface="JetBrains Mono" pitchFamily="49" charset="-122"/>
                <a:cs typeface="JetBrains Mono" pitchFamily="49" charset="-120"/>
              </a:rPr>
              <a:t> https://api.nasa.gov/neo/rest/v1/feed</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54100" y="2520851"/>
          <a:ext cx="4610100" cy="1543645"/>
        </p:xfrm>
        <a:graphic>
          <a:graphicData uri="http://schemas.openxmlformats.org/drawingml/2006/table">
            <a:tbl>
              <a:tblPr/>
              <a:tblGrid>
                <a:gridCol w="1475232"/>
                <a:gridCol w="1290828"/>
                <a:gridCol w="1844040"/>
              </a:tblGrid>
              <a:tr h="332581">
                <a:tc>
                  <a:txBody>
                    <a:bodyPr/>
                    <a:lstStyle/>
                    <a:p>
                      <a:pPr indent="0" marL="0">
                        <a:lnSpc>
                          <a:spcPts val="1680"/>
                        </a:lnSpc>
                        <a:buNone/>
                      </a:pPr>
                      <a:r>
                        <a:rPr lang="en-US" sz="1200" b="1" dirty="0">
                          <a:solidFill>
                            <a:srgbClr val="9AA3B8"/>
                          </a:solidFill>
                          <a:latin typeface="JetBrains Mono" pitchFamily="49" charset="0"/>
                          <a:ea typeface="JetBrains Mono" pitchFamily="49" charset="-122"/>
                          <a:cs typeface="JetBrains Mono" pitchFamily="49" charset="-120"/>
                        </a:rPr>
                        <a:t>Parameter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680"/>
                        </a:lnSpc>
                        <a:buNone/>
                      </a:pPr>
                      <a:r>
                        <a:rPr lang="en-US" sz="1200" b="1" dirty="0">
                          <a:solidFill>
                            <a:srgbClr val="9AA3B8"/>
                          </a:solidFill>
                          <a:latin typeface="JetBrains Mono" pitchFamily="49" charset="0"/>
                          <a:ea typeface="JetBrains Mono" pitchFamily="49" charset="-122"/>
                          <a:cs typeface="JetBrains Mono" pitchFamily="49" charset="-120"/>
                        </a:rPr>
                        <a:t>Type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680"/>
                        </a:lnSpc>
                        <a:buNone/>
                      </a:pPr>
                      <a:r>
                        <a:rPr lang="en-US" sz="1200" b="1" dirty="0">
                          <a:solidFill>
                            <a:srgbClr val="9AA3B8"/>
                          </a:solidFill>
                          <a:latin typeface="JetBrains Mono" pitchFamily="49" charset="0"/>
                          <a:ea typeface="JetBrains Mono" pitchFamily="49" charset="-122"/>
                          <a:cs typeface="JetBrains Mono" pitchFamily="49" charset="-120"/>
                        </a:rPr>
                        <a:t>Meaning</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32581">
                <a:tc>
                  <a:txBody>
                    <a:bodyPr/>
                    <a:lstStyle/>
                    <a:p>
                      <a:pPr indent="0" marL="0">
                        <a:lnSpc>
                          <a:spcPts val="1680"/>
                        </a:lnSpc>
                        <a:buNone/>
                      </a:pPr>
                      <a:r>
                        <a:rPr lang="en-US" sz="1200" dirty="0">
                          <a:solidFill>
                            <a:srgbClr val="FFB347"/>
                          </a:solidFill>
                          <a:latin typeface="JetBrains Mono" pitchFamily="49" charset="0"/>
                          <a:ea typeface="JetBrains Mono" pitchFamily="49" charset="-122"/>
                          <a:cs typeface="JetBrains Mono" pitchFamily="49" charset="-120"/>
                        </a:rPr>
                        <a:t>start_date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474B5A"/>
                      </a:solidFill>
                      <a:prstDash val="solid"/>
                      <a:round/>
                      <a:headEnd type="none" w="med" len="med"/>
                      <a:tailEnd type="none" w="med" len="med"/>
                    </a:lnB>
                  </a:tcPr>
                </a:tc>
                <a:tc>
                  <a:txBody>
                    <a:bodyPr/>
                    <a:lstStyle/>
                    <a:p>
                      <a:pPr indent="0" marL="0">
                        <a:lnSpc>
                          <a:spcPts val="1680"/>
                        </a:lnSpc>
                        <a:buNone/>
                      </a:pPr>
                      <a:r>
                        <a:rPr lang="en-US" sz="1200" dirty="0">
                          <a:solidFill>
                            <a:srgbClr val="F4F5FA"/>
                          </a:solidFill>
                          <a:latin typeface="JetBrains Mono" pitchFamily="49" charset="0"/>
                          <a:ea typeface="JetBrains Mono" pitchFamily="49" charset="-122"/>
                          <a:cs typeface="JetBrains Mono" pitchFamily="49" charset="-120"/>
                        </a:rPr>
                        <a:t>YYYY-MM-DD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474B5A"/>
                      </a:solidFill>
                      <a:prstDash val="solid"/>
                      <a:round/>
                      <a:headEnd type="none" w="med" len="med"/>
                      <a:tailEnd type="none" w="med" len="med"/>
                    </a:lnB>
                  </a:tcPr>
                </a:tc>
                <a:tc>
                  <a:txBody>
                    <a:bodyPr/>
                    <a:lstStyle/>
                    <a:p>
                      <a:pPr indent="0" marL="0">
                        <a:lnSpc>
                          <a:spcPts val="1680"/>
                        </a:lnSpc>
                        <a:buNone/>
                      </a:pPr>
                      <a:r>
                        <a:rPr lang="en-US" sz="1200" dirty="0">
                          <a:solidFill>
                            <a:srgbClr val="F4F5FA"/>
                          </a:solidFill>
                          <a:latin typeface="JetBrains Mono" pitchFamily="49" charset="0"/>
                          <a:ea typeface="JetBrains Mono" pitchFamily="49" charset="-122"/>
                          <a:cs typeface="JetBrains Mono" pitchFamily="49" charset="-120"/>
                        </a:rPr>
                        <a:t>first day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474B5A"/>
                      </a:solidFill>
                      <a:prstDash val="solid"/>
                      <a:round/>
                      <a:headEnd type="none" w="med" len="med"/>
                      <a:tailEnd type="none" w="med" len="med"/>
                    </a:lnB>
                  </a:tcPr>
                </a:tc>
              </a:tr>
              <a:tr h="545902">
                <a:tc>
                  <a:txBody>
                    <a:bodyPr/>
                    <a:lstStyle/>
                    <a:p>
                      <a:pPr indent="0" marL="0">
                        <a:lnSpc>
                          <a:spcPts val="1680"/>
                        </a:lnSpc>
                        <a:buNone/>
                      </a:pPr>
                      <a:r>
                        <a:rPr lang="en-US" sz="1200" dirty="0">
                          <a:solidFill>
                            <a:srgbClr val="FFB347"/>
                          </a:solidFill>
                          <a:latin typeface="JetBrains Mono" pitchFamily="49" charset="0"/>
                          <a:ea typeface="JetBrains Mono" pitchFamily="49" charset="-122"/>
                          <a:cs typeface="JetBrains Mono" pitchFamily="49" charset="-120"/>
                        </a:rPr>
                        <a:t>end_date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680"/>
                        </a:lnSpc>
                        <a:buNone/>
                      </a:pPr>
                      <a:r>
                        <a:rPr lang="en-US" sz="1200" dirty="0">
                          <a:solidFill>
                            <a:srgbClr val="F4F5FA"/>
                          </a:solidFill>
                          <a:latin typeface="JetBrains Mono" pitchFamily="49" charset="0"/>
                          <a:ea typeface="JetBrains Mono" pitchFamily="49" charset="-122"/>
                          <a:cs typeface="JetBrains Mono" pitchFamily="49" charset="-120"/>
                        </a:rPr>
                        <a:t>YYYY-MM-DD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680"/>
                        </a:lnSpc>
                        <a:buNone/>
                      </a:pPr>
                      <a:r>
                        <a:rPr lang="en-US" sz="1200" dirty="0">
                          <a:solidFill>
                            <a:srgbClr val="F4F5FA"/>
                          </a:solidFill>
                          <a:latin typeface="JetBrains Mono" pitchFamily="49" charset="0"/>
                          <a:ea typeface="JetBrains Mono" pitchFamily="49" charset="-122"/>
                          <a:cs typeface="JetBrains Mono" pitchFamily="49" charset="-120"/>
                        </a:rPr>
                        <a:t>default: start + 7 days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32581">
                <a:tc>
                  <a:txBody>
                    <a:bodyPr/>
                    <a:lstStyle/>
                    <a:p>
                      <a:pPr indent="0" marL="0">
                        <a:lnSpc>
                          <a:spcPts val="1680"/>
                        </a:lnSpc>
                        <a:buNone/>
                      </a:pPr>
                      <a:r>
                        <a:rPr lang="en-US" sz="1200" dirty="0">
                          <a:solidFill>
                            <a:srgbClr val="FF3B1F"/>
                          </a:solidFill>
                          <a:latin typeface="JetBrains Mono" pitchFamily="49" charset="0"/>
                          <a:ea typeface="JetBrains Mono" pitchFamily="49" charset="-122"/>
                          <a:cs typeface="JetBrains Mono" pitchFamily="49" charset="-120"/>
                        </a:rPr>
                        <a:t>api_key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474B5A"/>
                      </a:solidFill>
                      <a:prstDash val="solid"/>
                      <a:round/>
                      <a:headEnd type="none" w="med" len="med"/>
                      <a:tailEnd type="none" w="med" len="med"/>
                    </a:lnB>
                  </a:tcPr>
                </a:tc>
                <a:tc>
                  <a:txBody>
                    <a:bodyPr/>
                    <a:lstStyle/>
                    <a:p>
                      <a:pPr indent="0" marL="0">
                        <a:lnSpc>
                          <a:spcPts val="1680"/>
                        </a:lnSpc>
                        <a:buNone/>
                      </a:pPr>
                      <a:r>
                        <a:rPr lang="en-US" sz="1200" dirty="0">
                          <a:solidFill>
                            <a:srgbClr val="F4F5FA"/>
                          </a:solidFill>
                          <a:latin typeface="JetBrains Mono" pitchFamily="49" charset="0"/>
                          <a:ea typeface="JetBrains Mono" pitchFamily="49" charset="-122"/>
                          <a:cs typeface="JetBrains Mono" pitchFamily="49" charset="-120"/>
                        </a:rPr>
                        <a:t>string</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474B5A"/>
                      </a:solidFill>
                      <a:prstDash val="solid"/>
                      <a:round/>
                      <a:headEnd type="none" w="med" len="med"/>
                      <a:tailEnd type="none" w="med" len="med"/>
                    </a:lnB>
                  </a:tcPr>
                </a:tc>
                <a:tc>
                  <a:txBody>
                    <a:bodyPr/>
                    <a:lstStyle/>
                    <a:p>
                      <a:pPr indent="0" marL="0">
                        <a:lnSpc>
                          <a:spcPts val="1680"/>
                        </a:lnSpc>
                        <a:buNone/>
                      </a:pPr>
                      <a:r>
                        <a:rPr lang="en-US" sz="1200" dirty="0">
                          <a:solidFill>
                            <a:srgbClr val="F4F5FA"/>
                          </a:solidFill>
                          <a:latin typeface="JetBrains Mono" pitchFamily="49" charset="0"/>
                          <a:ea typeface="JetBrains Mono" pitchFamily="49" charset="-122"/>
                          <a:cs typeface="JetBrains Mono" pitchFamily="49" charset="-120"/>
                        </a:rPr>
                        <a:t>your key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474B5A"/>
                      </a:solidFill>
                      <a:prstDash val="solid"/>
                      <a:round/>
                      <a:headEnd type="none" w="med" len="med"/>
                      <a:tailEnd type="none" w="med" len="med"/>
                    </a:lnB>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59500" y="1577280"/>
          <a:ext cx="5219700" cy="2874169"/>
        </p:xfrm>
        <a:graphic>
          <a:graphicData uri="http://schemas.openxmlformats.org/drawingml/2006/table">
            <a:tbl>
              <a:tblPr/>
              <a:tblGrid>
                <a:gridCol w="1879092"/>
                <a:gridCol w="3340608"/>
              </a:tblGrid>
              <a:tr h="359271">
                <a:tc>
                  <a:txBody>
                    <a:bodyPr/>
                    <a:lstStyle/>
                    <a:p>
                      <a:pPr indent="0" marL="0">
                        <a:lnSpc>
                          <a:spcPts val="1820"/>
                        </a:lnSpc>
                        <a:buNone/>
                      </a:pPr>
                      <a:r>
                        <a:rPr lang="en-US" sz="1300" b="1" dirty="0">
                          <a:solidFill>
                            <a:srgbClr val="9AA3B8"/>
                          </a:solidFill>
                          <a:latin typeface="IBM Plex Sans" pitchFamily="34" charset="0"/>
                          <a:ea typeface="IBM Plex Sans" pitchFamily="34" charset="-122"/>
                          <a:cs typeface="IBM Plex Sans" pitchFamily="34" charset="-120"/>
                        </a:rPr>
                        <a:t>Look for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9AA3B8"/>
                          </a:solidFill>
                          <a:latin typeface="IBM Plex Sans" pitchFamily="34" charset="0"/>
                          <a:ea typeface="IBM Plex Sans" pitchFamily="34" charset="-122"/>
                          <a:cs typeface="IBM Plex Sans" pitchFamily="34" charset="-120"/>
                        </a:rPr>
                        <a:t>In NeoWs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Base URL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api.nasa.gov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Endpoint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/neo/rest/v1/feed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Parameters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start_date, end_date, api_key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Response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near_earth_objects, grouped by 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Rate limits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per key, see api.nasa.gov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Authentication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api_key in the URL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Error codes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400 if the range is over 7 days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bl>
          </a:graphicData>
        </a:graphic>
      </p:graphicFrame>
      <p:pic>
        <p:nvPicPr>
          <p:cNvPr id="8"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JSON is boxes inside boxes</a:t>
            </a:r>
            <a:endParaRPr lang="en-US" sz="3200" dirty="0"/>
          </a:p>
        </p:txBody>
      </p:sp>
      <p:sp>
        <p:nvSpPr>
          <p:cNvPr id="3" name="Shape 1"/>
          <p:cNvSpPr/>
          <p:nvPr/>
        </p:nvSpPr>
        <p:spPr>
          <a:xfrm>
            <a:off x="819150" y="1520130"/>
            <a:ext cx="5956300" cy="3550444"/>
          </a:xfrm>
          <a:prstGeom prst="roundRect">
            <a:avLst>
              <a:gd name="adj" fmla="val 2683"/>
            </a:avLst>
          </a:prstGeom>
          <a:solidFill>
            <a:srgbClr val="0D1120"/>
          </a:solidFill>
          <a:ln w="12700">
            <a:solidFill>
              <a:srgbClr val="2B3358"/>
            </a:solidFill>
            <a:prstDash val="solid"/>
          </a:ln>
        </p:spPr>
      </p:sp>
      <p:sp>
        <p:nvSpPr>
          <p:cNvPr id="4" name="Text 2"/>
          <p:cNvSpPr/>
          <p:nvPr/>
        </p:nvSpPr>
        <p:spPr>
          <a:xfrm>
            <a:off x="939800" y="1615380"/>
            <a:ext cx="58864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3B8"/>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response</a:t>
            </a:r>
            <a:endParaRPr lang="en-US" sz="1300" dirty="0"/>
          </a:p>
        </p:txBody>
      </p:sp>
      <p:sp>
        <p:nvSpPr>
          <p:cNvPr id="5" name="Shape 3"/>
          <p:cNvSpPr/>
          <p:nvPr/>
        </p:nvSpPr>
        <p:spPr>
          <a:xfrm>
            <a:off x="946150" y="1916311"/>
            <a:ext cx="5702300" cy="3052663"/>
          </a:xfrm>
          <a:prstGeom prst="roundRect">
            <a:avLst>
              <a:gd name="adj" fmla="val 2704"/>
            </a:avLst>
          </a:prstGeom>
          <a:solidFill>
            <a:srgbClr val="11162A"/>
          </a:solidFill>
          <a:ln w="12700">
            <a:solidFill>
              <a:srgbClr val="2B3358"/>
            </a:solidFill>
            <a:prstDash val="solid"/>
          </a:ln>
        </p:spPr>
      </p:sp>
      <p:sp>
        <p:nvSpPr>
          <p:cNvPr id="6" name="Text 4"/>
          <p:cNvSpPr/>
          <p:nvPr/>
        </p:nvSpPr>
        <p:spPr>
          <a:xfrm>
            <a:off x="1066800" y="1998861"/>
            <a:ext cx="562483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3B8"/>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"near_earth_objects"</a:t>
            </a:r>
            <a:endParaRPr lang="en-US" sz="1300" dirty="0"/>
          </a:p>
        </p:txBody>
      </p:sp>
      <p:sp>
        <p:nvSpPr>
          <p:cNvPr id="7" name="Shape 5"/>
          <p:cNvSpPr/>
          <p:nvPr/>
        </p:nvSpPr>
        <p:spPr>
          <a:xfrm>
            <a:off x="1073150" y="2299791"/>
            <a:ext cx="5448300" cy="2580283"/>
          </a:xfrm>
          <a:prstGeom prst="roundRect">
            <a:avLst>
              <a:gd name="adj" fmla="val 3199"/>
            </a:avLst>
          </a:prstGeom>
          <a:solidFill>
            <a:srgbClr val="151B33"/>
          </a:solidFill>
          <a:ln w="12700">
            <a:solidFill>
              <a:srgbClr val="2B3358"/>
            </a:solidFill>
            <a:prstDash val="solid"/>
          </a:ln>
        </p:spPr>
      </p:sp>
      <p:sp>
        <p:nvSpPr>
          <p:cNvPr id="8" name="Text 6"/>
          <p:cNvSpPr/>
          <p:nvPr/>
        </p:nvSpPr>
        <p:spPr>
          <a:xfrm>
            <a:off x="1193800" y="2382341"/>
            <a:ext cx="53632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EA8FF"/>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"2025-10-05"</a:t>
            </a:r>
            <a:endParaRPr lang="en-US" sz="1300" dirty="0"/>
          </a:p>
        </p:txBody>
      </p:sp>
      <p:sp>
        <p:nvSpPr>
          <p:cNvPr id="9" name="Shape 7"/>
          <p:cNvSpPr/>
          <p:nvPr/>
        </p:nvSpPr>
        <p:spPr>
          <a:xfrm>
            <a:off x="1200150" y="2683272"/>
            <a:ext cx="5194300" cy="2107902"/>
          </a:xfrm>
          <a:prstGeom prst="roundRect">
            <a:avLst>
              <a:gd name="adj" fmla="val 3916"/>
            </a:avLst>
          </a:prstGeom>
          <a:solidFill>
            <a:srgbClr val="1A213C"/>
          </a:solidFill>
          <a:ln w="12700">
            <a:solidFill>
              <a:srgbClr val="2B3358"/>
            </a:solidFill>
            <a:prstDash val="solid"/>
          </a:ln>
        </p:spPr>
      </p:sp>
      <p:sp>
        <p:nvSpPr>
          <p:cNvPr id="10" name="Text 8"/>
          <p:cNvSpPr/>
          <p:nvPr/>
        </p:nvSpPr>
        <p:spPr>
          <a:xfrm>
            <a:off x="1320800" y="2765822"/>
            <a:ext cx="510159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3B8"/>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[0] one asteroid</a:t>
            </a:r>
            <a:endParaRPr lang="en-US" sz="1300" dirty="0"/>
          </a:p>
        </p:txBody>
      </p:sp>
      <p:sp>
        <p:nvSpPr>
          <p:cNvPr id="11" name="Shape 9"/>
          <p:cNvSpPr/>
          <p:nvPr/>
        </p:nvSpPr>
        <p:spPr>
          <a:xfrm>
            <a:off x="1327150" y="3066752"/>
            <a:ext cx="4940300" cy="1635522"/>
          </a:xfrm>
          <a:prstGeom prst="roundRect">
            <a:avLst>
              <a:gd name="adj" fmla="val 5047"/>
            </a:avLst>
          </a:prstGeom>
          <a:solidFill>
            <a:srgbClr val="1F2746"/>
          </a:solidFill>
          <a:ln w="12700">
            <a:solidFill>
              <a:srgbClr val="2B3358"/>
            </a:solidFill>
            <a:prstDash val="solid"/>
          </a:ln>
        </p:spPr>
      </p:sp>
      <p:sp>
        <p:nvSpPr>
          <p:cNvPr id="12" name="Text 10"/>
          <p:cNvSpPr/>
          <p:nvPr/>
        </p:nvSpPr>
        <p:spPr>
          <a:xfrm>
            <a:off x="1447800" y="3149302"/>
            <a:ext cx="48399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EA8FF"/>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"close_approach_data"</a:t>
            </a:r>
            <a:endParaRPr lang="en-US" sz="1300" dirty="0"/>
          </a:p>
        </p:txBody>
      </p:sp>
      <p:sp>
        <p:nvSpPr>
          <p:cNvPr id="13" name="Shape 11"/>
          <p:cNvSpPr/>
          <p:nvPr/>
        </p:nvSpPr>
        <p:spPr>
          <a:xfrm>
            <a:off x="1454150" y="3450233"/>
            <a:ext cx="4686300" cy="1163141"/>
          </a:xfrm>
          <a:prstGeom prst="roundRect">
            <a:avLst>
              <a:gd name="adj" fmla="val 7097"/>
            </a:avLst>
          </a:prstGeom>
          <a:solidFill>
            <a:srgbClr val="242D51"/>
          </a:solidFill>
          <a:ln w="12700">
            <a:solidFill>
              <a:srgbClr val="2B3358"/>
            </a:solidFill>
            <a:prstDash val="solid"/>
          </a:ln>
        </p:spPr>
      </p:sp>
      <p:sp>
        <p:nvSpPr>
          <p:cNvPr id="14" name="Text 12"/>
          <p:cNvSpPr/>
          <p:nvPr/>
        </p:nvSpPr>
        <p:spPr>
          <a:xfrm>
            <a:off x="1574800" y="3532783"/>
            <a:ext cx="45783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3B8"/>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[0] this approach</a:t>
            </a:r>
            <a:endParaRPr lang="en-US" sz="1300" dirty="0"/>
          </a:p>
        </p:txBody>
      </p:sp>
      <p:sp>
        <p:nvSpPr>
          <p:cNvPr id="15" name="Shape 13"/>
          <p:cNvSpPr/>
          <p:nvPr/>
        </p:nvSpPr>
        <p:spPr>
          <a:xfrm>
            <a:off x="1581150" y="3833713"/>
            <a:ext cx="4432300" cy="690761"/>
          </a:xfrm>
          <a:prstGeom prst="roundRect">
            <a:avLst>
              <a:gd name="adj" fmla="val 11951"/>
            </a:avLst>
          </a:prstGeom>
          <a:solidFill>
            <a:srgbClr val="2A3560"/>
          </a:solidFill>
          <a:ln w="12700">
            <a:solidFill>
              <a:srgbClr val="3A4778"/>
            </a:solidFill>
            <a:prstDash val="solid"/>
          </a:ln>
        </p:spPr>
      </p:sp>
      <p:sp>
        <p:nvSpPr>
          <p:cNvPr id="16" name="Text 14"/>
          <p:cNvSpPr/>
          <p:nvPr/>
        </p:nvSpPr>
        <p:spPr>
          <a:xfrm>
            <a:off x="1701800" y="3916263"/>
            <a:ext cx="431673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3B8"/>
                </a:solidFill>
                <a:latin typeface="JetBrains Mono" pitchFamily="49" charset="0"/>
                <a:ea typeface="JetBrains Mono" pitchFamily="49" charset="-122"/>
                <a:cs typeface="JetBrains Mono" pitchFamily="49" charset="-120"/>
              </a:rPr>
              <a:t>{ }</a:t>
            </a:r>
            <a:r>
              <a:rPr lang="en-US" sz="1300" b="1" dirty="0">
                <a:solidFill>
                  <a:srgbClr val="F4F5FA"/>
                </a:solidFill>
                <a:latin typeface="JetBrains Mono" pitchFamily="49" charset="0"/>
                <a:ea typeface="JetBrains Mono" pitchFamily="49" charset="-122"/>
                <a:cs typeface="JetBrains Mono" pitchFamily="49" charset="-120"/>
              </a:rPr>
              <a:t> "miss_distance"</a:t>
            </a:r>
            <a:endParaRPr lang="en-US" sz="1300" dirty="0"/>
          </a:p>
        </p:txBody>
      </p:sp>
      <p:sp>
        <p:nvSpPr>
          <p:cNvPr id="17" name="Text 15"/>
          <p:cNvSpPr/>
          <p:nvPr/>
        </p:nvSpPr>
        <p:spPr>
          <a:xfrm>
            <a:off x="1701800" y="4210844"/>
            <a:ext cx="431673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B347"/>
                </a:solidFill>
                <a:latin typeface="JetBrains Mono" pitchFamily="49" charset="0"/>
                <a:ea typeface="JetBrains Mono" pitchFamily="49" charset="-122"/>
                <a:cs typeface="JetBrains Mono" pitchFamily="49" charset="-120"/>
              </a:rPr>
              <a:t>"kilometers": "5041879.1"</a:t>
            </a:r>
            <a:endParaRPr lang="en-US" sz="1300" dirty="0"/>
          </a:p>
        </p:txBody>
      </p:sp>
      <p:sp>
        <p:nvSpPr>
          <p:cNvPr id="18" name="Text 16"/>
          <p:cNvSpPr/>
          <p:nvPr/>
        </p:nvSpPr>
        <p:spPr>
          <a:xfrm>
            <a:off x="7086600" y="1513780"/>
            <a:ext cx="442137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 }</a:t>
            </a:r>
            <a:r>
              <a:rPr lang="en-US" sz="1400" dirty="0">
                <a:solidFill>
                  <a:srgbClr val="BFC6D8"/>
                </a:solidFill>
                <a:latin typeface="IBM Plex Sans" pitchFamily="34" charset="0"/>
                <a:ea typeface="IBM Plex Sans" pitchFamily="34" charset="-122"/>
                <a:cs typeface="IBM Plex Sans" pitchFamily="34" charset="-120"/>
              </a:rPr>
              <a:t> dictionary: look up by </a:t>
            </a:r>
            <a:r>
              <a:rPr lang="en-US" sz="1400" b="1" dirty="0">
                <a:solidFill>
                  <a:srgbClr val="F4F5FA"/>
                </a:solidFill>
                <a:latin typeface="IBM Plex Sans" pitchFamily="34" charset="0"/>
                <a:ea typeface="IBM Plex Sans" pitchFamily="34" charset="-122"/>
                <a:cs typeface="IBM Plex Sans" pitchFamily="34" charset="-120"/>
              </a:rPr>
              <a:t>name</a:t>
            </a:r>
            <a:endParaRPr lang="en-US" sz="1400" dirty="0"/>
          </a:p>
        </p:txBody>
      </p:sp>
      <p:sp>
        <p:nvSpPr>
          <p:cNvPr id="19" name="Text 17"/>
          <p:cNvSpPr/>
          <p:nvPr/>
        </p:nvSpPr>
        <p:spPr>
          <a:xfrm>
            <a:off x="7086600" y="1889621"/>
            <a:ext cx="442137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EA8FF"/>
                </a:solidFill>
                <a:latin typeface="IBM Plex Sans" pitchFamily="34" charset="0"/>
                <a:ea typeface="IBM Plex Sans" pitchFamily="34" charset="-122"/>
                <a:cs typeface="IBM Plex Sans" pitchFamily="34" charset="-120"/>
              </a:rPr>
              <a:t>[ ]</a:t>
            </a:r>
            <a:r>
              <a:rPr lang="en-US" sz="1400" dirty="0">
                <a:solidFill>
                  <a:srgbClr val="BFC6D8"/>
                </a:solidFill>
                <a:latin typeface="IBM Plex Sans" pitchFamily="34" charset="0"/>
                <a:ea typeface="IBM Plex Sans" pitchFamily="34" charset="-122"/>
                <a:cs typeface="IBM Plex Sans" pitchFamily="34" charset="-120"/>
              </a:rPr>
              <a:t> list: look up by </a:t>
            </a:r>
            <a:r>
              <a:rPr lang="en-US" sz="1400" b="1" dirty="0">
                <a:solidFill>
                  <a:srgbClr val="F4F5FA"/>
                </a:solidFill>
                <a:latin typeface="IBM Plex Sans" pitchFamily="34" charset="0"/>
                <a:ea typeface="IBM Plex Sans" pitchFamily="34" charset="-122"/>
                <a:cs typeface="IBM Plex Sans" pitchFamily="34" charset="-120"/>
              </a:rPr>
              <a:t>position</a:t>
            </a:r>
            <a:endParaRPr lang="en-US" sz="1400" dirty="0"/>
          </a:p>
        </p:txBody>
      </p:sp>
      <p:sp>
        <p:nvSpPr>
          <p:cNvPr id="20" name="Shape 18"/>
          <p:cNvSpPr/>
          <p:nvPr/>
        </p:nvSpPr>
        <p:spPr>
          <a:xfrm>
            <a:off x="7086600" y="2265462"/>
            <a:ext cx="4292600" cy="1549400"/>
          </a:xfrm>
          <a:prstGeom prst="roundRect">
            <a:avLst>
              <a:gd name="adj" fmla="val 8197"/>
            </a:avLst>
          </a:prstGeom>
          <a:solidFill>
            <a:srgbClr val="141A2E"/>
          </a:solidFill>
          <a:ln/>
        </p:spPr>
      </p:sp>
      <p:sp>
        <p:nvSpPr>
          <p:cNvPr id="21" name="Text 19"/>
          <p:cNvSpPr/>
          <p:nvPr/>
        </p:nvSpPr>
        <p:spPr>
          <a:xfrm>
            <a:off x="7289800" y="2443262"/>
            <a:ext cx="400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5FA"/>
                </a:solidFill>
                <a:latin typeface="JetBrains Mono" pitchFamily="49" charset="0"/>
                <a:ea typeface="JetBrains Mono" pitchFamily="49" charset="-122"/>
                <a:cs typeface="JetBrains Mono" pitchFamily="49" charset="-120"/>
              </a:rPr>
              <a:t>feed["near_earth_objects"]</a:t>
            </a:r>
            <a:endParaRPr lang="en-US" sz="1200" dirty="0"/>
          </a:p>
        </p:txBody>
      </p:sp>
      <p:sp>
        <p:nvSpPr>
          <p:cNvPr id="22" name="Text 20"/>
          <p:cNvSpPr/>
          <p:nvPr/>
        </p:nvSpPr>
        <p:spPr>
          <a:xfrm>
            <a:off x="7289800" y="2684562"/>
            <a:ext cx="400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5FA"/>
                </a:solidFill>
                <a:latin typeface="JetBrains Mono" pitchFamily="49" charset="0"/>
                <a:ea typeface="JetBrains Mono" pitchFamily="49" charset="-122"/>
                <a:cs typeface="JetBrains Mono" pitchFamily="49" charset="-120"/>
              </a:rPr>
              <a:t>["2025-10-05"][0]</a:t>
            </a:r>
            <a:endParaRPr lang="en-US" sz="1200" dirty="0"/>
          </a:p>
        </p:txBody>
      </p:sp>
      <p:sp>
        <p:nvSpPr>
          <p:cNvPr id="23" name="Text 21"/>
          <p:cNvSpPr/>
          <p:nvPr/>
        </p:nvSpPr>
        <p:spPr>
          <a:xfrm>
            <a:off x="7289800" y="2925862"/>
            <a:ext cx="400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5FA"/>
                </a:solidFill>
                <a:latin typeface="JetBrains Mono" pitchFamily="49" charset="0"/>
                <a:ea typeface="JetBrains Mono" pitchFamily="49" charset="-122"/>
                <a:cs typeface="JetBrains Mono" pitchFamily="49" charset="-120"/>
              </a:rPr>
              <a:t>["close_approach_data"][0]</a:t>
            </a:r>
            <a:endParaRPr lang="en-US" sz="1200" dirty="0"/>
          </a:p>
        </p:txBody>
      </p:sp>
      <p:sp>
        <p:nvSpPr>
          <p:cNvPr id="24" name="Text 22"/>
          <p:cNvSpPr/>
          <p:nvPr/>
        </p:nvSpPr>
        <p:spPr>
          <a:xfrm>
            <a:off x="7289800" y="3167162"/>
            <a:ext cx="400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5FA"/>
                </a:solidFill>
                <a:latin typeface="JetBrains Mono" pitchFamily="49" charset="0"/>
                <a:ea typeface="JetBrains Mono" pitchFamily="49" charset="-122"/>
                <a:cs typeface="JetBrains Mono" pitchFamily="49" charset="-120"/>
              </a:rPr>
              <a:t>["miss_distance"]</a:t>
            </a:r>
            <a:endParaRPr lang="en-US" sz="1200" dirty="0"/>
          </a:p>
        </p:txBody>
      </p:sp>
      <p:sp>
        <p:nvSpPr>
          <p:cNvPr id="25" name="Text 23"/>
          <p:cNvSpPr/>
          <p:nvPr/>
        </p:nvSpPr>
        <p:spPr>
          <a:xfrm>
            <a:off x="7289800" y="3408462"/>
            <a:ext cx="400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5FA"/>
                </a:solidFill>
                <a:latin typeface="JetBrains Mono" pitchFamily="49" charset="0"/>
                <a:ea typeface="JetBrains Mono" pitchFamily="49" charset="-122"/>
                <a:cs typeface="JetBrains Mono" pitchFamily="49" charset="-120"/>
              </a:rPr>
              <a:t>["kilometers"]</a:t>
            </a:r>
            <a:endParaRPr lang="en-US" sz="1200" dirty="0"/>
          </a:p>
        </p:txBody>
      </p:sp>
      <p:sp>
        <p:nvSpPr>
          <p:cNvPr id="26" name="Text 24"/>
          <p:cNvSpPr/>
          <p:nvPr/>
        </p:nvSpPr>
        <p:spPr>
          <a:xfrm>
            <a:off x="7086600" y="3941862"/>
            <a:ext cx="442137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B347"/>
                </a:solidFill>
                <a:latin typeface="IBM Plex Sans" pitchFamily="34" charset="0"/>
                <a:ea typeface="IBM Plex Sans" pitchFamily="34" charset="-122"/>
                <a:cs typeface="IBM Plex Sans" pitchFamily="34" charset="-120"/>
              </a:rPr>
              <a:t>"5041879.1" is text, not a number.</a:t>
            </a:r>
            <a:r>
              <a:rPr lang="en-US" sz="1400" dirty="0">
                <a:solidFill>
                  <a:srgbClr val="BFC6D8"/>
                </a:solidFill>
                <a:latin typeface="IBM Plex Sans" pitchFamily="34" charset="0"/>
                <a:ea typeface="IBM Plex Sans" pitchFamily="34" charset="-122"/>
                <a:cs typeface="IBM Plex Sans" pitchFamily="34" charset="-120"/>
              </a:rPr>
              <a:t> Convert it before you sort or compare.</a:t>
            </a:r>
            <a:endParaRPr lang="en-US" sz="1400" dirty="0"/>
          </a:p>
        </p:txBody>
      </p:sp>
      <p:pic>
        <p:nvPicPr>
          <p:cNvPr id="27"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From nested JSON to a clean row</a:t>
            </a:r>
            <a:endParaRPr lang="en-US" sz="3200" dirty="0"/>
          </a:p>
        </p:txBody>
      </p:sp>
      <p:sp>
        <p:nvSpPr>
          <p:cNvPr id="3" name="Text 1"/>
          <p:cNvSpPr/>
          <p:nvPr/>
        </p:nvSpPr>
        <p:spPr>
          <a:xfrm>
            <a:off x="812800" y="15137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YOUR TURN · NOTEBOOK 00</a:t>
            </a:r>
            <a:endParaRPr lang="en-US" sz="1200" dirty="0"/>
          </a:p>
        </p:txBody>
      </p:sp>
      <p:sp>
        <p:nvSpPr>
          <p:cNvPr id="4" name="Shape 2"/>
          <p:cNvSpPr/>
          <p:nvPr/>
        </p:nvSpPr>
        <p:spPr>
          <a:xfrm>
            <a:off x="812800" y="1841401"/>
            <a:ext cx="6985000" cy="992386"/>
          </a:xfrm>
          <a:prstGeom prst="roundRect">
            <a:avLst>
              <a:gd name="adj" fmla="val 12797"/>
            </a:avLst>
          </a:prstGeom>
          <a:solidFill>
            <a:srgbClr val="141A2E"/>
          </a:solidFill>
          <a:ln/>
        </p:spPr>
      </p:sp>
      <p:sp>
        <p:nvSpPr>
          <p:cNvPr id="5" name="Text 3"/>
          <p:cNvSpPr/>
          <p:nvPr/>
        </p:nvSpPr>
        <p:spPr>
          <a:xfrm>
            <a:off x="1016000" y="1993801"/>
            <a:ext cx="20012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1</a:t>
            </a:r>
            <a:endParaRPr lang="en-US" sz="2600" dirty="0"/>
          </a:p>
        </p:txBody>
      </p:sp>
      <p:sp>
        <p:nvSpPr>
          <p:cNvPr id="6" name="Text 4"/>
          <p:cNvSpPr/>
          <p:nvPr/>
        </p:nvSpPr>
        <p:spPr>
          <a:xfrm>
            <a:off x="1317724" y="1993801"/>
            <a:ext cx="646518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Walk the dates</a:t>
            </a:r>
            <a:endParaRPr lang="en-US" sz="1500" dirty="0"/>
          </a:p>
        </p:txBody>
      </p:sp>
      <p:sp>
        <p:nvSpPr>
          <p:cNvPr id="7" name="Text 5"/>
          <p:cNvSpPr/>
          <p:nvPr/>
        </p:nvSpPr>
        <p:spPr>
          <a:xfrm>
            <a:off x="1317724" y="2270026"/>
            <a:ext cx="646518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The feed groups asteroids by day. Loop over </a:t>
            </a:r>
            <a:r>
              <a:rPr lang="en-US" sz="1200" b="1" dirty="0">
                <a:solidFill>
                  <a:srgbClr val="F4F5FA"/>
                </a:solidFill>
                <a:latin typeface="IBM Plex Sans" pitchFamily="34" charset="0"/>
                <a:ea typeface="IBM Plex Sans" pitchFamily="34" charset="-122"/>
                <a:cs typeface="IBM Plex Sans" pitchFamily="34" charset="-120"/>
              </a:rPr>
              <a:t>near_earth_objects</a:t>
            </a:r>
            <a:r>
              <a:rPr lang="en-US" sz="1200" dirty="0">
                <a:solidFill>
                  <a:srgbClr val="BFC6D8"/>
                </a:solidFill>
                <a:latin typeface="IBM Plex Sans" pitchFamily="34" charset="0"/>
                <a:ea typeface="IBM Plex Sans" pitchFamily="34" charset="-122"/>
                <a:cs typeface="IBM Plex Sans" pitchFamily="34" charset="-120"/>
              </a:rPr>
              <a:t>: each key is a date, each value a list.</a:t>
            </a:r>
            <a:endParaRPr lang="en-US" sz="1200" dirty="0"/>
          </a:p>
        </p:txBody>
      </p:sp>
      <p:sp>
        <p:nvSpPr>
          <p:cNvPr id="8" name="Shape 6"/>
          <p:cNvSpPr/>
          <p:nvPr/>
        </p:nvSpPr>
        <p:spPr>
          <a:xfrm>
            <a:off x="812800" y="2948087"/>
            <a:ext cx="6985000" cy="786705"/>
          </a:xfrm>
          <a:prstGeom prst="roundRect">
            <a:avLst>
              <a:gd name="adj" fmla="val 16143"/>
            </a:avLst>
          </a:prstGeom>
          <a:solidFill>
            <a:srgbClr val="141A2E"/>
          </a:solidFill>
          <a:ln/>
        </p:spPr>
      </p:sp>
      <p:sp>
        <p:nvSpPr>
          <p:cNvPr id="9" name="Text 7"/>
          <p:cNvSpPr/>
          <p:nvPr/>
        </p:nvSpPr>
        <p:spPr>
          <a:xfrm>
            <a:off x="1016000" y="3100487"/>
            <a:ext cx="246955"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2</a:t>
            </a:r>
            <a:endParaRPr lang="en-US" sz="2600" dirty="0"/>
          </a:p>
        </p:txBody>
      </p:sp>
      <p:sp>
        <p:nvSpPr>
          <p:cNvPr id="10" name="Text 8"/>
          <p:cNvSpPr/>
          <p:nvPr/>
        </p:nvSpPr>
        <p:spPr>
          <a:xfrm>
            <a:off x="1364555" y="3100487"/>
            <a:ext cx="641694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Walk the asteroids for that day</a:t>
            </a:r>
            <a:endParaRPr lang="en-US" sz="1500" dirty="0"/>
          </a:p>
        </p:txBody>
      </p:sp>
      <p:sp>
        <p:nvSpPr>
          <p:cNvPr id="11" name="Text 9"/>
          <p:cNvSpPr/>
          <p:nvPr/>
        </p:nvSpPr>
        <p:spPr>
          <a:xfrm>
            <a:off x="1364555" y="3376712"/>
            <a:ext cx="641694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Inner loop. Open one asteroid first and print its keys. Where is the size? The speed?</a:t>
            </a:r>
            <a:endParaRPr lang="en-US" sz="1200" dirty="0"/>
          </a:p>
        </p:txBody>
      </p:sp>
      <p:sp>
        <p:nvSpPr>
          <p:cNvPr id="12" name="Shape 10"/>
          <p:cNvSpPr/>
          <p:nvPr/>
        </p:nvSpPr>
        <p:spPr>
          <a:xfrm>
            <a:off x="812800" y="3849092"/>
            <a:ext cx="6985000" cy="786705"/>
          </a:xfrm>
          <a:prstGeom prst="roundRect">
            <a:avLst>
              <a:gd name="adj" fmla="val 16143"/>
            </a:avLst>
          </a:prstGeom>
          <a:solidFill>
            <a:srgbClr val="141A2E"/>
          </a:solidFill>
          <a:ln/>
        </p:spPr>
      </p:sp>
      <p:sp>
        <p:nvSpPr>
          <p:cNvPr id="13" name="Text 11"/>
          <p:cNvSpPr/>
          <p:nvPr/>
        </p:nvSpPr>
        <p:spPr>
          <a:xfrm>
            <a:off x="1016000" y="4001492"/>
            <a:ext cx="25161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3</a:t>
            </a:r>
            <a:endParaRPr lang="en-US" sz="2600" dirty="0"/>
          </a:p>
        </p:txBody>
      </p:sp>
      <p:sp>
        <p:nvSpPr>
          <p:cNvPr id="14" name="Text 12"/>
          <p:cNvSpPr/>
          <p:nvPr/>
        </p:nvSpPr>
        <p:spPr>
          <a:xfrm>
            <a:off x="1369219" y="4001492"/>
            <a:ext cx="641214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Open the boxes</a:t>
            </a:r>
            <a:endParaRPr lang="en-US" sz="1500" dirty="0"/>
          </a:p>
        </p:txBody>
      </p:sp>
      <p:sp>
        <p:nvSpPr>
          <p:cNvPr id="15" name="Text 13"/>
          <p:cNvSpPr/>
          <p:nvPr/>
        </p:nvSpPr>
        <p:spPr>
          <a:xfrm>
            <a:off x="1369219" y="4277717"/>
            <a:ext cx="641214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Size sits in a nested box. Speed and miss distance sit inside the </a:t>
            </a:r>
            <a:r>
              <a:rPr lang="en-US" sz="1200" b="1" dirty="0">
                <a:solidFill>
                  <a:srgbClr val="F4F5FA"/>
                </a:solidFill>
                <a:latin typeface="IBM Plex Sans" pitchFamily="34" charset="0"/>
                <a:ea typeface="IBM Plex Sans" pitchFamily="34" charset="-122"/>
                <a:cs typeface="IBM Plex Sans" pitchFamily="34" charset="-120"/>
              </a:rPr>
              <a:t>first</a:t>
            </a:r>
            <a:r>
              <a:rPr lang="en-US" sz="1200" dirty="0">
                <a:solidFill>
                  <a:srgbClr val="BFC6D8"/>
                </a:solidFill>
                <a:latin typeface="IBM Plex Sans" pitchFamily="34" charset="0"/>
                <a:ea typeface="IBM Plex Sans" pitchFamily="34" charset="-122"/>
                <a:cs typeface="IBM Plex Sans" pitchFamily="34" charset="-120"/>
              </a:rPr>
              <a:t> close approach.</a:t>
            </a:r>
            <a:endParaRPr lang="en-US" sz="1200" dirty="0"/>
          </a:p>
        </p:txBody>
      </p:sp>
      <p:sp>
        <p:nvSpPr>
          <p:cNvPr id="16" name="Shape 14"/>
          <p:cNvSpPr/>
          <p:nvPr/>
        </p:nvSpPr>
        <p:spPr>
          <a:xfrm>
            <a:off x="812800" y="4750098"/>
            <a:ext cx="6985000" cy="786705"/>
          </a:xfrm>
          <a:prstGeom prst="roundRect">
            <a:avLst>
              <a:gd name="adj" fmla="val 16143"/>
            </a:avLst>
          </a:prstGeom>
          <a:solidFill>
            <a:srgbClr val="141A2E"/>
          </a:solidFill>
          <a:ln/>
        </p:spPr>
      </p:sp>
      <p:sp>
        <p:nvSpPr>
          <p:cNvPr id="17" name="Text 15"/>
          <p:cNvSpPr/>
          <p:nvPr/>
        </p:nvSpPr>
        <p:spPr>
          <a:xfrm>
            <a:off x="1016000" y="4902498"/>
            <a:ext cx="26084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4</a:t>
            </a:r>
            <a:endParaRPr lang="en-US" sz="2600" dirty="0"/>
          </a:p>
        </p:txBody>
      </p:sp>
      <p:sp>
        <p:nvSpPr>
          <p:cNvPr id="18" name="Text 16"/>
          <p:cNvSpPr/>
          <p:nvPr/>
        </p:nvSpPr>
        <p:spPr>
          <a:xfrm>
            <a:off x="1378446" y="4902498"/>
            <a:ext cx="640263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Append one flat row</a:t>
            </a:r>
            <a:endParaRPr lang="en-US" sz="1500" dirty="0"/>
          </a:p>
        </p:txBody>
      </p:sp>
      <p:sp>
        <p:nvSpPr>
          <p:cNvPr id="19" name="Text 17"/>
          <p:cNvSpPr/>
          <p:nvPr/>
        </p:nvSpPr>
        <p:spPr>
          <a:xfrm>
            <a:off x="1378446" y="5178723"/>
            <a:ext cx="640263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Put the five fields into one dictionary per asteroid, then hand the list to pandas.</a:t>
            </a:r>
            <a:endParaRPr lang="en-US" sz="1200" dirty="0"/>
          </a:p>
        </p:txBody>
      </p:sp>
      <p:sp>
        <p:nvSpPr>
          <p:cNvPr id="20" name="Text 18"/>
          <p:cNvSpPr/>
          <p:nvPr/>
        </p:nvSpPr>
        <p:spPr>
          <a:xfrm>
            <a:off x="8102600" y="15137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3B8"/>
                </a:solidFill>
                <a:latin typeface="IBM Plex Sans" pitchFamily="34" charset="0"/>
                <a:ea typeface="IBM Plex Sans" pitchFamily="34" charset="-122"/>
                <a:cs typeface="IBM Plex Sans" pitchFamily="34" charset="-120"/>
              </a:rPr>
              <a:t>THE 5 FIELDS WE KEEP</a:t>
            </a:r>
            <a:endParaRPr lang="en-US" sz="1200" dirty="0"/>
          </a:p>
        </p:txBody>
      </p:sp>
      <p:sp>
        <p:nvSpPr>
          <p:cNvPr id="21" name="Shape 19"/>
          <p:cNvSpPr/>
          <p:nvPr/>
        </p:nvSpPr>
        <p:spPr>
          <a:xfrm>
            <a:off x="8102600" y="1911251"/>
            <a:ext cx="127000" cy="127000"/>
          </a:xfrm>
          <a:prstGeom prst="roundRect">
            <a:avLst>
              <a:gd name="adj" fmla="val 50000"/>
            </a:avLst>
          </a:prstGeom>
          <a:solidFill>
            <a:srgbClr val="6EA8FF"/>
          </a:solidFill>
          <a:ln/>
        </p:spPr>
      </p:sp>
      <p:sp>
        <p:nvSpPr>
          <p:cNvPr id="22" name="Text 20"/>
          <p:cNvSpPr/>
          <p:nvPr/>
        </p:nvSpPr>
        <p:spPr>
          <a:xfrm>
            <a:off x="8318500" y="1841401"/>
            <a:ext cx="59281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name</a:t>
            </a:r>
            <a:endParaRPr lang="en-US" sz="1500" dirty="0"/>
          </a:p>
        </p:txBody>
      </p:sp>
      <p:sp>
        <p:nvSpPr>
          <p:cNvPr id="23" name="Shape 21"/>
          <p:cNvSpPr/>
          <p:nvPr/>
        </p:nvSpPr>
        <p:spPr>
          <a:xfrm>
            <a:off x="8102600" y="2292251"/>
            <a:ext cx="127000" cy="127000"/>
          </a:xfrm>
          <a:prstGeom prst="roundRect">
            <a:avLst>
              <a:gd name="adj" fmla="val 50000"/>
            </a:avLst>
          </a:prstGeom>
          <a:solidFill>
            <a:srgbClr val="FFB347"/>
          </a:solidFill>
          <a:ln/>
        </p:spPr>
      </p:sp>
      <p:sp>
        <p:nvSpPr>
          <p:cNvPr id="24" name="Text 22"/>
          <p:cNvSpPr/>
          <p:nvPr/>
        </p:nvSpPr>
        <p:spPr>
          <a:xfrm>
            <a:off x="8318500" y="2222401"/>
            <a:ext cx="13711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size (metres)</a:t>
            </a:r>
            <a:endParaRPr lang="en-US" sz="1500" dirty="0"/>
          </a:p>
        </p:txBody>
      </p:sp>
      <p:sp>
        <p:nvSpPr>
          <p:cNvPr id="25" name="Shape 23"/>
          <p:cNvSpPr/>
          <p:nvPr/>
        </p:nvSpPr>
        <p:spPr>
          <a:xfrm>
            <a:off x="8102600" y="2673251"/>
            <a:ext cx="127000" cy="127000"/>
          </a:xfrm>
          <a:prstGeom prst="roundRect">
            <a:avLst>
              <a:gd name="adj" fmla="val 50000"/>
            </a:avLst>
          </a:prstGeom>
          <a:solidFill>
            <a:srgbClr val="3DDC97"/>
          </a:solidFill>
          <a:ln/>
        </p:spPr>
      </p:sp>
      <p:sp>
        <p:nvSpPr>
          <p:cNvPr id="26" name="Text 24"/>
          <p:cNvSpPr/>
          <p:nvPr/>
        </p:nvSpPr>
        <p:spPr>
          <a:xfrm>
            <a:off x="8318500" y="2603401"/>
            <a:ext cx="139707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speed (km/s)</a:t>
            </a:r>
            <a:endParaRPr lang="en-US" sz="1500" dirty="0"/>
          </a:p>
        </p:txBody>
      </p:sp>
      <p:sp>
        <p:nvSpPr>
          <p:cNvPr id="27" name="Shape 25"/>
          <p:cNvSpPr/>
          <p:nvPr/>
        </p:nvSpPr>
        <p:spPr>
          <a:xfrm>
            <a:off x="8102600" y="3054251"/>
            <a:ext cx="127000" cy="127000"/>
          </a:xfrm>
          <a:prstGeom prst="roundRect">
            <a:avLst>
              <a:gd name="adj" fmla="val 50000"/>
            </a:avLst>
          </a:prstGeom>
          <a:solidFill>
            <a:srgbClr val="FF3B1F"/>
          </a:solidFill>
          <a:ln/>
        </p:spPr>
      </p:sp>
      <p:sp>
        <p:nvSpPr>
          <p:cNvPr id="28" name="Text 26"/>
          <p:cNvSpPr/>
          <p:nvPr/>
        </p:nvSpPr>
        <p:spPr>
          <a:xfrm>
            <a:off x="8318500" y="2984401"/>
            <a:ext cx="198965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miss distance (km)</a:t>
            </a:r>
            <a:endParaRPr lang="en-US" sz="1500" dirty="0"/>
          </a:p>
        </p:txBody>
      </p:sp>
      <p:sp>
        <p:nvSpPr>
          <p:cNvPr id="29" name="Shape 27"/>
          <p:cNvSpPr/>
          <p:nvPr/>
        </p:nvSpPr>
        <p:spPr>
          <a:xfrm>
            <a:off x="8102600" y="3435251"/>
            <a:ext cx="127000" cy="127000"/>
          </a:xfrm>
          <a:prstGeom prst="roundRect">
            <a:avLst>
              <a:gd name="adj" fmla="val 50000"/>
            </a:avLst>
          </a:prstGeom>
          <a:solidFill>
            <a:srgbClr val="9AA3B8"/>
          </a:solidFill>
          <a:ln/>
        </p:spPr>
      </p:sp>
      <p:sp>
        <p:nvSpPr>
          <p:cNvPr id="30" name="Text 28"/>
          <p:cNvSpPr/>
          <p:nvPr/>
        </p:nvSpPr>
        <p:spPr>
          <a:xfrm>
            <a:off x="8318500" y="3365401"/>
            <a:ext cx="15615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hazardous flag</a:t>
            </a:r>
            <a:endParaRPr lang="en-US" sz="1500" dirty="0"/>
          </a:p>
        </p:txBody>
      </p:sp>
      <p:sp>
        <p:nvSpPr>
          <p:cNvPr id="31" name="Text 29"/>
          <p:cNvSpPr/>
          <p:nvPr/>
        </p:nvSpPr>
        <p:spPr>
          <a:xfrm>
            <a:off x="8102600" y="3746401"/>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Hint: JSON hands you numbers as </a:t>
            </a:r>
            <a:r>
              <a:rPr lang="en-US" sz="1400" b="1" dirty="0">
                <a:solidFill>
                  <a:srgbClr val="FFB347"/>
                </a:solidFill>
                <a:latin typeface="IBM Plex Sans" pitchFamily="34" charset="0"/>
                <a:ea typeface="IBM Plex Sans" pitchFamily="34" charset="-122"/>
                <a:cs typeface="IBM Plex Sans" pitchFamily="34" charset="-120"/>
              </a:rPr>
              <a:t>text</a:t>
            </a:r>
            <a:r>
              <a:rPr lang="en-US" sz="1400" dirty="0">
                <a:solidFill>
                  <a:srgbClr val="BFC6D8"/>
                </a:solidFill>
                <a:latin typeface="IBM Plex Sans" pitchFamily="34" charset="0"/>
                <a:ea typeface="IBM Plex Sans" pitchFamily="34" charset="-122"/>
                <a:cs typeface="IBM Plex Sans" pitchFamily="34" charset="-120"/>
              </a:rPr>
              <a:t>. Convert before you compare.</a:t>
            </a:r>
            <a:endParaRPr lang="en-US" sz="1400" dirty="0"/>
          </a:p>
        </p:txBody>
      </p:sp>
      <p:pic>
        <p:nvPicPr>
          <p:cNvPr id="32"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Clean before you use: units, gaps and dates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53700" cy="2315766"/>
        </p:xfrm>
        <a:graphic>
          <a:graphicData uri="http://schemas.openxmlformats.org/drawingml/2006/table">
            <a:tbl>
              <a:tblPr/>
              <a:tblGrid>
                <a:gridCol w="2743962"/>
                <a:gridCol w="3166110"/>
                <a:gridCol w="4643628"/>
              </a:tblGrid>
              <a:tr h="385961">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Problem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What it looks like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Fix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Numbers as 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"5041879.1"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float() before you sort or compare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Wrong units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km vs miles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Check the docs, convert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Missing values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-999 in POWER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Turn into NaN, then drop or fill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Odd times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USGS time in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Convert to a real date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85961">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Empty 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200 OK and [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Check the length before you show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bl>
          </a:graphicData>
        </a:graphic>
      </p:graphicFrame>
      <p:sp>
        <p:nvSpPr>
          <p:cNvPr id="4" name="Shape 1"/>
          <p:cNvSpPr/>
          <p:nvPr/>
        </p:nvSpPr>
        <p:spPr>
          <a:xfrm>
            <a:off x="812800" y="4096246"/>
            <a:ext cx="10566400" cy="1132681"/>
          </a:xfrm>
          <a:prstGeom prst="roundRect">
            <a:avLst>
              <a:gd name="adj" fmla="val 11212"/>
            </a:avLst>
          </a:prstGeom>
          <a:solidFill>
            <a:srgbClr val="141A2E"/>
          </a:solidFill>
          <a:ln/>
        </p:spPr>
      </p:sp>
      <p:sp>
        <p:nvSpPr>
          <p:cNvPr id="5" name="Text 2"/>
          <p:cNvSpPr/>
          <p:nvPr/>
        </p:nvSpPr>
        <p:spPr>
          <a:xfrm>
            <a:off x="1041400" y="4274046"/>
            <a:ext cx="1041247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YOUR TURN</a:t>
            </a:r>
            <a:endParaRPr lang="en-US" sz="1200" dirty="0"/>
          </a:p>
        </p:txBody>
      </p:sp>
      <p:sp>
        <p:nvSpPr>
          <p:cNvPr id="6" name="Text 3"/>
          <p:cNvSpPr/>
          <p:nvPr/>
        </p:nvSpPr>
        <p:spPr>
          <a:xfrm>
            <a:off x="1041400" y="4538166"/>
            <a:ext cx="104124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Find each problem in your own data, fix it in one line, and print the column to prove it.</a:t>
            </a:r>
            <a:endParaRPr lang="en-US" sz="1400" dirty="0"/>
          </a:p>
        </p:txBody>
      </p:sp>
      <p:sp>
        <p:nvSpPr>
          <p:cNvPr id="7" name="Text 4"/>
          <p:cNvSpPr/>
          <p:nvPr/>
        </p:nvSpPr>
        <p:spPr>
          <a:xfrm>
            <a:off x="1041400" y="4837807"/>
            <a:ext cx="104124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6D8"/>
                </a:solidFill>
                <a:latin typeface="IBM Plex Sans" pitchFamily="34" charset="0"/>
                <a:ea typeface="IBM Plex Sans" pitchFamily="34" charset="-122"/>
                <a:cs typeface="IBM Plex Sans" pitchFamily="34" charset="-120"/>
              </a:rPr>
              <a:t>Hints: astype, replace with NaN, to_datetime.</a:t>
            </a:r>
            <a:endParaRPr lang="en-US" sz="1200" dirty="0"/>
          </a:p>
        </p:txBody>
      </p:sp>
      <p:pic>
        <p:nvPicPr>
          <p:cNvPr id="8"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The NASA data universe</a:t>
            </a:r>
            <a:endParaRPr lang="en-US" sz="3200" dirty="0"/>
          </a:p>
        </p:txBody>
      </p:sp>
      <p:sp>
        <p:nvSpPr>
          <p:cNvPr id="3" name="Shape 1"/>
          <p:cNvSpPr/>
          <p:nvPr/>
        </p:nvSpPr>
        <p:spPr>
          <a:xfrm>
            <a:off x="812800" y="1513780"/>
            <a:ext cx="2527300" cy="1427262"/>
          </a:xfrm>
          <a:prstGeom prst="roundRect">
            <a:avLst>
              <a:gd name="adj" fmla="val 8898"/>
            </a:avLst>
          </a:prstGeom>
          <a:solidFill>
            <a:srgbClr val="141A2E"/>
          </a:solidFill>
          <a:ln/>
        </p:spPr>
      </p:sp>
      <p:sp>
        <p:nvSpPr>
          <p:cNvPr id="4" name="Text 2"/>
          <p:cNvSpPr/>
          <p:nvPr/>
        </p:nvSpPr>
        <p:spPr>
          <a:xfrm>
            <a:off x="977900" y="1678880"/>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APOD</a:t>
            </a:r>
            <a:endParaRPr lang="en-US" sz="1600" dirty="0"/>
          </a:p>
        </p:txBody>
      </p:sp>
      <p:sp>
        <p:nvSpPr>
          <p:cNvPr id="5" name="Text 3"/>
          <p:cNvSpPr/>
          <p:nvPr/>
        </p:nvSpPr>
        <p:spPr>
          <a:xfrm>
            <a:off x="977900" y="1986161"/>
            <a:ext cx="2362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Astronomy picture of the day</a:t>
            </a:r>
            <a:endParaRPr lang="en-US" sz="1300" dirty="0"/>
          </a:p>
        </p:txBody>
      </p:sp>
      <p:sp>
        <p:nvSpPr>
          <p:cNvPr id="6" name="Text 4"/>
          <p:cNvSpPr/>
          <p:nvPr/>
        </p:nvSpPr>
        <p:spPr>
          <a:xfrm>
            <a:off x="977900" y="2280741"/>
            <a:ext cx="801489" cy="264120"/>
          </a:xfrm>
          <a:custGeom>
            <a:avLst/>
            <a:gdLst/>
            <a:ahLst/>
            <a:cxnLst/>
            <a:rect l="l" t="t" r="r" b="b"/>
            <a:pathLst>
              <a:path w="801489" h="264120">
                <a:moveTo>
                  <a:pt x="132060" y="0"/>
                </a:moveTo>
                <a:lnTo>
                  <a:pt x="669429" y="0"/>
                </a:lnTo>
                <a:arcTo hR="132060" wR="132060" stAng="16200000" swAng="5400000"/>
                <a:lnTo>
                  <a:pt x="801489" y="132060"/>
                </a:lnTo>
                <a:arcTo hR="132060" wR="132060" stAng="0" swAng="5400000"/>
                <a:lnTo>
                  <a:pt x="132060" y="264120"/>
                </a:lnTo>
                <a:arcTo hR="132060" wR="132060" stAng="5400000" swAng="5400000"/>
                <a:lnTo>
                  <a:pt x="0" y="132060"/>
                </a:lnTo>
                <a:arcTo hR="132060" wR="132060" stAng="10800000" swAng="5400000"/>
                <a:close/>
              </a:path>
            </a:pathLst>
          </a:custGeom>
          <a:solidFill>
            <a:srgbClr val="FFB34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free key</a:t>
            </a:r>
            <a:endParaRPr lang="en-US" sz="1200" dirty="0"/>
          </a:p>
        </p:txBody>
      </p:sp>
      <p:sp>
        <p:nvSpPr>
          <p:cNvPr id="7" name="Shape 5"/>
          <p:cNvSpPr/>
          <p:nvPr/>
        </p:nvSpPr>
        <p:spPr>
          <a:xfrm>
            <a:off x="3492500" y="1513780"/>
            <a:ext cx="2527300" cy="1427262"/>
          </a:xfrm>
          <a:prstGeom prst="roundRect">
            <a:avLst>
              <a:gd name="adj" fmla="val 8898"/>
            </a:avLst>
          </a:prstGeom>
          <a:solidFill>
            <a:srgbClr val="141A2E"/>
          </a:solidFill>
          <a:ln/>
        </p:spPr>
      </p:sp>
      <p:sp>
        <p:nvSpPr>
          <p:cNvPr id="8" name="Text 6"/>
          <p:cNvSpPr/>
          <p:nvPr/>
        </p:nvSpPr>
        <p:spPr>
          <a:xfrm>
            <a:off x="3657600" y="1678880"/>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NeoWs</a:t>
            </a:r>
            <a:endParaRPr lang="en-US" sz="1600" dirty="0"/>
          </a:p>
        </p:txBody>
      </p:sp>
      <p:sp>
        <p:nvSpPr>
          <p:cNvPr id="9" name="Text 7"/>
          <p:cNvSpPr/>
          <p:nvPr/>
        </p:nvSpPr>
        <p:spPr>
          <a:xfrm>
            <a:off x="3657600" y="1986161"/>
            <a:ext cx="226301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Near-Earth asteroids by date</a:t>
            </a:r>
            <a:endParaRPr lang="en-US" sz="1300" dirty="0"/>
          </a:p>
        </p:txBody>
      </p:sp>
      <p:sp>
        <p:nvSpPr>
          <p:cNvPr id="10" name="Text 8"/>
          <p:cNvSpPr/>
          <p:nvPr/>
        </p:nvSpPr>
        <p:spPr>
          <a:xfrm>
            <a:off x="3657600" y="2280741"/>
            <a:ext cx="801489" cy="264120"/>
          </a:xfrm>
          <a:custGeom>
            <a:avLst/>
            <a:gdLst/>
            <a:ahLst/>
            <a:cxnLst/>
            <a:rect l="l" t="t" r="r" b="b"/>
            <a:pathLst>
              <a:path w="801489" h="264120">
                <a:moveTo>
                  <a:pt x="132060" y="0"/>
                </a:moveTo>
                <a:lnTo>
                  <a:pt x="669429" y="0"/>
                </a:lnTo>
                <a:arcTo hR="132060" wR="132060" stAng="16200000" swAng="5400000"/>
                <a:lnTo>
                  <a:pt x="801489" y="132060"/>
                </a:lnTo>
                <a:arcTo hR="132060" wR="132060" stAng="0" swAng="5400000"/>
                <a:lnTo>
                  <a:pt x="132060" y="264120"/>
                </a:lnTo>
                <a:arcTo hR="132060" wR="132060" stAng="5400000" swAng="5400000"/>
                <a:lnTo>
                  <a:pt x="0" y="132060"/>
                </a:lnTo>
                <a:arcTo hR="132060" wR="132060" stAng="10800000" swAng="5400000"/>
                <a:close/>
              </a:path>
            </a:pathLst>
          </a:custGeom>
          <a:solidFill>
            <a:srgbClr val="FFB34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free key</a:t>
            </a:r>
            <a:endParaRPr lang="en-US" sz="1200" dirty="0"/>
          </a:p>
        </p:txBody>
      </p:sp>
      <p:sp>
        <p:nvSpPr>
          <p:cNvPr id="11" name="Shape 9"/>
          <p:cNvSpPr/>
          <p:nvPr/>
        </p:nvSpPr>
        <p:spPr>
          <a:xfrm>
            <a:off x="6172200" y="1513780"/>
            <a:ext cx="2527300" cy="1427262"/>
          </a:xfrm>
          <a:prstGeom prst="roundRect">
            <a:avLst>
              <a:gd name="adj" fmla="val 8898"/>
            </a:avLst>
          </a:prstGeom>
          <a:solidFill>
            <a:srgbClr val="141A2E"/>
          </a:solidFill>
          <a:ln/>
        </p:spPr>
      </p:sp>
      <p:sp>
        <p:nvSpPr>
          <p:cNvPr id="12" name="Text 10"/>
          <p:cNvSpPr/>
          <p:nvPr/>
        </p:nvSpPr>
        <p:spPr>
          <a:xfrm>
            <a:off x="6337300" y="1678880"/>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EPIC</a:t>
            </a:r>
            <a:endParaRPr lang="en-US" sz="1600" dirty="0"/>
          </a:p>
        </p:txBody>
      </p:sp>
      <p:sp>
        <p:nvSpPr>
          <p:cNvPr id="13" name="Text 11"/>
          <p:cNvSpPr/>
          <p:nvPr/>
        </p:nvSpPr>
        <p:spPr>
          <a:xfrm>
            <a:off x="6337300" y="1986161"/>
            <a:ext cx="22630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Whole-Earth photos from space</a:t>
            </a:r>
            <a:endParaRPr lang="en-US" sz="1300" dirty="0"/>
          </a:p>
        </p:txBody>
      </p:sp>
      <p:sp>
        <p:nvSpPr>
          <p:cNvPr id="14" name="Text 12"/>
          <p:cNvSpPr/>
          <p:nvPr/>
        </p:nvSpPr>
        <p:spPr>
          <a:xfrm>
            <a:off x="6337300" y="2511822"/>
            <a:ext cx="801489" cy="264120"/>
          </a:xfrm>
          <a:custGeom>
            <a:avLst/>
            <a:gdLst/>
            <a:ahLst/>
            <a:cxnLst/>
            <a:rect l="l" t="t" r="r" b="b"/>
            <a:pathLst>
              <a:path w="801489" h="264120">
                <a:moveTo>
                  <a:pt x="132060" y="0"/>
                </a:moveTo>
                <a:lnTo>
                  <a:pt x="669429" y="0"/>
                </a:lnTo>
                <a:arcTo hR="132060" wR="132060" stAng="16200000" swAng="5400000"/>
                <a:lnTo>
                  <a:pt x="801489" y="132060"/>
                </a:lnTo>
                <a:arcTo hR="132060" wR="132060" stAng="0" swAng="5400000"/>
                <a:lnTo>
                  <a:pt x="132060" y="264120"/>
                </a:lnTo>
                <a:arcTo hR="132060" wR="132060" stAng="5400000" swAng="5400000"/>
                <a:lnTo>
                  <a:pt x="0" y="132060"/>
                </a:lnTo>
                <a:arcTo hR="132060" wR="132060" stAng="10800000" swAng="5400000"/>
                <a:close/>
              </a:path>
            </a:pathLst>
          </a:custGeom>
          <a:solidFill>
            <a:srgbClr val="FFB34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free key</a:t>
            </a:r>
            <a:endParaRPr lang="en-US" sz="1200" dirty="0"/>
          </a:p>
        </p:txBody>
      </p:sp>
      <p:sp>
        <p:nvSpPr>
          <p:cNvPr id="15" name="Shape 13"/>
          <p:cNvSpPr/>
          <p:nvPr/>
        </p:nvSpPr>
        <p:spPr>
          <a:xfrm>
            <a:off x="8851900" y="1513780"/>
            <a:ext cx="2527300" cy="1427262"/>
          </a:xfrm>
          <a:prstGeom prst="roundRect">
            <a:avLst>
              <a:gd name="adj" fmla="val 8898"/>
            </a:avLst>
          </a:prstGeom>
          <a:solidFill>
            <a:srgbClr val="141A2E"/>
          </a:solidFill>
          <a:ln/>
        </p:spPr>
      </p:sp>
      <p:sp>
        <p:nvSpPr>
          <p:cNvPr id="16" name="Text 14"/>
          <p:cNvSpPr/>
          <p:nvPr/>
        </p:nvSpPr>
        <p:spPr>
          <a:xfrm>
            <a:off x="9017000" y="1678880"/>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DONKI</a:t>
            </a:r>
            <a:endParaRPr lang="en-US" sz="1600" dirty="0"/>
          </a:p>
        </p:txBody>
      </p:sp>
      <p:sp>
        <p:nvSpPr>
          <p:cNvPr id="17" name="Text 15"/>
          <p:cNvSpPr/>
          <p:nvPr/>
        </p:nvSpPr>
        <p:spPr>
          <a:xfrm>
            <a:off x="9017000" y="1986161"/>
            <a:ext cx="22630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Space-weather events: flares and storms</a:t>
            </a:r>
            <a:endParaRPr lang="en-US" sz="1300" dirty="0"/>
          </a:p>
        </p:txBody>
      </p:sp>
      <p:sp>
        <p:nvSpPr>
          <p:cNvPr id="18" name="Text 16"/>
          <p:cNvSpPr/>
          <p:nvPr/>
        </p:nvSpPr>
        <p:spPr>
          <a:xfrm>
            <a:off x="9017000" y="2511822"/>
            <a:ext cx="801489" cy="264120"/>
          </a:xfrm>
          <a:custGeom>
            <a:avLst/>
            <a:gdLst/>
            <a:ahLst/>
            <a:cxnLst/>
            <a:rect l="l" t="t" r="r" b="b"/>
            <a:pathLst>
              <a:path w="801489" h="264120">
                <a:moveTo>
                  <a:pt x="132060" y="0"/>
                </a:moveTo>
                <a:lnTo>
                  <a:pt x="669429" y="0"/>
                </a:lnTo>
                <a:arcTo hR="132060" wR="132060" stAng="16200000" swAng="5400000"/>
                <a:lnTo>
                  <a:pt x="801489" y="132060"/>
                </a:lnTo>
                <a:arcTo hR="132060" wR="132060" stAng="0" swAng="5400000"/>
                <a:lnTo>
                  <a:pt x="132060" y="264120"/>
                </a:lnTo>
                <a:arcTo hR="132060" wR="132060" stAng="5400000" swAng="5400000"/>
                <a:lnTo>
                  <a:pt x="0" y="132060"/>
                </a:lnTo>
                <a:arcTo hR="132060" wR="132060" stAng="10800000" swAng="5400000"/>
                <a:close/>
              </a:path>
            </a:pathLst>
          </a:custGeom>
          <a:solidFill>
            <a:srgbClr val="FFB34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free key</a:t>
            </a:r>
            <a:endParaRPr lang="en-US" sz="1200" dirty="0"/>
          </a:p>
        </p:txBody>
      </p:sp>
      <p:sp>
        <p:nvSpPr>
          <p:cNvPr id="19" name="Shape 17"/>
          <p:cNvSpPr/>
          <p:nvPr/>
        </p:nvSpPr>
        <p:spPr>
          <a:xfrm>
            <a:off x="812800" y="3093442"/>
            <a:ext cx="2527300" cy="1427262"/>
          </a:xfrm>
          <a:prstGeom prst="roundRect">
            <a:avLst>
              <a:gd name="adj" fmla="val 8898"/>
            </a:avLst>
          </a:prstGeom>
          <a:solidFill>
            <a:srgbClr val="141A2E"/>
          </a:solidFill>
          <a:ln/>
        </p:spPr>
      </p:sp>
      <p:sp>
        <p:nvSpPr>
          <p:cNvPr id="20" name="Text 18"/>
          <p:cNvSpPr/>
          <p:nvPr/>
        </p:nvSpPr>
        <p:spPr>
          <a:xfrm>
            <a:off x="977900" y="3258542"/>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POWER</a:t>
            </a:r>
            <a:endParaRPr lang="en-US" sz="1600" dirty="0"/>
          </a:p>
        </p:txBody>
      </p:sp>
      <p:sp>
        <p:nvSpPr>
          <p:cNvPr id="21" name="Text 19"/>
          <p:cNvSpPr/>
          <p:nvPr/>
        </p:nvSpPr>
        <p:spPr>
          <a:xfrm>
            <a:off x="977900" y="3565823"/>
            <a:ext cx="22630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Weather and solar history for any place</a:t>
            </a:r>
            <a:endParaRPr lang="en-US" sz="1300" dirty="0"/>
          </a:p>
        </p:txBody>
      </p:sp>
      <p:sp>
        <p:nvSpPr>
          <p:cNvPr id="22" name="Text 20"/>
          <p:cNvSpPr/>
          <p:nvPr/>
        </p:nvSpPr>
        <p:spPr>
          <a:xfrm>
            <a:off x="977900" y="4091484"/>
            <a:ext cx="691158" cy="264120"/>
          </a:xfrm>
          <a:custGeom>
            <a:avLst/>
            <a:gdLst/>
            <a:ahLst/>
            <a:cxnLst/>
            <a:rect l="l" t="t" r="r" b="b"/>
            <a:pathLst>
              <a:path w="691158" h="264120">
                <a:moveTo>
                  <a:pt x="132060" y="0"/>
                </a:moveTo>
                <a:lnTo>
                  <a:pt x="559098" y="0"/>
                </a:lnTo>
                <a:arcTo hR="132060" wR="132060" stAng="16200000" swAng="5400000"/>
                <a:lnTo>
                  <a:pt x="691158" y="132060"/>
                </a:lnTo>
                <a:arcTo hR="132060" wR="132060" stAng="0" swAng="5400000"/>
                <a:lnTo>
                  <a:pt x="132060" y="264120"/>
                </a:lnTo>
                <a:arcTo hR="132060" wR="132060" stAng="5400000" swAng="5400000"/>
                <a:lnTo>
                  <a:pt x="0" y="132060"/>
                </a:lnTo>
                <a:arcTo hR="132060" wR="132060" stAng="10800000" swAng="5400000"/>
                <a:close/>
              </a:path>
            </a:pathLst>
          </a:custGeom>
          <a:solidFill>
            <a:srgbClr val="3DDC9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no key</a:t>
            </a:r>
            <a:endParaRPr lang="en-US" sz="1200" dirty="0"/>
          </a:p>
        </p:txBody>
      </p:sp>
      <p:sp>
        <p:nvSpPr>
          <p:cNvPr id="23" name="Shape 21"/>
          <p:cNvSpPr/>
          <p:nvPr/>
        </p:nvSpPr>
        <p:spPr>
          <a:xfrm>
            <a:off x="3492500" y="3093442"/>
            <a:ext cx="2527300" cy="1427262"/>
          </a:xfrm>
          <a:prstGeom prst="roundRect">
            <a:avLst>
              <a:gd name="adj" fmla="val 8898"/>
            </a:avLst>
          </a:prstGeom>
          <a:solidFill>
            <a:srgbClr val="141A2E"/>
          </a:solidFill>
          <a:ln/>
        </p:spPr>
      </p:sp>
      <p:sp>
        <p:nvSpPr>
          <p:cNvPr id="24" name="Text 22"/>
          <p:cNvSpPr/>
          <p:nvPr/>
        </p:nvSpPr>
        <p:spPr>
          <a:xfrm>
            <a:off x="3657600" y="3258542"/>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JPL Small-Body DB</a:t>
            </a:r>
            <a:endParaRPr lang="en-US" sz="1600" dirty="0"/>
          </a:p>
        </p:txBody>
      </p:sp>
      <p:sp>
        <p:nvSpPr>
          <p:cNvPr id="25" name="Text 23"/>
          <p:cNvSpPr/>
          <p:nvPr/>
        </p:nvSpPr>
        <p:spPr>
          <a:xfrm>
            <a:off x="3657600" y="3565823"/>
            <a:ext cx="22630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Size and orbit of one asteroid or comet</a:t>
            </a:r>
            <a:endParaRPr lang="en-US" sz="1300" dirty="0"/>
          </a:p>
        </p:txBody>
      </p:sp>
      <p:sp>
        <p:nvSpPr>
          <p:cNvPr id="26" name="Text 24"/>
          <p:cNvSpPr/>
          <p:nvPr/>
        </p:nvSpPr>
        <p:spPr>
          <a:xfrm>
            <a:off x="3657600" y="4091484"/>
            <a:ext cx="691158" cy="264120"/>
          </a:xfrm>
          <a:custGeom>
            <a:avLst/>
            <a:gdLst/>
            <a:ahLst/>
            <a:cxnLst/>
            <a:rect l="l" t="t" r="r" b="b"/>
            <a:pathLst>
              <a:path w="691158" h="264120">
                <a:moveTo>
                  <a:pt x="132060" y="0"/>
                </a:moveTo>
                <a:lnTo>
                  <a:pt x="559098" y="0"/>
                </a:lnTo>
                <a:arcTo hR="132060" wR="132060" stAng="16200000" swAng="5400000"/>
                <a:lnTo>
                  <a:pt x="691158" y="132060"/>
                </a:lnTo>
                <a:arcTo hR="132060" wR="132060" stAng="0" swAng="5400000"/>
                <a:lnTo>
                  <a:pt x="132060" y="264120"/>
                </a:lnTo>
                <a:arcTo hR="132060" wR="132060" stAng="5400000" swAng="5400000"/>
                <a:lnTo>
                  <a:pt x="0" y="132060"/>
                </a:lnTo>
                <a:arcTo hR="132060" wR="132060" stAng="10800000" swAng="5400000"/>
                <a:close/>
              </a:path>
            </a:pathLst>
          </a:custGeom>
          <a:solidFill>
            <a:srgbClr val="3DDC9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no key</a:t>
            </a:r>
            <a:endParaRPr lang="en-US" sz="1200" dirty="0"/>
          </a:p>
        </p:txBody>
      </p:sp>
      <p:sp>
        <p:nvSpPr>
          <p:cNvPr id="27" name="Shape 25"/>
          <p:cNvSpPr/>
          <p:nvPr/>
        </p:nvSpPr>
        <p:spPr>
          <a:xfrm>
            <a:off x="6172200" y="3093442"/>
            <a:ext cx="2527300" cy="1427262"/>
          </a:xfrm>
          <a:prstGeom prst="roundRect">
            <a:avLst>
              <a:gd name="adj" fmla="val 8898"/>
            </a:avLst>
          </a:prstGeom>
          <a:solidFill>
            <a:srgbClr val="141A2E"/>
          </a:solidFill>
          <a:ln/>
        </p:spPr>
      </p:sp>
      <p:sp>
        <p:nvSpPr>
          <p:cNvPr id="28" name="Text 26"/>
          <p:cNvSpPr/>
          <p:nvPr/>
        </p:nvSpPr>
        <p:spPr>
          <a:xfrm>
            <a:off x="6337300" y="3258542"/>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Exoplanet Archive</a:t>
            </a:r>
            <a:endParaRPr lang="en-US" sz="1600" dirty="0"/>
          </a:p>
        </p:txBody>
      </p:sp>
      <p:sp>
        <p:nvSpPr>
          <p:cNvPr id="29" name="Text 27"/>
          <p:cNvSpPr/>
          <p:nvPr/>
        </p:nvSpPr>
        <p:spPr>
          <a:xfrm>
            <a:off x="6337300" y="3565823"/>
            <a:ext cx="22630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Confirmed planets, queried like a table</a:t>
            </a:r>
            <a:endParaRPr lang="en-US" sz="1300" dirty="0"/>
          </a:p>
        </p:txBody>
      </p:sp>
      <p:sp>
        <p:nvSpPr>
          <p:cNvPr id="30" name="Text 28"/>
          <p:cNvSpPr/>
          <p:nvPr/>
        </p:nvSpPr>
        <p:spPr>
          <a:xfrm>
            <a:off x="6337300" y="4091484"/>
            <a:ext cx="691158" cy="264120"/>
          </a:xfrm>
          <a:custGeom>
            <a:avLst/>
            <a:gdLst/>
            <a:ahLst/>
            <a:cxnLst/>
            <a:rect l="l" t="t" r="r" b="b"/>
            <a:pathLst>
              <a:path w="691158" h="264120">
                <a:moveTo>
                  <a:pt x="132060" y="0"/>
                </a:moveTo>
                <a:lnTo>
                  <a:pt x="559098" y="0"/>
                </a:lnTo>
                <a:arcTo hR="132060" wR="132060" stAng="16200000" swAng="5400000"/>
                <a:lnTo>
                  <a:pt x="691158" y="132060"/>
                </a:lnTo>
                <a:arcTo hR="132060" wR="132060" stAng="0" swAng="5400000"/>
                <a:lnTo>
                  <a:pt x="132060" y="264120"/>
                </a:lnTo>
                <a:arcTo hR="132060" wR="132060" stAng="5400000" swAng="5400000"/>
                <a:lnTo>
                  <a:pt x="0" y="132060"/>
                </a:lnTo>
                <a:arcTo hR="132060" wR="132060" stAng="10800000" swAng="5400000"/>
                <a:close/>
              </a:path>
            </a:pathLst>
          </a:custGeom>
          <a:solidFill>
            <a:srgbClr val="3DDC97"/>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no key</a:t>
            </a:r>
            <a:endParaRPr lang="en-US" sz="1200" dirty="0"/>
          </a:p>
        </p:txBody>
      </p:sp>
      <p:sp>
        <p:nvSpPr>
          <p:cNvPr id="31" name="Shape 29"/>
          <p:cNvSpPr/>
          <p:nvPr/>
        </p:nvSpPr>
        <p:spPr>
          <a:xfrm>
            <a:off x="8851900" y="3093442"/>
            <a:ext cx="2527300" cy="1427262"/>
          </a:xfrm>
          <a:prstGeom prst="roundRect">
            <a:avLst>
              <a:gd name="adj" fmla="val 8898"/>
            </a:avLst>
          </a:prstGeom>
          <a:solidFill>
            <a:srgbClr val="141A2E"/>
          </a:solidFill>
          <a:ln/>
        </p:spPr>
      </p:sp>
      <p:sp>
        <p:nvSpPr>
          <p:cNvPr id="32" name="Text 30"/>
          <p:cNvSpPr/>
          <p:nvPr/>
        </p:nvSpPr>
        <p:spPr>
          <a:xfrm>
            <a:off x="9017000" y="3258542"/>
            <a:ext cx="22630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A"/>
                </a:solidFill>
                <a:latin typeface="Space Grotesk" pitchFamily="34" charset="0"/>
                <a:ea typeface="Space Grotesk" pitchFamily="34" charset="-122"/>
                <a:cs typeface="Space Grotesk" pitchFamily="34" charset="-120"/>
              </a:rPr>
              <a:t>Earthdata</a:t>
            </a:r>
            <a:endParaRPr lang="en-US" sz="1600" dirty="0"/>
          </a:p>
        </p:txBody>
      </p:sp>
      <p:sp>
        <p:nvSpPr>
          <p:cNvPr id="33" name="Text 31"/>
          <p:cNvSpPr/>
          <p:nvPr/>
        </p:nvSpPr>
        <p:spPr>
          <a:xfrm>
            <a:off x="9017000" y="3565823"/>
            <a:ext cx="22630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Big satellite datasets, mostly file downloads</a:t>
            </a:r>
            <a:endParaRPr lang="en-US" sz="1300" dirty="0"/>
          </a:p>
        </p:txBody>
      </p:sp>
      <p:sp>
        <p:nvSpPr>
          <p:cNvPr id="34" name="Text 32"/>
          <p:cNvSpPr/>
          <p:nvPr/>
        </p:nvSpPr>
        <p:spPr>
          <a:xfrm>
            <a:off x="9017000" y="4091484"/>
            <a:ext cx="902395" cy="264120"/>
          </a:xfrm>
          <a:custGeom>
            <a:avLst/>
            <a:gdLst/>
            <a:ahLst/>
            <a:cxnLst/>
            <a:rect l="l" t="t" r="r" b="b"/>
            <a:pathLst>
              <a:path w="902395" h="264120">
                <a:moveTo>
                  <a:pt x="132060" y="0"/>
                </a:moveTo>
                <a:lnTo>
                  <a:pt x="770334" y="0"/>
                </a:lnTo>
                <a:arcTo hR="132060" wR="132060" stAng="16200000" swAng="5400000"/>
                <a:lnTo>
                  <a:pt x="902395" y="132060"/>
                </a:lnTo>
                <a:arcTo hR="132060" wR="132060" stAng="0" swAng="5400000"/>
                <a:lnTo>
                  <a:pt x="132060" y="264120"/>
                </a:lnTo>
                <a:arcTo hR="132060" wR="132060" stAng="5400000" swAng="5400000"/>
                <a:lnTo>
                  <a:pt x="0" y="132060"/>
                </a:lnTo>
                <a:arcTo hR="132060" wR="132060" stAng="10800000" swAng="5400000"/>
                <a:close/>
              </a:path>
            </a:pathLst>
          </a:custGeom>
          <a:solidFill>
            <a:srgbClr val="6EA8FF"/>
          </a:solidFill>
          <a:ln/>
        </p:spPr>
        <p:txBody>
          <a:bodyPr wrap="none" lIns="0" tIns="0" rIns="0" bIns="0" rtlCol="0" anchor="ctr">
            <a:normAutofit/>
          </a:bodyPr>
          <a:lstStyle/>
          <a:p>
            <a:pPr algn="ctr" indent="0" marL="0">
              <a:lnSpc>
                <a:spcPts val="1680"/>
              </a:lnSpc>
              <a:buNone/>
            </a:pPr>
            <a:r>
              <a:rPr lang="en-US" sz="1200" b="1" dirty="0">
                <a:solidFill>
                  <a:srgbClr val="06070D"/>
                </a:solidFill>
                <a:latin typeface="IBM Plex Sans" pitchFamily="34" charset="0"/>
                <a:ea typeface="IBM Plex Sans" pitchFamily="34" charset="-122"/>
                <a:cs typeface="IBM Plex Sans" pitchFamily="34" charset="-120"/>
              </a:rPr>
              <a:t>free login</a:t>
            </a:r>
            <a:endParaRPr lang="en-US" sz="1200" dirty="0"/>
          </a:p>
        </p:txBody>
      </p:sp>
      <p:sp>
        <p:nvSpPr>
          <p:cNvPr id="35" name="Text 33"/>
          <p:cNvSpPr/>
          <p:nvPr/>
        </p:nvSpPr>
        <p:spPr>
          <a:xfrm>
            <a:off x="812800" y="477470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Start from your need, then pick the source. Always check each one’s docs and limits.</a:t>
            </a:r>
            <a:endParaRPr lang="en-US" sz="1500" dirty="0"/>
          </a:p>
        </p:txBody>
      </p:sp>
      <p:pic>
        <p:nvPicPr>
          <p:cNvPr id="36"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Which NASA source for which need?</a:t>
            </a:r>
            <a:endParaRPr lang="en-US" sz="3200" dirty="0"/>
          </a:p>
        </p:txBody>
      </p:sp>
      <p:sp>
        <p:nvSpPr>
          <p:cNvPr id="3" name="Shape 1"/>
          <p:cNvSpPr/>
          <p:nvPr/>
        </p:nvSpPr>
        <p:spPr>
          <a:xfrm>
            <a:off x="812800" y="1488380"/>
            <a:ext cx="3420467" cy="848221"/>
          </a:xfrm>
          <a:prstGeom prst="roundRect">
            <a:avLst>
              <a:gd name="adj" fmla="val 14973"/>
            </a:avLst>
          </a:prstGeom>
          <a:solidFill>
            <a:srgbClr val="141A2E"/>
          </a:solidFill>
          <a:ln/>
        </p:spPr>
      </p:sp>
      <p:sp>
        <p:nvSpPr>
          <p:cNvPr id="4" name="Text 2"/>
          <p:cNvSpPr/>
          <p:nvPr/>
        </p:nvSpPr>
        <p:spPr>
          <a:xfrm>
            <a:off x="1016000" y="1640780"/>
            <a:ext cx="310448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6EA8FF"/>
                </a:solidFill>
                <a:latin typeface="Space Grotesk" pitchFamily="34" charset="0"/>
                <a:ea typeface="Space Grotesk" pitchFamily="34" charset="-122"/>
                <a:cs typeface="Space Grotesk" pitchFamily="34" charset="-120"/>
              </a:rPr>
              <a:t>API</a:t>
            </a:r>
            <a:endParaRPr lang="en-US" sz="1800" dirty="0"/>
          </a:p>
        </p:txBody>
      </p:sp>
      <p:sp>
        <p:nvSpPr>
          <p:cNvPr id="5" name="Text 3"/>
          <p:cNvSpPr/>
          <p:nvPr/>
        </p:nvSpPr>
        <p:spPr>
          <a:xfrm>
            <a:off x="1016000" y="1953121"/>
            <a:ext cx="31044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Live, small, filtered. Today’s focus</a:t>
            </a:r>
            <a:endParaRPr lang="en-US" sz="1300" dirty="0"/>
          </a:p>
        </p:txBody>
      </p:sp>
      <p:sp>
        <p:nvSpPr>
          <p:cNvPr id="6" name="Shape 4"/>
          <p:cNvSpPr/>
          <p:nvPr/>
        </p:nvSpPr>
        <p:spPr>
          <a:xfrm>
            <a:off x="4385667" y="1488380"/>
            <a:ext cx="3420566" cy="848221"/>
          </a:xfrm>
          <a:prstGeom prst="roundRect">
            <a:avLst>
              <a:gd name="adj" fmla="val 14973"/>
            </a:avLst>
          </a:prstGeom>
          <a:solidFill>
            <a:srgbClr val="141A2E"/>
          </a:solidFill>
          <a:ln/>
        </p:spPr>
      </p:sp>
      <p:sp>
        <p:nvSpPr>
          <p:cNvPr id="7" name="Text 5"/>
          <p:cNvSpPr/>
          <p:nvPr/>
        </p:nvSpPr>
        <p:spPr>
          <a:xfrm>
            <a:off x="4588867" y="1640780"/>
            <a:ext cx="310459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B347"/>
                </a:solidFill>
                <a:latin typeface="Space Grotesk" pitchFamily="34" charset="0"/>
                <a:ea typeface="Space Grotesk" pitchFamily="34" charset="-122"/>
                <a:cs typeface="Space Grotesk" pitchFamily="34" charset="-120"/>
              </a:rPr>
              <a:t>File download</a:t>
            </a:r>
            <a:endParaRPr lang="en-US" sz="1800" dirty="0"/>
          </a:p>
        </p:txBody>
      </p:sp>
      <p:sp>
        <p:nvSpPr>
          <p:cNvPr id="8" name="Text 6"/>
          <p:cNvSpPr/>
          <p:nvPr/>
        </p:nvSpPr>
        <p:spPr>
          <a:xfrm>
            <a:off x="4588867" y="195312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Big, bulk datasets (e.g. Earthdata)</a:t>
            </a:r>
            <a:endParaRPr lang="en-US" sz="1300" dirty="0"/>
          </a:p>
        </p:txBody>
      </p:sp>
      <p:sp>
        <p:nvSpPr>
          <p:cNvPr id="9" name="Shape 7"/>
          <p:cNvSpPr/>
          <p:nvPr/>
        </p:nvSpPr>
        <p:spPr>
          <a:xfrm>
            <a:off x="7958634" y="1488380"/>
            <a:ext cx="3420566" cy="848221"/>
          </a:xfrm>
          <a:prstGeom prst="roundRect">
            <a:avLst>
              <a:gd name="adj" fmla="val 14973"/>
            </a:avLst>
          </a:prstGeom>
          <a:solidFill>
            <a:srgbClr val="141A2E"/>
          </a:solidFill>
          <a:ln/>
        </p:spPr>
      </p:sp>
      <p:sp>
        <p:nvSpPr>
          <p:cNvPr id="10" name="Text 8"/>
          <p:cNvSpPr/>
          <p:nvPr/>
        </p:nvSpPr>
        <p:spPr>
          <a:xfrm>
            <a:off x="8161834" y="1640780"/>
            <a:ext cx="310459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DDC97"/>
                </a:solidFill>
                <a:latin typeface="Space Grotesk" pitchFamily="34" charset="0"/>
                <a:ea typeface="Space Grotesk" pitchFamily="34" charset="-122"/>
                <a:cs typeface="Space Grotesk" pitchFamily="34" charset="-120"/>
              </a:rPr>
              <a:t>Ready tool</a:t>
            </a:r>
            <a:endParaRPr lang="en-US" sz="1800" dirty="0"/>
          </a:p>
        </p:txBody>
      </p:sp>
      <p:sp>
        <p:nvSpPr>
          <p:cNvPr id="11" name="Text 9"/>
          <p:cNvSpPr/>
          <p:nvPr/>
        </p:nvSpPr>
        <p:spPr>
          <a:xfrm>
            <a:off x="8161834" y="195312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Explore first (e.g. NASA Worldview)</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2577902"/>
          <a:ext cx="10553700" cy="2514898"/>
        </p:xfrm>
        <a:graphic>
          <a:graphicData uri="http://schemas.openxmlformats.org/drawingml/2006/table">
            <a:tbl>
              <a:tblPr/>
              <a:tblGrid>
                <a:gridCol w="3799332"/>
                <a:gridCol w="2110740"/>
                <a:gridCol w="1055370"/>
                <a:gridCol w="3588258"/>
              </a:tblGrid>
              <a:tr h="359271">
                <a:tc>
                  <a:txBody>
                    <a:bodyPr/>
                    <a:lstStyle/>
                    <a:p>
                      <a:pPr indent="0" marL="0">
                        <a:lnSpc>
                          <a:spcPts val="1820"/>
                        </a:lnSpc>
                        <a:buNone/>
                      </a:pPr>
                      <a:r>
                        <a:rPr lang="en-US" sz="1300" b="1" dirty="0">
                          <a:solidFill>
                            <a:srgbClr val="9AA3B8"/>
                          </a:solidFill>
                          <a:latin typeface="IBM Plex Sans" pitchFamily="34" charset="0"/>
                          <a:ea typeface="IBM Plex Sans" pitchFamily="34" charset="-122"/>
                          <a:cs typeface="IBM Plex Sans" pitchFamily="34" charset="-120"/>
                        </a:rPr>
                        <a:t>Need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9AA3B8"/>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9AA3B8"/>
                          </a:solidFill>
                          <a:latin typeface="IBM Plex Sans" pitchFamily="34" charset="0"/>
                          <a:ea typeface="IBM Plex Sans" pitchFamily="34" charset="-122"/>
                          <a:cs typeface="IBM Plex Sans" pitchFamily="34" charset="-120"/>
                        </a:rPr>
                        <a:t>Key?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820"/>
                        </a:lnSpc>
                        <a:buNone/>
                      </a:pPr>
                      <a:r>
                        <a:rPr lang="en-US" sz="1300" b="1" dirty="0">
                          <a:solidFill>
                            <a:srgbClr val="9AA3B8"/>
                          </a:solidFill>
                          <a:latin typeface="IBM Plex Sans" pitchFamily="34" charset="0"/>
                          <a:ea typeface="IBM Plex Sans" pitchFamily="34" charset="-122"/>
                          <a:cs typeface="IBM Plex Sans" pitchFamily="34" charset="-120"/>
                        </a:rPr>
                        <a:t>Watch 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Asteroids passing this week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NeoWs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free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7-day max; numbers as 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Whole-Earth photo for a 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EPIC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free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Empty list if no photos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Weather history for a place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NASA POWER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-999 means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Size and orbit of one asteroid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JPL Small-Body DB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Look up by name or 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Earthquakes (partner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USGS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none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Time in ms; lon, lat order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Space picture of the 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APOD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free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820"/>
                        </a:lnSpc>
                        <a:buNone/>
                      </a:pPr>
                      <a:r>
                        <a:rPr lang="en-US" sz="1300" dirty="0">
                          <a:solidFill>
                            <a:srgbClr val="FFB347"/>
                          </a:solidFill>
                          <a:latin typeface="IBM Plex Sans" pitchFamily="34" charset="0"/>
                          <a:ea typeface="IBM Plex Sans" pitchFamily="34" charset="-122"/>
                          <a:cs typeface="IBM Plex Sans" pitchFamily="34" charset="-120"/>
                        </a:rPr>
                        <a:t>Placeholder data this week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bl>
          </a:graphicData>
        </a:graphic>
      </p:graphicFrame>
      <p:pic>
        <p:nvPicPr>
          <p:cNvPr id="13"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How to dissect a winning project</a:t>
            </a:r>
            <a:endParaRPr lang="en-US" sz="3200" dirty="0"/>
          </a:p>
        </p:txBody>
      </p:sp>
      <p:sp>
        <p:nvSpPr>
          <p:cNvPr id="3" name="Shape 1"/>
          <p:cNvSpPr/>
          <p:nvPr/>
        </p:nvSpPr>
        <p:spPr>
          <a:xfrm>
            <a:off x="812800" y="1564580"/>
            <a:ext cx="3420467" cy="1320602"/>
          </a:xfrm>
          <a:prstGeom prst="roundRect">
            <a:avLst>
              <a:gd name="adj" fmla="val 9617"/>
            </a:avLst>
          </a:prstGeom>
          <a:solidFill>
            <a:srgbClr val="141A2E"/>
          </a:solidFill>
          <a:ln/>
        </p:spPr>
      </p:sp>
      <p:sp>
        <p:nvSpPr>
          <p:cNvPr id="4" name="Text 2"/>
          <p:cNvSpPr/>
          <p:nvPr/>
        </p:nvSpPr>
        <p:spPr>
          <a:xfrm>
            <a:off x="1016000" y="1767780"/>
            <a:ext cx="31044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1016000" y="2080121"/>
            <a:ext cx="310448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4F5FA"/>
                </a:solidFill>
                <a:latin typeface="Space Grotesk" pitchFamily="34" charset="0"/>
                <a:ea typeface="Space Grotesk" pitchFamily="34" charset="-122"/>
                <a:cs typeface="Space Grotesk" pitchFamily="34" charset="-120"/>
              </a:rPr>
              <a:t>Problem</a:t>
            </a:r>
            <a:endParaRPr lang="en-US" sz="1900" dirty="0"/>
          </a:p>
        </p:txBody>
      </p:sp>
      <p:sp>
        <p:nvSpPr>
          <p:cNvPr id="6" name="Text 4"/>
          <p:cNvSpPr/>
          <p:nvPr/>
        </p:nvSpPr>
        <p:spPr>
          <a:xfrm>
            <a:off x="1016000" y="2433141"/>
            <a:ext cx="31044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What need were they solving?</a:t>
            </a:r>
            <a:endParaRPr lang="en-US" sz="1400" dirty="0"/>
          </a:p>
        </p:txBody>
      </p:sp>
      <p:sp>
        <p:nvSpPr>
          <p:cNvPr id="7" name="Shape 5"/>
          <p:cNvSpPr/>
          <p:nvPr/>
        </p:nvSpPr>
        <p:spPr>
          <a:xfrm>
            <a:off x="4385667" y="1564580"/>
            <a:ext cx="3420566" cy="1320602"/>
          </a:xfrm>
          <a:prstGeom prst="roundRect">
            <a:avLst>
              <a:gd name="adj" fmla="val 9617"/>
            </a:avLst>
          </a:prstGeom>
          <a:solidFill>
            <a:srgbClr val="141A2E"/>
          </a:solidFill>
          <a:ln/>
        </p:spPr>
      </p:sp>
      <p:sp>
        <p:nvSpPr>
          <p:cNvPr id="8" name="Text 6"/>
          <p:cNvSpPr/>
          <p:nvPr/>
        </p:nvSpPr>
        <p:spPr>
          <a:xfrm>
            <a:off x="4588867" y="1767780"/>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4588867" y="2080121"/>
            <a:ext cx="310459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4F5FA"/>
                </a:solidFill>
                <a:latin typeface="Space Grotesk" pitchFamily="34" charset="0"/>
                <a:ea typeface="Space Grotesk" pitchFamily="34" charset="-122"/>
                <a:cs typeface="Space Grotesk" pitchFamily="34" charset="-120"/>
              </a:rPr>
              <a:t>Data sources</a:t>
            </a:r>
            <a:endParaRPr lang="en-US" sz="1900" dirty="0"/>
          </a:p>
        </p:txBody>
      </p:sp>
      <p:sp>
        <p:nvSpPr>
          <p:cNvPr id="10" name="Text 8"/>
          <p:cNvSpPr/>
          <p:nvPr/>
        </p:nvSpPr>
        <p:spPr>
          <a:xfrm>
            <a:off x="4588867" y="2433141"/>
            <a:ext cx="31045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Which APIs and files did they use?</a:t>
            </a:r>
            <a:endParaRPr lang="en-US" sz="1400" dirty="0"/>
          </a:p>
        </p:txBody>
      </p:sp>
      <p:sp>
        <p:nvSpPr>
          <p:cNvPr id="11" name="Shape 9"/>
          <p:cNvSpPr/>
          <p:nvPr/>
        </p:nvSpPr>
        <p:spPr>
          <a:xfrm>
            <a:off x="7958634" y="1564580"/>
            <a:ext cx="3420566" cy="1320602"/>
          </a:xfrm>
          <a:prstGeom prst="roundRect">
            <a:avLst>
              <a:gd name="adj" fmla="val 9617"/>
            </a:avLst>
          </a:prstGeom>
          <a:solidFill>
            <a:srgbClr val="141A2E"/>
          </a:solidFill>
          <a:ln/>
        </p:spPr>
      </p:sp>
      <p:sp>
        <p:nvSpPr>
          <p:cNvPr id="12" name="Text 10"/>
          <p:cNvSpPr/>
          <p:nvPr/>
        </p:nvSpPr>
        <p:spPr>
          <a:xfrm>
            <a:off x="8161834" y="1767780"/>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8161834" y="2080121"/>
            <a:ext cx="310459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4F5FA"/>
                </a:solidFill>
                <a:latin typeface="Space Grotesk" pitchFamily="34" charset="0"/>
                <a:ea typeface="Space Grotesk" pitchFamily="34" charset="-122"/>
                <a:cs typeface="Space Grotesk" pitchFamily="34" charset="-120"/>
              </a:rPr>
              <a:t>Integration point</a:t>
            </a:r>
            <a:endParaRPr lang="en-US" sz="1900" dirty="0"/>
          </a:p>
        </p:txBody>
      </p:sp>
      <p:sp>
        <p:nvSpPr>
          <p:cNvPr id="14" name="Text 12"/>
          <p:cNvSpPr/>
          <p:nvPr/>
        </p:nvSpPr>
        <p:spPr>
          <a:xfrm>
            <a:off x="8161834" y="2433141"/>
            <a:ext cx="32173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Which shared field joins the sources?</a:t>
            </a:r>
            <a:endParaRPr lang="en-US" sz="1400" dirty="0"/>
          </a:p>
        </p:txBody>
      </p:sp>
      <p:sp>
        <p:nvSpPr>
          <p:cNvPr id="15" name="Shape 13"/>
          <p:cNvSpPr/>
          <p:nvPr/>
        </p:nvSpPr>
        <p:spPr>
          <a:xfrm>
            <a:off x="812800" y="3037582"/>
            <a:ext cx="3420467" cy="1320602"/>
          </a:xfrm>
          <a:prstGeom prst="roundRect">
            <a:avLst>
              <a:gd name="adj" fmla="val 9617"/>
            </a:avLst>
          </a:prstGeom>
          <a:solidFill>
            <a:srgbClr val="141A2E"/>
          </a:solidFill>
          <a:ln/>
        </p:spPr>
      </p:sp>
      <p:sp>
        <p:nvSpPr>
          <p:cNvPr id="16" name="Text 14"/>
          <p:cNvSpPr/>
          <p:nvPr/>
        </p:nvSpPr>
        <p:spPr>
          <a:xfrm>
            <a:off x="1016000" y="3240782"/>
            <a:ext cx="31044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1016000" y="3553123"/>
            <a:ext cx="310448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4F5FA"/>
                </a:solidFill>
                <a:latin typeface="Space Grotesk" pitchFamily="34" charset="0"/>
                <a:ea typeface="Space Grotesk" pitchFamily="34" charset="-122"/>
                <a:cs typeface="Space Grotesk" pitchFamily="34" charset="-120"/>
              </a:rPr>
              <a:t>Engineering risks</a:t>
            </a:r>
            <a:endParaRPr lang="en-US" sz="1900" dirty="0"/>
          </a:p>
        </p:txBody>
      </p:sp>
      <p:sp>
        <p:nvSpPr>
          <p:cNvPr id="18" name="Text 16"/>
          <p:cNvSpPr/>
          <p:nvPr/>
        </p:nvSpPr>
        <p:spPr>
          <a:xfrm>
            <a:off x="1016000" y="3906143"/>
            <a:ext cx="31044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What could fail on demo day?</a:t>
            </a:r>
            <a:endParaRPr lang="en-US" sz="1400" dirty="0"/>
          </a:p>
        </p:txBody>
      </p:sp>
      <p:sp>
        <p:nvSpPr>
          <p:cNvPr id="19" name="Shape 17"/>
          <p:cNvSpPr/>
          <p:nvPr/>
        </p:nvSpPr>
        <p:spPr>
          <a:xfrm>
            <a:off x="4385667" y="3037582"/>
            <a:ext cx="3420566" cy="1320602"/>
          </a:xfrm>
          <a:prstGeom prst="roundRect">
            <a:avLst>
              <a:gd name="adj" fmla="val 9617"/>
            </a:avLst>
          </a:prstGeom>
          <a:solidFill>
            <a:srgbClr val="141A2E"/>
          </a:solidFill>
          <a:ln/>
        </p:spPr>
      </p:sp>
      <p:sp>
        <p:nvSpPr>
          <p:cNvPr id="20" name="Text 18"/>
          <p:cNvSpPr/>
          <p:nvPr/>
        </p:nvSpPr>
        <p:spPr>
          <a:xfrm>
            <a:off x="4588867" y="3240782"/>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4588867" y="3553123"/>
            <a:ext cx="310459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4F5FA"/>
                </a:solidFill>
                <a:latin typeface="Space Grotesk" pitchFamily="34" charset="0"/>
                <a:ea typeface="Space Grotesk" pitchFamily="34" charset="-122"/>
                <a:cs typeface="Space Grotesk" pitchFamily="34" charset="-120"/>
              </a:rPr>
              <a:t>Fallbacks</a:t>
            </a:r>
            <a:endParaRPr lang="en-US" sz="1900" dirty="0"/>
          </a:p>
        </p:txBody>
      </p:sp>
      <p:sp>
        <p:nvSpPr>
          <p:cNvPr id="22" name="Text 20"/>
          <p:cNvSpPr/>
          <p:nvPr/>
        </p:nvSpPr>
        <p:spPr>
          <a:xfrm>
            <a:off x="4588867" y="3906143"/>
            <a:ext cx="31045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What keeps the demo alive?</a:t>
            </a:r>
            <a:endParaRPr lang="en-US" sz="1400" dirty="0"/>
          </a:p>
        </p:txBody>
      </p:sp>
      <p:sp>
        <p:nvSpPr>
          <p:cNvPr id="23" name="Shape 21"/>
          <p:cNvSpPr/>
          <p:nvPr/>
        </p:nvSpPr>
        <p:spPr>
          <a:xfrm>
            <a:off x="7958634" y="3037582"/>
            <a:ext cx="3420566" cy="1320602"/>
          </a:xfrm>
          <a:prstGeom prst="roundRect">
            <a:avLst>
              <a:gd name="adj" fmla="val 9617"/>
            </a:avLst>
          </a:prstGeom>
          <a:solidFill>
            <a:srgbClr val="141A2E"/>
          </a:solidFill>
          <a:ln/>
        </p:spPr>
      </p:sp>
      <p:sp>
        <p:nvSpPr>
          <p:cNvPr id="24" name="Text 22"/>
          <p:cNvSpPr/>
          <p:nvPr/>
        </p:nvSpPr>
        <p:spPr>
          <a:xfrm>
            <a:off x="8161834" y="3240782"/>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06</a:t>
            </a:r>
            <a:endParaRPr lang="en-US" sz="1400" dirty="0"/>
          </a:p>
        </p:txBody>
      </p:sp>
      <p:sp>
        <p:nvSpPr>
          <p:cNvPr id="25" name="Text 23"/>
          <p:cNvSpPr/>
          <p:nvPr/>
        </p:nvSpPr>
        <p:spPr>
          <a:xfrm>
            <a:off x="8161834" y="3553123"/>
            <a:ext cx="310459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4F5FA"/>
                </a:solidFill>
                <a:latin typeface="Space Grotesk" pitchFamily="34" charset="0"/>
                <a:ea typeface="Space Grotesk" pitchFamily="34" charset="-122"/>
                <a:cs typeface="Space Grotesk" pitchFamily="34" charset="-120"/>
              </a:rPr>
              <a:t>Why it stands out</a:t>
            </a:r>
            <a:endParaRPr lang="en-US" sz="1900" dirty="0"/>
          </a:p>
        </p:txBody>
      </p:sp>
      <p:sp>
        <p:nvSpPr>
          <p:cNvPr id="26" name="Text 24"/>
          <p:cNvSpPr/>
          <p:nvPr/>
        </p:nvSpPr>
        <p:spPr>
          <a:xfrm>
            <a:off x="8161834" y="3906143"/>
            <a:ext cx="31045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What makes judges remember it?</a:t>
            </a:r>
            <a:endParaRPr lang="en-US" sz="1400" dirty="0"/>
          </a:p>
        </p:txBody>
      </p:sp>
      <p:sp>
        <p:nvSpPr>
          <p:cNvPr id="27" name="Text 25"/>
          <p:cNvSpPr/>
          <p:nvPr/>
        </p:nvSpPr>
        <p:spPr>
          <a:xfrm>
            <a:off x="812800" y="466298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We use these six questions on three 2025 projects: </a:t>
            </a:r>
            <a:r>
              <a:rPr lang="en-US" sz="1500" b="1" dirty="0">
                <a:solidFill>
                  <a:srgbClr val="F4F5FA"/>
                </a:solidFill>
                <a:latin typeface="IBM Plex Sans" pitchFamily="34" charset="0"/>
                <a:ea typeface="IBM Plex Sans" pitchFamily="34" charset="-122"/>
                <a:cs typeface="IBM Plex Sans" pitchFamily="34" charset="-120"/>
              </a:rPr>
              <a:t>SkySense, Meteor Shield and TechNova</a:t>
            </a:r>
            <a:r>
              <a:rPr lang="en-US" sz="1500" dirty="0">
                <a:solidFill>
                  <a:srgbClr val="BFC6D8"/>
                </a:solidFill>
                <a:latin typeface="IBM Plex Sans" pitchFamily="34" charset="0"/>
                <a:ea typeface="IBM Plex Sans" pitchFamily="34" charset="-122"/>
                <a:cs typeface="IBM Plex Sans" pitchFamily="34" charset="-120"/>
              </a:rPr>
              <a:t>.</a:t>
            </a:r>
            <a:endParaRPr lang="en-US" sz="1500" dirty="0"/>
          </a:p>
        </p:txBody>
      </p:sp>
      <p:pic>
        <p:nvPicPr>
          <p:cNvPr id="28"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SkySense: many sources, one score</a:t>
            </a:r>
            <a:endParaRPr lang="en-US" sz="3200" dirty="0"/>
          </a:p>
        </p:txBody>
      </p:sp>
      <p:sp>
        <p:nvSpPr>
          <p:cNvPr id="3" name="Shape 1"/>
          <p:cNvSpPr/>
          <p:nvPr/>
        </p:nvSpPr>
        <p:spPr>
          <a:xfrm>
            <a:off x="812800" y="1513780"/>
            <a:ext cx="4826000" cy="3016250"/>
          </a:xfrm>
          <a:prstGeom prst="roundRect">
            <a:avLst>
              <a:gd name="adj" fmla="val 3368"/>
            </a:avLst>
          </a:prstGeom>
          <a:solidFill>
            <a:srgbClr val="0D1120"/>
          </a:solidFill>
          <a:ln/>
        </p:spPr>
      </p:sp>
      <p:pic>
        <p:nvPicPr>
          <p:cNvPr id="4" name="Image 0" descr="Screenshot of the Twisters team page on the Space Apps site, showing the Best Use of Technology winner badge">    </p:cNvPr>
          <p:cNvPicPr>
            <a:picLocks noChangeAspect="1"/>
          </p:cNvPicPr>
          <p:nvPr/>
        </p:nvPicPr>
        <p:blipFill>
          <a:blip r:embed="rId1"/>
          <a:srcRect l="0" r="0" t="0" b="0"/>
          <a:stretch/>
        </p:blipFill>
        <p:spPr>
          <a:xfrm>
            <a:off x="812800" y="1513780"/>
            <a:ext cx="4826000" cy="3016250"/>
          </a:xfrm>
          <a:prstGeom prst="roundRect">
            <a:avLst>
              <a:gd name="adj" fmla="val 3368"/>
            </a:avLst>
          </a:prstGeom>
        </p:spPr>
      </p:pic>
      <p:sp>
        <p:nvSpPr>
          <p:cNvPr id="5" name="Text 2"/>
          <p:cNvSpPr/>
          <p:nvPr/>
        </p:nvSpPr>
        <p:spPr>
          <a:xfrm>
            <a:off x="5943600" y="1513780"/>
            <a:ext cx="5598668"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3B1F"/>
                </a:solidFill>
                <a:latin typeface="IBM Plex Sans" pitchFamily="34" charset="0"/>
                <a:ea typeface="IBM Plex Sans" pitchFamily="34" charset="-122"/>
                <a:cs typeface="IBM Plex Sans" pitchFamily="34" charset="-120"/>
              </a:rPr>
              <a:t>2025 · GLOBAL WINNER</a:t>
            </a:r>
            <a:endParaRPr lang="en-US" sz="1400" dirty="0"/>
          </a:p>
        </p:txBody>
      </p:sp>
      <p:sp>
        <p:nvSpPr>
          <p:cNvPr id="6" name="Text 3"/>
          <p:cNvSpPr/>
          <p:nvPr/>
        </p:nvSpPr>
        <p:spPr>
          <a:xfrm>
            <a:off x="5943600" y="1826121"/>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9AA3B8"/>
                </a:solidFill>
                <a:latin typeface="IBM Plex Sans" pitchFamily="34" charset="0"/>
                <a:ea typeface="IBM Plex Sans" pitchFamily="34" charset="-122"/>
                <a:cs typeface="IBM Plex Sans" pitchFamily="34" charset="-120"/>
              </a:rPr>
              <a:t>Will It Rain On My Parade? · Twisters (Mexico) · Best Use of Technology</a:t>
            </a:r>
            <a:endParaRPr lang="en-US" sz="1300" dirty="0"/>
          </a:p>
        </p:txBody>
      </p:sp>
      <p:sp>
        <p:nvSpPr>
          <p:cNvPr id="7" name="Text 4"/>
          <p:cNvSpPr/>
          <p:nvPr/>
        </p:nvSpPr>
        <p:spPr>
          <a:xfrm>
            <a:off x="5943600" y="2112466"/>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A8FF"/>
                </a:solidFill>
                <a:latin typeface="IBM Plex Sans" pitchFamily="34" charset="0"/>
                <a:ea typeface="IBM Plex Sans" pitchFamily="34" charset="-122"/>
                <a:cs typeface="IBM Plex Sans" pitchFamily="34" charset="-120"/>
              </a:rPr>
              <a:t>DATA SOURCES</a:t>
            </a:r>
            <a:endParaRPr lang="en-US" sz="1200" dirty="0"/>
          </a:p>
        </p:txBody>
      </p:sp>
      <p:sp>
        <p:nvSpPr>
          <p:cNvPr id="8" name="Text 5"/>
          <p:cNvSpPr/>
          <p:nvPr/>
        </p:nvSpPr>
        <p:spPr>
          <a:xfrm>
            <a:off x="5943600" y="2325787"/>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NASA POWER history, a live forecast, Google and Gemini AI</a:t>
            </a:r>
            <a:endParaRPr lang="en-US" sz="1300" dirty="0"/>
          </a:p>
        </p:txBody>
      </p:sp>
      <p:sp>
        <p:nvSpPr>
          <p:cNvPr id="9" name="Text 6"/>
          <p:cNvSpPr/>
          <p:nvPr/>
        </p:nvSpPr>
        <p:spPr>
          <a:xfrm>
            <a:off x="5943600" y="2612132"/>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A8FF"/>
                </a:solidFill>
                <a:latin typeface="IBM Plex Sans" pitchFamily="34" charset="0"/>
                <a:ea typeface="IBM Plex Sans" pitchFamily="34" charset="-122"/>
                <a:cs typeface="IBM Plex Sans" pitchFamily="34" charset="-120"/>
              </a:rPr>
              <a:t>INTEGRATION POINT</a:t>
            </a:r>
            <a:endParaRPr lang="en-US" sz="1200" dirty="0"/>
          </a:p>
        </p:txBody>
      </p:sp>
      <p:sp>
        <p:nvSpPr>
          <p:cNvPr id="10" name="Text 7"/>
          <p:cNvSpPr/>
          <p:nvPr/>
        </p:nvSpPr>
        <p:spPr>
          <a:xfrm>
            <a:off x="5943600" y="2825452"/>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Place (lat, lon) and date. That shared field is the join.</a:t>
            </a:r>
            <a:endParaRPr lang="en-US" sz="1300" dirty="0"/>
          </a:p>
        </p:txBody>
      </p:sp>
      <p:sp>
        <p:nvSpPr>
          <p:cNvPr id="11" name="Text 8"/>
          <p:cNvSpPr/>
          <p:nvPr/>
        </p:nvSpPr>
        <p:spPr>
          <a:xfrm>
            <a:off x="5943600" y="3111798"/>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A8FF"/>
                </a:solidFill>
                <a:latin typeface="IBM Plex Sans" pitchFamily="34" charset="0"/>
                <a:ea typeface="IBM Plex Sans" pitchFamily="34" charset="-122"/>
                <a:cs typeface="IBM Plex Sans" pitchFamily="34" charset="-120"/>
              </a:rPr>
              <a:t>ASK YOURSELF</a:t>
            </a:r>
            <a:endParaRPr lang="en-US" sz="1200" dirty="0"/>
          </a:p>
        </p:txBody>
      </p:sp>
      <p:sp>
        <p:nvSpPr>
          <p:cNvPr id="12" name="Text 9"/>
          <p:cNvSpPr/>
          <p:nvPr/>
        </p:nvSpPr>
        <p:spPr>
          <a:xfrm>
            <a:off x="5943600" y="3325118"/>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What happens if one of four sources is slow or down?</a:t>
            </a:r>
            <a:endParaRPr lang="en-US" sz="1300" dirty="0"/>
          </a:p>
        </p:txBody>
      </p:sp>
      <p:sp>
        <p:nvSpPr>
          <p:cNvPr id="13" name="Text 10"/>
          <p:cNvSpPr/>
          <p:nvPr/>
        </p:nvSpPr>
        <p:spPr>
          <a:xfrm>
            <a:off x="5943600" y="3611463"/>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A8FF"/>
                </a:solidFill>
                <a:latin typeface="IBM Plex Sans" pitchFamily="34" charset="0"/>
                <a:ea typeface="IBM Plex Sans" pitchFamily="34" charset="-122"/>
                <a:cs typeface="IBM Plex Sans" pitchFamily="34" charset="-120"/>
              </a:rPr>
              <a:t>WHY IT STANDS OUT</a:t>
            </a:r>
            <a:endParaRPr lang="en-US" sz="1200" dirty="0"/>
          </a:p>
        </p:txBody>
      </p:sp>
      <p:sp>
        <p:nvSpPr>
          <p:cNvPr id="14" name="Text 11"/>
          <p:cNvSpPr/>
          <p:nvPr/>
        </p:nvSpPr>
        <p:spPr>
          <a:xfrm>
            <a:off x="5943600" y="3824784"/>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Many sources, one weather-risk score a user understands</a:t>
            </a:r>
            <a:endParaRPr lang="en-US" sz="1300" dirty="0"/>
          </a:p>
        </p:txBody>
      </p:sp>
      <p:sp>
        <p:nvSpPr>
          <p:cNvPr id="15" name="Text 12"/>
          <p:cNvSpPr/>
          <p:nvPr/>
        </p:nvSpPr>
        <p:spPr>
          <a:xfrm>
            <a:off x="5943600" y="4111129"/>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B347"/>
                </a:solidFill>
                <a:latin typeface="IBM Plex Sans" pitchFamily="34" charset="0"/>
                <a:ea typeface="IBM Plex Sans" pitchFamily="34" charset="-122"/>
                <a:cs typeface="IBM Plex Sans" pitchFamily="34" charset="-120"/>
              </a:rPr>
              <a:t>Their live site is gone: the domain expired.</a:t>
            </a:r>
            <a:endParaRPr lang="en-US" sz="1300" dirty="0"/>
          </a:p>
        </p:txBody>
      </p:sp>
      <p:pic>
        <p:nvPicPr>
          <p:cNvPr id="16" name="Image 1" descr="NASA Space Apps Cairo logo">    </p:cNvPr>
          <p:cNvPicPr>
            <a:picLocks noChangeAspect="1"/>
          </p:cNvPicPr>
          <p:nvPr/>
        </p:nvPicPr>
        <p:blipFill>
          <a:blip r:embed="rId2"/>
          <a:srcRect l="-70" r="-70" t="0" b="0"/>
          <a:stretch/>
        </p:blipFill>
        <p:spPr>
          <a:xfrm>
            <a:off x="812800" y="6146800"/>
            <a:ext cx="908050" cy="355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Meteor Shield: call, check, reshape, fall back</a:t>
            </a:r>
            <a:endParaRPr lang="en-US" sz="3200" dirty="0"/>
          </a:p>
        </p:txBody>
      </p:sp>
      <p:sp>
        <p:nvSpPr>
          <p:cNvPr id="3" name="Shape 1"/>
          <p:cNvSpPr/>
          <p:nvPr/>
        </p:nvSpPr>
        <p:spPr>
          <a:xfrm>
            <a:off x="812800" y="1513780"/>
            <a:ext cx="5715000" cy="2933700"/>
          </a:xfrm>
          <a:prstGeom prst="roundRect">
            <a:avLst>
              <a:gd name="adj" fmla="val 4329"/>
            </a:avLst>
          </a:prstGeom>
          <a:solidFill>
            <a:srgbClr val="141A2E"/>
          </a:solidFill>
          <a:ln/>
        </p:spPr>
      </p:sp>
      <p:sp>
        <p:nvSpPr>
          <p:cNvPr id="4" name="Text 2"/>
          <p:cNvSpPr/>
          <p:nvPr/>
        </p:nvSpPr>
        <p:spPr>
          <a:xfrm>
            <a:off x="1041400" y="174238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F3B1F"/>
                </a:solidFill>
                <a:latin typeface="JetBrains Mono" pitchFamily="49" charset="0"/>
                <a:ea typeface="JetBrains Mono" pitchFamily="49" charset="-122"/>
                <a:cs typeface="JetBrains Mono" pitchFamily="49" charset="-120"/>
              </a:rPr>
              <a:t>API_KEY = "SWu1••••••••••••"</a:t>
            </a:r>
            <a:endParaRPr lang="en-US" sz="1300" dirty="0"/>
          </a:p>
        </p:txBody>
      </p:sp>
      <p:sp>
        <p:nvSpPr>
          <p:cNvPr id="5" name="Text 3"/>
          <p:cNvSpPr/>
          <p:nvPr/>
        </p:nvSpPr>
        <p:spPr>
          <a:xfrm>
            <a:off x="1041400" y="199003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const res = await fetch(url)</a:t>
            </a:r>
            <a:endParaRPr lang="en-US" sz="1300" dirty="0"/>
          </a:p>
        </p:txBody>
      </p:sp>
      <p:sp>
        <p:nvSpPr>
          <p:cNvPr id="6" name="Text 4"/>
          <p:cNvSpPr/>
          <p:nvPr/>
        </p:nvSpPr>
        <p:spPr>
          <a:xfrm>
            <a:off x="1041400" y="223768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if (!res.ok) return getFallbackNEOData()</a:t>
            </a:r>
            <a:endParaRPr lang="en-US" sz="1300" dirty="0"/>
          </a:p>
        </p:txBody>
      </p:sp>
      <p:sp>
        <p:nvSpPr>
          <p:cNvPr id="7" name="Text 5"/>
          <p:cNvSpPr/>
          <p:nvPr/>
        </p:nvSpPr>
        <p:spPr>
          <a:xfrm>
            <a:off x="1041400" y="248533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const data = await res.json()</a:t>
            </a:r>
            <a:endParaRPr lang="en-US" sz="1300" dirty="0"/>
          </a:p>
        </p:txBody>
      </p:sp>
      <p:sp>
        <p:nvSpPr>
          <p:cNvPr id="8" name="Text 6"/>
          <p:cNvSpPr/>
          <p:nvPr/>
        </p:nvSpPr>
        <p:spPr>
          <a:xfrm>
            <a:off x="1041400" y="273298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if (!data?.near_earth_objects)</a:t>
            </a:r>
            <a:endParaRPr lang="en-US" sz="1300" dirty="0"/>
          </a:p>
        </p:txBody>
      </p:sp>
      <p:sp>
        <p:nvSpPr>
          <p:cNvPr id="9" name="Text 7"/>
          <p:cNvSpPr/>
          <p:nvPr/>
        </p:nvSpPr>
        <p:spPr>
          <a:xfrm>
            <a:off x="1371600" y="2980630"/>
            <a:ext cx="5075428"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return getFallbackNEOData()</a:t>
            </a:r>
            <a:endParaRPr lang="en-US" sz="1300" dirty="0"/>
          </a:p>
        </p:txBody>
      </p:sp>
      <p:sp>
        <p:nvSpPr>
          <p:cNvPr id="10" name="Text 8"/>
          <p:cNvSpPr/>
          <p:nvPr/>
        </p:nvSpPr>
        <p:spPr>
          <a:xfrm>
            <a:off x="1041400" y="322828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Object.values(data.near_earth_objects)</a:t>
            </a:r>
            <a:endParaRPr lang="en-US" sz="1300" dirty="0"/>
          </a:p>
        </p:txBody>
      </p:sp>
      <p:sp>
        <p:nvSpPr>
          <p:cNvPr id="11" name="Text 9"/>
          <p:cNvSpPr/>
          <p:nvPr/>
        </p:nvSpPr>
        <p:spPr>
          <a:xfrm>
            <a:off x="1371600" y="3475930"/>
            <a:ext cx="5075428"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.forEach(day =&gt; all.push(...day))</a:t>
            </a:r>
            <a:endParaRPr lang="en-US" sz="1300" dirty="0"/>
          </a:p>
        </p:txBody>
      </p:sp>
      <p:sp>
        <p:nvSpPr>
          <p:cNvPr id="12" name="Text 10"/>
          <p:cNvSpPr/>
          <p:nvPr/>
        </p:nvSpPr>
        <p:spPr>
          <a:xfrm>
            <a:off x="1041400" y="372358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return all</a:t>
            </a:r>
            <a:endParaRPr lang="en-US" sz="1300" dirty="0"/>
          </a:p>
        </p:txBody>
      </p:sp>
      <p:sp>
        <p:nvSpPr>
          <p:cNvPr id="13" name="Text 11"/>
          <p:cNvSpPr/>
          <p:nvPr/>
        </p:nvSpPr>
        <p:spPr>
          <a:xfrm>
            <a:off x="1041400" y="3971230"/>
            <a:ext cx="5415534"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4F5FA"/>
                </a:solidFill>
                <a:latin typeface="JetBrains Mono" pitchFamily="49" charset="0"/>
                <a:ea typeface="JetBrains Mono" pitchFamily="49" charset="-122"/>
                <a:cs typeface="JetBrains Mono" pitchFamily="49" charset="-120"/>
              </a:rPr>
              <a:t>} catch { return getFallbackNEOData() }</a:t>
            </a:r>
            <a:endParaRPr lang="en-US" sz="1300" dirty="0"/>
          </a:p>
        </p:txBody>
      </p:sp>
      <p:sp>
        <p:nvSpPr>
          <p:cNvPr id="14" name="Text 12"/>
          <p:cNvSpPr/>
          <p:nvPr/>
        </p:nvSpPr>
        <p:spPr>
          <a:xfrm>
            <a:off x="6832600" y="1513780"/>
            <a:ext cx="4682998"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3B1F"/>
                </a:solidFill>
                <a:latin typeface="IBM Plex Sans" pitchFamily="34" charset="0"/>
                <a:ea typeface="IBM Plex Sans" pitchFamily="34" charset="-122"/>
                <a:cs typeface="IBM Plex Sans" pitchFamily="34" charset="-120"/>
              </a:rPr>
              <a:t>2025 · HONORABLE MENTION</a:t>
            </a:r>
            <a:endParaRPr lang="en-US" sz="1400" dirty="0"/>
          </a:p>
        </p:txBody>
      </p:sp>
      <p:sp>
        <p:nvSpPr>
          <p:cNvPr id="15" name="Text 13"/>
          <p:cNvSpPr/>
          <p:nvPr/>
        </p:nvSpPr>
        <p:spPr>
          <a:xfrm>
            <a:off x="6832600" y="1889621"/>
            <a:ext cx="468299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9AA3B8"/>
                </a:solidFill>
                <a:latin typeface="IBM Plex Sans" pitchFamily="34" charset="0"/>
                <a:ea typeface="IBM Plex Sans" pitchFamily="34" charset="-122"/>
                <a:cs typeface="IBM Plex Sans" pitchFamily="34" charset="-120"/>
              </a:rPr>
              <a:t>Meteor Madness · Team Polaris (Bangladesh)</a:t>
            </a:r>
            <a:endParaRPr lang="en-US" sz="1300" dirty="0"/>
          </a:p>
        </p:txBody>
      </p:sp>
      <p:sp>
        <p:nvSpPr>
          <p:cNvPr id="16" name="Text 14"/>
          <p:cNvSpPr/>
          <p:nvPr/>
        </p:nvSpPr>
        <p:spPr>
          <a:xfrm>
            <a:off x="6832600" y="2239466"/>
            <a:ext cx="557510" cy="307280"/>
          </a:xfrm>
          <a:custGeom>
            <a:avLst/>
            <a:gdLst/>
            <a:ahLst/>
            <a:cxnLst/>
            <a:rect l="l" t="t" r="r" b="b"/>
            <a:pathLst>
              <a:path w="557510" h="307280">
                <a:moveTo>
                  <a:pt x="153640" y="0"/>
                </a:moveTo>
                <a:lnTo>
                  <a:pt x="403870" y="0"/>
                </a:lnTo>
                <a:arcTo hR="153640" wR="153640" stAng="16200000" swAng="5400000"/>
                <a:lnTo>
                  <a:pt x="557510" y="153640"/>
                </a:lnTo>
                <a:arcTo hR="153640" wR="153640" stAng="0" swAng="5400000"/>
                <a:lnTo>
                  <a:pt x="153640" y="307280"/>
                </a:lnTo>
                <a:arcTo hR="153640" wR="153640" stAng="5400000" swAng="5400000"/>
                <a:lnTo>
                  <a:pt x="0" y="153640"/>
                </a:lnTo>
                <a:arcTo hR="153640" wR="153640" stAng="10800000" swAng="5400000"/>
                <a:close/>
              </a:path>
            </a:pathLst>
          </a:custGeom>
          <a:solidFill>
            <a:srgbClr val="6EA8FF"/>
          </a:solidFill>
          <a:ln/>
        </p:spPr>
        <p:txBody>
          <a:bodyPr wrap="none" lIns="0" tIns="0" rIns="0" bIns="0" rtlCol="0" anchor="ctr">
            <a:normAutofit/>
          </a:bodyPr>
          <a:lstStyle/>
          <a:p>
            <a:pPr algn="ctr" indent="0" marL="0">
              <a:lnSpc>
                <a:spcPts val="1820"/>
              </a:lnSpc>
              <a:buNone/>
            </a:pPr>
            <a:r>
              <a:rPr lang="en-US" sz="1300" b="1" dirty="0">
                <a:solidFill>
                  <a:srgbClr val="06070D"/>
                </a:solidFill>
                <a:latin typeface="IBM Plex Sans" pitchFamily="34" charset="0"/>
                <a:ea typeface="IBM Plex Sans" pitchFamily="34" charset="-122"/>
                <a:cs typeface="IBM Plex Sans" pitchFamily="34" charset="-120"/>
              </a:rPr>
              <a:t>call</a:t>
            </a:r>
            <a:endParaRPr lang="en-US" sz="1300" dirty="0"/>
          </a:p>
        </p:txBody>
      </p:sp>
      <p:sp>
        <p:nvSpPr>
          <p:cNvPr id="17" name="Text 15"/>
          <p:cNvSpPr/>
          <p:nvPr/>
        </p:nvSpPr>
        <p:spPr>
          <a:xfrm>
            <a:off x="7466310" y="2239466"/>
            <a:ext cx="736600" cy="307280"/>
          </a:xfrm>
          <a:custGeom>
            <a:avLst/>
            <a:gdLst/>
            <a:ahLst/>
            <a:cxnLst/>
            <a:rect l="l" t="t" r="r" b="b"/>
            <a:pathLst>
              <a:path w="736600" h="307280">
                <a:moveTo>
                  <a:pt x="153640" y="0"/>
                </a:moveTo>
                <a:lnTo>
                  <a:pt x="582960" y="0"/>
                </a:lnTo>
                <a:arcTo hR="153640" wR="153640" stAng="16200000" swAng="5400000"/>
                <a:lnTo>
                  <a:pt x="736600" y="153640"/>
                </a:lnTo>
                <a:arcTo hR="153640" wR="153640" stAng="0" swAng="5400000"/>
                <a:lnTo>
                  <a:pt x="153640" y="307280"/>
                </a:lnTo>
                <a:arcTo hR="153640" wR="153640" stAng="5400000" swAng="5400000"/>
                <a:lnTo>
                  <a:pt x="0" y="153640"/>
                </a:lnTo>
                <a:arcTo hR="153640" wR="153640" stAng="10800000" swAng="5400000"/>
                <a:close/>
              </a:path>
            </a:pathLst>
          </a:custGeom>
          <a:solidFill>
            <a:srgbClr val="FFB347"/>
          </a:solidFill>
          <a:ln/>
        </p:spPr>
        <p:txBody>
          <a:bodyPr wrap="none" lIns="0" tIns="0" rIns="0" bIns="0" rtlCol="0" anchor="ctr">
            <a:normAutofit/>
          </a:bodyPr>
          <a:lstStyle/>
          <a:p>
            <a:pPr algn="ctr" indent="0" marL="0">
              <a:lnSpc>
                <a:spcPts val="1820"/>
              </a:lnSpc>
              <a:buNone/>
            </a:pPr>
            <a:r>
              <a:rPr lang="en-US" sz="1300" b="1" dirty="0">
                <a:solidFill>
                  <a:srgbClr val="06070D"/>
                </a:solidFill>
                <a:latin typeface="IBM Plex Sans" pitchFamily="34" charset="0"/>
                <a:ea typeface="IBM Plex Sans" pitchFamily="34" charset="-122"/>
                <a:cs typeface="IBM Plex Sans" pitchFamily="34" charset="-120"/>
              </a:rPr>
              <a:t>check</a:t>
            </a:r>
            <a:endParaRPr lang="en-US" sz="1300" dirty="0"/>
          </a:p>
        </p:txBody>
      </p:sp>
      <p:sp>
        <p:nvSpPr>
          <p:cNvPr id="18" name="Text 16"/>
          <p:cNvSpPr/>
          <p:nvPr/>
        </p:nvSpPr>
        <p:spPr>
          <a:xfrm>
            <a:off x="8279110" y="2239466"/>
            <a:ext cx="906859" cy="307280"/>
          </a:xfrm>
          <a:custGeom>
            <a:avLst/>
            <a:gdLst/>
            <a:ahLst/>
            <a:cxnLst/>
            <a:rect l="l" t="t" r="r" b="b"/>
            <a:pathLst>
              <a:path w="906859" h="307280">
                <a:moveTo>
                  <a:pt x="153640" y="0"/>
                </a:moveTo>
                <a:lnTo>
                  <a:pt x="753219" y="0"/>
                </a:lnTo>
                <a:arcTo hR="153640" wR="153640" stAng="16200000" swAng="5400000"/>
                <a:lnTo>
                  <a:pt x="906859" y="153640"/>
                </a:lnTo>
                <a:arcTo hR="153640" wR="153640" stAng="0" swAng="5400000"/>
                <a:lnTo>
                  <a:pt x="153640" y="307280"/>
                </a:lnTo>
                <a:arcTo hR="153640" wR="153640" stAng="5400000" swAng="5400000"/>
                <a:lnTo>
                  <a:pt x="0" y="153640"/>
                </a:lnTo>
                <a:arcTo hR="153640" wR="153640" stAng="10800000" swAng="5400000"/>
                <a:close/>
              </a:path>
            </a:pathLst>
          </a:custGeom>
          <a:solidFill>
            <a:srgbClr val="9AA3B8"/>
          </a:solidFill>
          <a:ln/>
        </p:spPr>
        <p:txBody>
          <a:bodyPr wrap="none" lIns="0" tIns="0" rIns="0" bIns="0" rtlCol="0" anchor="ctr">
            <a:normAutofit/>
          </a:bodyPr>
          <a:lstStyle/>
          <a:p>
            <a:pPr algn="ctr" indent="0" marL="0">
              <a:lnSpc>
                <a:spcPts val="1820"/>
              </a:lnSpc>
              <a:buNone/>
            </a:pPr>
            <a:r>
              <a:rPr lang="en-US" sz="1300" b="1" dirty="0">
                <a:solidFill>
                  <a:srgbClr val="06070D"/>
                </a:solidFill>
                <a:latin typeface="IBM Plex Sans" pitchFamily="34" charset="0"/>
                <a:ea typeface="IBM Plex Sans" pitchFamily="34" charset="-122"/>
                <a:cs typeface="IBM Plex Sans" pitchFamily="34" charset="-120"/>
              </a:rPr>
              <a:t>reshape</a:t>
            </a:r>
            <a:endParaRPr lang="en-US" sz="1300" dirty="0"/>
          </a:p>
        </p:txBody>
      </p:sp>
      <p:sp>
        <p:nvSpPr>
          <p:cNvPr id="19" name="Text 17"/>
          <p:cNvSpPr/>
          <p:nvPr/>
        </p:nvSpPr>
        <p:spPr>
          <a:xfrm>
            <a:off x="9262170" y="2239466"/>
            <a:ext cx="691356" cy="307280"/>
          </a:xfrm>
          <a:custGeom>
            <a:avLst/>
            <a:gdLst/>
            <a:ahLst/>
            <a:cxnLst/>
            <a:rect l="l" t="t" r="r" b="b"/>
            <a:pathLst>
              <a:path w="691356" h="307280">
                <a:moveTo>
                  <a:pt x="153640" y="0"/>
                </a:moveTo>
                <a:lnTo>
                  <a:pt x="537716" y="0"/>
                </a:lnTo>
                <a:arcTo hR="153640" wR="153640" stAng="16200000" swAng="5400000"/>
                <a:lnTo>
                  <a:pt x="691356" y="153640"/>
                </a:lnTo>
                <a:arcTo hR="153640" wR="153640" stAng="0" swAng="5400000"/>
                <a:lnTo>
                  <a:pt x="153640" y="307280"/>
                </a:lnTo>
                <a:arcTo hR="153640" wR="153640" stAng="5400000" swAng="5400000"/>
                <a:lnTo>
                  <a:pt x="0" y="153640"/>
                </a:lnTo>
                <a:arcTo hR="153640" wR="153640" stAng="10800000" swAng="5400000"/>
                <a:close/>
              </a:path>
            </a:pathLst>
          </a:custGeom>
          <a:solidFill>
            <a:srgbClr val="3DDC97"/>
          </a:solidFill>
          <a:ln/>
        </p:spPr>
        <p:txBody>
          <a:bodyPr wrap="none" lIns="0" tIns="0" rIns="0" bIns="0" rtlCol="0" anchor="ctr">
            <a:normAutofit/>
          </a:bodyPr>
          <a:lstStyle/>
          <a:p>
            <a:pPr algn="ctr" indent="0" marL="0">
              <a:lnSpc>
                <a:spcPts val="1820"/>
              </a:lnSpc>
              <a:buNone/>
            </a:pPr>
            <a:r>
              <a:rPr lang="en-US" sz="1300" b="1" dirty="0">
                <a:solidFill>
                  <a:srgbClr val="06070D"/>
                </a:solidFill>
                <a:latin typeface="IBM Plex Sans" pitchFamily="34" charset="0"/>
                <a:ea typeface="IBM Plex Sans" pitchFamily="34" charset="-122"/>
                <a:cs typeface="IBM Plex Sans" pitchFamily="34" charset="-120"/>
              </a:rPr>
              <a:t>show</a:t>
            </a:r>
            <a:endParaRPr lang="en-US" sz="1300" dirty="0"/>
          </a:p>
        </p:txBody>
      </p:sp>
      <p:sp>
        <p:nvSpPr>
          <p:cNvPr id="20" name="Text 18"/>
          <p:cNvSpPr/>
          <p:nvPr/>
        </p:nvSpPr>
        <p:spPr>
          <a:xfrm>
            <a:off x="10029726" y="2239466"/>
            <a:ext cx="906661" cy="307280"/>
          </a:xfrm>
          <a:custGeom>
            <a:avLst/>
            <a:gdLst/>
            <a:ahLst/>
            <a:cxnLst/>
            <a:rect l="l" t="t" r="r" b="b"/>
            <a:pathLst>
              <a:path w="906661" h="307280">
                <a:moveTo>
                  <a:pt x="153640" y="0"/>
                </a:moveTo>
                <a:lnTo>
                  <a:pt x="753021" y="0"/>
                </a:lnTo>
                <a:arcTo hR="153640" wR="153640" stAng="16200000" swAng="5400000"/>
                <a:lnTo>
                  <a:pt x="906661" y="153640"/>
                </a:lnTo>
                <a:arcTo hR="153640" wR="153640" stAng="0" swAng="5400000"/>
                <a:lnTo>
                  <a:pt x="153640" y="307280"/>
                </a:lnTo>
                <a:arcTo hR="153640" wR="153640" stAng="5400000" swAng="5400000"/>
                <a:lnTo>
                  <a:pt x="0" y="153640"/>
                </a:lnTo>
                <a:arcTo hR="153640" wR="153640" stAng="10800000" swAng="5400000"/>
                <a:close/>
              </a:path>
            </a:pathLst>
          </a:custGeom>
          <a:solidFill>
            <a:srgbClr val="FF3B1F"/>
          </a:solidFill>
          <a:ln/>
        </p:spPr>
        <p:txBody>
          <a:bodyPr wrap="none" lIns="0" tIns="0" rIns="0" bIns="0" rtlCol="0" anchor="ctr">
            <a:normAutofit/>
          </a:bodyPr>
          <a:lstStyle/>
          <a:p>
            <a:pPr algn="ctr" indent="0" marL="0">
              <a:lnSpc>
                <a:spcPts val="1820"/>
              </a:lnSpc>
              <a:buNone/>
            </a:pPr>
            <a:r>
              <a:rPr lang="en-US" sz="1300" b="1" dirty="0">
                <a:solidFill>
                  <a:srgbClr val="06070D"/>
                </a:solidFill>
                <a:latin typeface="IBM Plex Sans" pitchFamily="34" charset="0"/>
                <a:ea typeface="IBM Plex Sans" pitchFamily="34" charset="-122"/>
                <a:cs typeface="IBM Plex Sans" pitchFamily="34" charset="-120"/>
              </a:rPr>
              <a:t>fallback</a:t>
            </a:r>
            <a:endParaRPr lang="en-US" sz="1300" dirty="0"/>
          </a:p>
        </p:txBody>
      </p:sp>
      <p:sp>
        <p:nvSpPr>
          <p:cNvPr id="21" name="Text 19"/>
          <p:cNvSpPr/>
          <p:nvPr/>
        </p:nvSpPr>
        <p:spPr>
          <a:xfrm>
            <a:off x="6832600" y="2673747"/>
            <a:ext cx="5359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Integration point:</a:t>
            </a:r>
            <a:r>
              <a:rPr lang="en-US" sz="1400" dirty="0">
                <a:solidFill>
                  <a:srgbClr val="BFC6D8"/>
                </a:solidFill>
                <a:latin typeface="IBM Plex Sans" pitchFamily="34" charset="0"/>
                <a:ea typeface="IBM Plex Sans" pitchFamily="34" charset="-122"/>
                <a:cs typeface="IBM Plex Sans" pitchFamily="34" charset="-120"/>
              </a:rPr>
              <a:t> merges the by-date lists into one list.</a:t>
            </a:r>
            <a:endParaRPr lang="en-US" sz="1400" dirty="0"/>
          </a:p>
        </p:txBody>
      </p:sp>
      <p:sp>
        <p:nvSpPr>
          <p:cNvPr id="22" name="Text 20"/>
          <p:cNvSpPr/>
          <p:nvPr/>
        </p:nvSpPr>
        <p:spPr>
          <a:xfrm>
            <a:off x="6832600" y="3049588"/>
            <a:ext cx="468299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The key sits in page code.</a:t>
            </a:r>
            <a:r>
              <a:rPr lang="en-US" sz="1400" dirty="0">
                <a:solidFill>
                  <a:srgbClr val="BFC6D8"/>
                </a:solidFill>
                <a:latin typeface="IBM Plex Sans" pitchFamily="34" charset="0"/>
                <a:ea typeface="IBM Plex Sans" pitchFamily="34" charset="-122"/>
                <a:cs typeface="IBM Plex Sans" pitchFamily="34" charset="-120"/>
              </a:rPr>
              <a:t> OK for a free NASA key, never for a paid one.</a:t>
            </a:r>
            <a:endParaRPr lang="en-US" sz="1400" dirty="0"/>
          </a:p>
        </p:txBody>
      </p:sp>
      <p:sp>
        <p:nvSpPr>
          <p:cNvPr id="23" name="Text 21"/>
          <p:cNvSpPr/>
          <p:nvPr/>
        </p:nvSpPr>
        <p:spPr>
          <a:xfrm>
            <a:off x="6832600" y="3674269"/>
            <a:ext cx="46829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Every failure path returns built-in data, so the demo never shows a blank screen.</a:t>
            </a:r>
            <a:endParaRPr lang="en-US" sz="1400" dirty="0"/>
          </a:p>
        </p:txBody>
      </p:sp>
      <p:pic>
        <p:nvPicPr>
          <p:cNvPr id="24"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TechNova: same API, different feature</a:t>
            </a:r>
            <a:endParaRPr lang="en-US" sz="3200" dirty="0"/>
          </a:p>
        </p:txBody>
      </p:sp>
      <p:sp>
        <p:nvSpPr>
          <p:cNvPr id="3" name="Shape 1"/>
          <p:cNvSpPr/>
          <p:nvPr/>
        </p:nvSpPr>
        <p:spPr>
          <a:xfrm>
            <a:off x="812800" y="1513780"/>
            <a:ext cx="4826000" cy="3016250"/>
          </a:xfrm>
          <a:prstGeom prst="roundRect">
            <a:avLst>
              <a:gd name="adj" fmla="val 3368"/>
            </a:avLst>
          </a:prstGeom>
          <a:solidFill>
            <a:srgbClr val="0D1120"/>
          </a:solidFill>
          <a:ln/>
        </p:spPr>
      </p:sp>
      <p:pic>
        <p:nvPicPr>
          <p:cNvPr id="4" name="Image 0" descr="Screenshot of the TechNova web app home page: Learn the Near-Earth Neighborhood, with Learning, Simulations and Mitigation cards">    </p:cNvPr>
          <p:cNvPicPr>
            <a:picLocks noChangeAspect="1"/>
          </p:cNvPicPr>
          <p:nvPr/>
        </p:nvPicPr>
        <p:blipFill>
          <a:blip r:embed="rId1"/>
          <a:srcRect l="0" r="0" t="0" b="0"/>
          <a:stretch/>
        </p:blipFill>
        <p:spPr>
          <a:xfrm>
            <a:off x="812800" y="1513780"/>
            <a:ext cx="4826000" cy="3016250"/>
          </a:xfrm>
          <a:prstGeom prst="roundRect">
            <a:avLst>
              <a:gd name="adj" fmla="val 3368"/>
            </a:avLst>
          </a:prstGeom>
        </p:spPr>
      </p:pic>
      <p:sp>
        <p:nvSpPr>
          <p:cNvPr id="5" name="Text 2"/>
          <p:cNvSpPr/>
          <p:nvPr/>
        </p:nvSpPr>
        <p:spPr>
          <a:xfrm>
            <a:off x="5943600" y="1513780"/>
            <a:ext cx="5598668"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3B1F"/>
                </a:solidFill>
                <a:latin typeface="IBM Plex Sans" pitchFamily="34" charset="0"/>
                <a:ea typeface="IBM Plex Sans" pitchFamily="34" charset="-122"/>
                <a:cs typeface="IBM Plex Sans" pitchFamily="34" charset="-120"/>
              </a:rPr>
              <a:t>2025 · GLOBAL FINALIST</a:t>
            </a:r>
            <a:endParaRPr lang="en-US" sz="1400" dirty="0"/>
          </a:p>
        </p:txBody>
      </p:sp>
      <p:sp>
        <p:nvSpPr>
          <p:cNvPr id="6" name="Text 3"/>
          <p:cNvSpPr/>
          <p:nvPr/>
        </p:nvSpPr>
        <p:spPr>
          <a:xfrm>
            <a:off x="5943600" y="1838821"/>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9AA3B8"/>
                </a:solidFill>
                <a:latin typeface="IBM Plex Sans" pitchFamily="34" charset="0"/>
                <a:ea typeface="IBM Plex Sans" pitchFamily="34" charset="-122"/>
                <a:cs typeface="IBM Plex Sans" pitchFamily="34" charset="-120"/>
              </a:rPr>
              <a:t>Meteor Madness · TechNova (Morocco)</a:t>
            </a:r>
            <a:endParaRPr lang="en-US" sz="1300" dirty="0"/>
          </a:p>
        </p:txBody>
      </p:sp>
      <p:sp>
        <p:nvSpPr>
          <p:cNvPr id="7" name="Text 4"/>
          <p:cNvSpPr/>
          <p:nvPr/>
        </p:nvSpPr>
        <p:spPr>
          <a:xfrm>
            <a:off x="5943600" y="2137866"/>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A8FF"/>
                </a:solidFill>
                <a:latin typeface="IBM Plex Sans" pitchFamily="34" charset="0"/>
                <a:ea typeface="IBM Plex Sans" pitchFamily="34" charset="-122"/>
                <a:cs typeface="IBM Plex Sans" pitchFamily="34" charset="-120"/>
              </a:rPr>
              <a:t>HOW THEY BUILT IT</a:t>
            </a:r>
            <a:endParaRPr lang="en-US" sz="1200" dirty="0"/>
          </a:p>
        </p:txBody>
      </p:sp>
      <p:sp>
        <p:nvSpPr>
          <p:cNvPr id="8" name="Text 5"/>
          <p:cNvSpPr/>
          <p:nvPr/>
        </p:nvSpPr>
        <p:spPr>
          <a:xfrm>
            <a:off x="5943600" y="2351187"/>
            <a:ext cx="559866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Learn, Simulate, Mitigate: NeoWs asteroids for a date range, then an impact on a 3D view and a map</a:t>
            </a:r>
            <a:endParaRPr lang="en-US" sz="1300" dirty="0"/>
          </a:p>
        </p:txBody>
      </p:sp>
      <p:sp>
        <p:nvSpPr>
          <p:cNvPr id="9" name="Text 6"/>
          <p:cNvSpPr/>
          <p:nvPr/>
        </p:nvSpPr>
        <p:spPr>
          <a:xfrm>
            <a:off x="5943600" y="2873077"/>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A8FF"/>
                </a:solidFill>
                <a:latin typeface="IBM Plex Sans" pitchFamily="34" charset="0"/>
                <a:ea typeface="IBM Plex Sans" pitchFamily="34" charset="-122"/>
                <a:cs typeface="IBM Plex Sans" pitchFamily="34" charset="-120"/>
              </a:rPr>
              <a:t>LOOK FOR</a:t>
            </a:r>
            <a:endParaRPr lang="en-US" sz="1200" dirty="0"/>
          </a:p>
        </p:txBody>
      </p:sp>
      <p:sp>
        <p:nvSpPr>
          <p:cNvPr id="10" name="Text 7"/>
          <p:cNvSpPr/>
          <p:nvPr/>
        </p:nvSpPr>
        <p:spPr>
          <a:xfrm>
            <a:off x="5943600" y="3086398"/>
            <a:ext cx="55986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The API gives you the data. Your idea makes the feature.</a:t>
            </a:r>
            <a:endParaRPr lang="en-US" sz="1300" dirty="0"/>
          </a:p>
        </p:txBody>
      </p:sp>
      <p:sp>
        <p:nvSpPr>
          <p:cNvPr id="11" name="Text 8"/>
          <p:cNvSpPr/>
          <p:nvPr/>
        </p:nvSpPr>
        <p:spPr>
          <a:xfrm>
            <a:off x="5943600" y="3385443"/>
            <a:ext cx="5435600" cy="784820"/>
          </a:xfrm>
          <a:prstGeom prst="roundRect">
            <a:avLst>
              <a:gd name="adj" fmla="val 12946"/>
            </a:avLst>
          </a:prstGeom>
          <a:solidFill>
            <a:srgbClr val="0B3B9A"/>
          </a:solidFill>
          <a:ln/>
        </p:spPr>
        <p:txBody>
          <a:bodyPr wrap="square" lIns="148042" tIns="122642" rIns="0" bIns="97242" rtlCol="0" anchor="t">
            <a:normAutofit/>
          </a:bodyPr>
          <a:lstStyle/>
          <a:p>
            <a:pPr algn="l" indent="0" marL="0">
              <a:lnSpc>
                <a:spcPts val="1890"/>
              </a:lnSpc>
              <a:buNone/>
            </a:pPr>
            <a:r>
              <a:rPr lang="en-US" sz="1400" b="1" dirty="0">
                <a:solidFill>
                  <a:srgbClr val="F4F5FA"/>
                </a:solidFill>
                <a:latin typeface="IBM Plex Sans" pitchFamily="34" charset="0"/>
                <a:ea typeface="IBM Plex Sans" pitchFamily="34" charset="-122"/>
                <a:cs typeface="IBM Plex Sans" pitchFamily="34" charset="-120"/>
              </a:rPr>
              <a:t>Browser or server: where does the call run, and why does it matter for keys?</a:t>
            </a:r>
            <a:endParaRPr lang="en-US" sz="1400" dirty="0"/>
          </a:p>
        </p:txBody>
      </p:sp>
      <p:pic>
        <p:nvPicPr>
          <p:cNvPr id="12" name="Image 1" descr="NASA Space Apps Cairo logo">    </p:cNvPr>
          <p:cNvPicPr>
            <a:picLocks noChangeAspect="1"/>
          </p:cNvPicPr>
          <p:nvPr/>
        </p:nvPicPr>
        <p:blipFill>
          <a:blip r:embed="rId2"/>
          <a:srcRect l="-70" r="-70" t="0" b="0"/>
          <a:stretch/>
        </p:blipFill>
        <p:spPr>
          <a:xfrm>
            <a:off x="812800" y="6146800"/>
            <a:ext cx="908050" cy="355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Three patterns to copy</a:t>
            </a:r>
            <a:endParaRPr lang="en-US" sz="3200" dirty="0"/>
          </a:p>
        </p:txBody>
      </p:sp>
      <p:sp>
        <p:nvSpPr>
          <p:cNvPr id="3" name="Shape 1"/>
          <p:cNvSpPr/>
          <p:nvPr/>
        </p:nvSpPr>
        <p:spPr>
          <a:xfrm>
            <a:off x="812800" y="1564580"/>
            <a:ext cx="3386634" cy="1959372"/>
          </a:xfrm>
          <a:prstGeom prst="roundRect">
            <a:avLst>
              <a:gd name="adj" fmla="val 6482"/>
            </a:avLst>
          </a:prstGeom>
          <a:solidFill>
            <a:srgbClr val="141A2E"/>
          </a:solidFill>
          <a:ln/>
        </p:spPr>
      </p:sp>
      <p:sp>
        <p:nvSpPr>
          <p:cNvPr id="4" name="Text 2"/>
          <p:cNvSpPr/>
          <p:nvPr/>
        </p:nvSpPr>
        <p:spPr>
          <a:xfrm>
            <a:off x="1041400" y="1793180"/>
            <a:ext cx="301731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3B8"/>
                </a:solidFill>
                <a:latin typeface="IBM Plex Sans" pitchFamily="34" charset="0"/>
                <a:ea typeface="IBM Plex Sans" pitchFamily="34" charset="-122"/>
                <a:cs typeface="IBM Plex Sans" pitchFamily="34" charset="-120"/>
              </a:rPr>
              <a:t>SKYSENSE</a:t>
            </a:r>
            <a:endParaRPr lang="en-US" sz="1200" dirty="0"/>
          </a:p>
        </p:txBody>
      </p:sp>
      <p:sp>
        <p:nvSpPr>
          <p:cNvPr id="5" name="Text 3"/>
          <p:cNvSpPr/>
          <p:nvPr/>
        </p:nvSpPr>
        <p:spPr>
          <a:xfrm>
            <a:off x="1041400" y="2095401"/>
            <a:ext cx="3017317" cy="638770"/>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6EA8FF"/>
                </a:solidFill>
                <a:latin typeface="Space Grotesk" pitchFamily="34" charset="0"/>
                <a:ea typeface="Space Grotesk" pitchFamily="34" charset="-122"/>
                <a:cs typeface="Space Grotesk" pitchFamily="34" charset="-120"/>
              </a:rPr>
              <a:t>Join on one shared field</a:t>
            </a:r>
            <a:endParaRPr lang="en-US" sz="2100" dirty="0"/>
          </a:p>
        </p:txBody>
      </p:sp>
      <p:sp>
        <p:nvSpPr>
          <p:cNvPr id="6" name="Text 4"/>
          <p:cNvSpPr/>
          <p:nvPr/>
        </p:nvSpPr>
        <p:spPr>
          <a:xfrm>
            <a:off x="1041400" y="2797671"/>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Place and date tie four sources into one score.</a:t>
            </a:r>
            <a:endParaRPr lang="en-US" sz="1400" dirty="0"/>
          </a:p>
        </p:txBody>
      </p:sp>
      <p:sp>
        <p:nvSpPr>
          <p:cNvPr id="7" name="Shape 5"/>
          <p:cNvSpPr/>
          <p:nvPr/>
        </p:nvSpPr>
        <p:spPr>
          <a:xfrm>
            <a:off x="4402634" y="1564580"/>
            <a:ext cx="3386733" cy="1959372"/>
          </a:xfrm>
          <a:prstGeom prst="roundRect">
            <a:avLst>
              <a:gd name="adj" fmla="val 6482"/>
            </a:avLst>
          </a:prstGeom>
          <a:solidFill>
            <a:srgbClr val="141A2E"/>
          </a:solidFill>
          <a:ln/>
        </p:spPr>
      </p:sp>
      <p:sp>
        <p:nvSpPr>
          <p:cNvPr id="8" name="Text 6"/>
          <p:cNvSpPr/>
          <p:nvPr/>
        </p:nvSpPr>
        <p:spPr>
          <a:xfrm>
            <a:off x="4631234" y="1793180"/>
            <a:ext cx="301741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3B8"/>
                </a:solidFill>
                <a:latin typeface="IBM Plex Sans" pitchFamily="34" charset="0"/>
                <a:ea typeface="IBM Plex Sans" pitchFamily="34" charset="-122"/>
                <a:cs typeface="IBM Plex Sans" pitchFamily="34" charset="-120"/>
              </a:rPr>
              <a:t>METEOR SHIELD</a:t>
            </a:r>
            <a:endParaRPr lang="en-US" sz="1200" dirty="0"/>
          </a:p>
        </p:txBody>
      </p:sp>
      <p:sp>
        <p:nvSpPr>
          <p:cNvPr id="9" name="Text 7"/>
          <p:cNvSpPr/>
          <p:nvPr/>
        </p:nvSpPr>
        <p:spPr>
          <a:xfrm>
            <a:off x="4631234" y="2095401"/>
            <a:ext cx="3017419"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FFB347"/>
                </a:solidFill>
                <a:latin typeface="Space Grotesk" pitchFamily="34" charset="0"/>
                <a:ea typeface="Space Grotesk" pitchFamily="34" charset="-122"/>
                <a:cs typeface="Space Grotesk" pitchFamily="34" charset="-120"/>
              </a:rPr>
              <a:t>Fail gracefully</a:t>
            </a:r>
            <a:endParaRPr lang="en-US" sz="2100" dirty="0"/>
          </a:p>
        </p:txBody>
      </p:sp>
      <p:sp>
        <p:nvSpPr>
          <p:cNvPr id="10" name="Text 8"/>
          <p:cNvSpPr/>
          <p:nvPr/>
        </p:nvSpPr>
        <p:spPr>
          <a:xfrm>
            <a:off x="4631234" y="2490986"/>
            <a:ext cx="301741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Every failure path returns built-in data, so the demo never goes blank.</a:t>
            </a:r>
            <a:endParaRPr lang="en-US" sz="1400" dirty="0"/>
          </a:p>
        </p:txBody>
      </p:sp>
      <p:sp>
        <p:nvSpPr>
          <p:cNvPr id="11" name="Shape 9"/>
          <p:cNvSpPr/>
          <p:nvPr/>
        </p:nvSpPr>
        <p:spPr>
          <a:xfrm>
            <a:off x="7992566" y="1564580"/>
            <a:ext cx="3386634" cy="1959372"/>
          </a:xfrm>
          <a:prstGeom prst="roundRect">
            <a:avLst>
              <a:gd name="adj" fmla="val 6482"/>
            </a:avLst>
          </a:prstGeom>
          <a:solidFill>
            <a:srgbClr val="141A2E"/>
          </a:solidFill>
          <a:ln/>
        </p:spPr>
      </p:sp>
      <p:sp>
        <p:nvSpPr>
          <p:cNvPr id="12" name="Text 10"/>
          <p:cNvSpPr/>
          <p:nvPr/>
        </p:nvSpPr>
        <p:spPr>
          <a:xfrm>
            <a:off x="8221166" y="1793180"/>
            <a:ext cx="301731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3B8"/>
                </a:solidFill>
                <a:latin typeface="IBM Plex Sans" pitchFamily="34" charset="0"/>
                <a:ea typeface="IBM Plex Sans" pitchFamily="34" charset="-122"/>
                <a:cs typeface="IBM Plex Sans" pitchFamily="34" charset="-120"/>
              </a:rPr>
              <a:t>TECHNOVA</a:t>
            </a:r>
            <a:endParaRPr lang="en-US" sz="1200" dirty="0"/>
          </a:p>
        </p:txBody>
      </p:sp>
      <p:sp>
        <p:nvSpPr>
          <p:cNvPr id="13" name="Text 11"/>
          <p:cNvSpPr/>
          <p:nvPr/>
        </p:nvSpPr>
        <p:spPr>
          <a:xfrm>
            <a:off x="8221166" y="2095401"/>
            <a:ext cx="3017317"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3DDC97"/>
                </a:solidFill>
                <a:latin typeface="Space Grotesk" pitchFamily="34" charset="0"/>
                <a:ea typeface="Space Grotesk" pitchFamily="34" charset="-122"/>
                <a:cs typeface="Space Grotesk" pitchFamily="34" charset="-120"/>
              </a:rPr>
              <a:t>Same data, new idea</a:t>
            </a:r>
            <a:endParaRPr lang="en-US" sz="2100" dirty="0"/>
          </a:p>
        </p:txBody>
      </p:sp>
      <p:sp>
        <p:nvSpPr>
          <p:cNvPr id="14" name="Text 12"/>
          <p:cNvSpPr/>
          <p:nvPr/>
        </p:nvSpPr>
        <p:spPr>
          <a:xfrm>
            <a:off x="8221166" y="2490986"/>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6D8"/>
                </a:solidFill>
                <a:latin typeface="IBM Plex Sans" pitchFamily="34" charset="0"/>
                <a:ea typeface="IBM Plex Sans" pitchFamily="34" charset="-122"/>
                <a:cs typeface="IBM Plex Sans" pitchFamily="34" charset="-120"/>
              </a:rPr>
              <a:t>One NeoWs feed became a Learn, Simulate and Mitigate app.</a:t>
            </a:r>
            <a:endParaRPr lang="en-US" sz="1400" dirty="0"/>
          </a:p>
        </p:txBody>
      </p:sp>
      <p:sp>
        <p:nvSpPr>
          <p:cNvPr id="15" name="Shape 13"/>
          <p:cNvSpPr/>
          <p:nvPr/>
        </p:nvSpPr>
        <p:spPr>
          <a:xfrm>
            <a:off x="812800" y="3828752"/>
            <a:ext cx="10566400" cy="904081"/>
          </a:xfrm>
          <a:prstGeom prst="roundRect">
            <a:avLst>
              <a:gd name="adj" fmla="val 11238"/>
            </a:avLst>
          </a:prstGeom>
          <a:solidFill>
            <a:srgbClr val="141A2E"/>
          </a:solidFill>
          <a:ln/>
        </p:spPr>
      </p:sp>
      <p:sp>
        <p:nvSpPr>
          <p:cNvPr id="16" name="Shape 14"/>
          <p:cNvSpPr/>
          <p:nvPr/>
        </p:nvSpPr>
        <p:spPr>
          <a:xfrm>
            <a:off x="812800" y="3828752"/>
            <a:ext cx="10566400" cy="904081"/>
          </a:xfrm>
          <a:custGeom>
            <a:avLst/>
            <a:gdLst/>
            <a:ahLst/>
            <a:cxnLst/>
            <a:rect l="l" t="t" r="r" b="b"/>
            <a:pathLst>
              <a:path w="10566400" h="904081">
                <a:moveTo>
                  <a:pt x="101600" y="904081"/>
                </a:moveTo>
                <a:lnTo>
                  <a:pt x="101600" y="904081"/>
                </a:lnTo>
                <a:arcTo hR="101600" wR="101600" stAng="5400000" swAng="5400000"/>
                <a:lnTo>
                  <a:pt x="0" y="101600"/>
                </a:lnTo>
                <a:arcTo hR="101600" wR="101600" stAng="10800000" swAng="5400000"/>
                <a:lnTo>
                  <a:pt x="101600" y="0"/>
                </a:lnTo>
                <a:arcTo hR="101600" wR="63500" stAng="16200000" swAng="-5400000"/>
                <a:lnTo>
                  <a:pt x="38100" y="802481"/>
                </a:lnTo>
                <a:arcTo hR="101600" wR="63500" stAng="10800000" swAng="-5400000"/>
                <a:close/>
              </a:path>
            </a:pathLst>
          </a:custGeom>
          <a:solidFill>
            <a:srgbClr val="FF3B1F"/>
          </a:solidFill>
          <a:ln/>
        </p:spPr>
      </p:sp>
      <p:pic>
        <p:nvPicPr>
          <p:cNvPr id="17" name="Image 0" descr="Star">    </p:cNvPr>
          <p:cNvPicPr>
            <a:picLocks noChangeAspect="1"/>
          </p:cNvPicPr>
          <p:nvPr/>
        </p:nvPicPr>
        <p:blipFill>
          <a:blip r:embed="rId1"/>
          <a:srcRect l="0" r="0" t="-279" b="-279"/>
          <a:stretch/>
        </p:blipFill>
        <p:spPr>
          <a:xfrm>
            <a:off x="1079500" y="4128393"/>
            <a:ext cx="284163" cy="304800"/>
          </a:xfrm>
          <a:prstGeom prst="rect">
            <a:avLst/>
          </a:prstGeom>
        </p:spPr>
      </p:pic>
      <p:sp>
        <p:nvSpPr>
          <p:cNvPr id="18" name="Text 15"/>
          <p:cNvSpPr/>
          <p:nvPr/>
        </p:nvSpPr>
        <p:spPr>
          <a:xfrm>
            <a:off x="1516063" y="4006552"/>
            <a:ext cx="9923574" cy="57388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4F5FA"/>
                </a:solidFill>
                <a:latin typeface="IBM Plex Sans" pitchFamily="34" charset="0"/>
                <a:ea typeface="IBM Plex Sans" pitchFamily="34" charset="-122"/>
                <a:cs typeface="IBM Plex Sans" pitchFamily="34" charset="-120"/>
              </a:rPr>
              <a:t>In all three, NASA data sits at the core of the project, not added on. That is what the Relevance score looks for.</a:t>
            </a:r>
            <a:endParaRPr lang="en-US" sz="1600" dirty="0"/>
          </a:p>
        </p:txBody>
      </p:sp>
      <p:pic>
        <p:nvPicPr>
          <p:cNvPr id="19" name="Image 1" descr="NASA Space Apps Cairo logo">    </p:cNvPr>
          <p:cNvPicPr>
            <a:picLocks noChangeAspect="1"/>
          </p:cNvPicPr>
          <p:nvPr/>
        </p:nvPicPr>
        <p:blipFill>
          <a:blip r:embed="rId2"/>
          <a:srcRect l="-70" r="-70" t="0" b="0"/>
          <a:stretch/>
        </p:blipFill>
        <p:spPr>
          <a:xfrm>
            <a:off x="812800" y="6146800"/>
            <a:ext cx="908050" cy="355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3B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50" kern="0" dirty="0">
                <a:solidFill>
                  <a:srgbClr val="06070D"/>
                </a:solidFill>
                <a:latin typeface="IBM Plex Sans" pitchFamily="34" charset="0"/>
                <a:ea typeface="IBM Plex Sans" pitchFamily="34" charset="-122"/>
                <a:cs typeface="IBM Plex Sans" pitchFamily="34" charset="-120"/>
              </a:rPr>
              <a:t>AUDIENCE CHALLENGE · 3 MIN, IN PAIRS</a:t>
            </a:r>
            <a:endParaRPr lang="en-US" sz="1400" dirty="0"/>
          </a:p>
        </p:txBody>
      </p:sp>
      <p:sp>
        <p:nvSpPr>
          <p:cNvPr id="3" name="Text 1"/>
          <p:cNvSpPr/>
          <p:nvPr>
            <p:ph type="title"/>
          </p:nvPr>
        </p:nvSpPr>
        <p:spPr>
          <a:xfrm>
            <a:off x="812800" y="1239441"/>
            <a:ext cx="10883392" cy="134203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06070D"/>
                </a:solidFill>
                <a:latin typeface="Space Grotesk" pitchFamily="34" charset="0"/>
                <a:ea typeface="Space Grotesk" pitchFamily="34" charset="-122"/>
                <a:cs typeface="Space Grotesk" pitchFamily="34" charset="-120"/>
              </a:rPr>
              <a:t>You’re building a meteor-risk platform.</a:t>
            </a:r>
            <a:endParaRPr lang="en-US" sz="4800" dirty="0"/>
          </a:p>
        </p:txBody>
      </p:sp>
      <p:sp>
        <p:nvSpPr>
          <p:cNvPr id="4" name="Shape 2"/>
          <p:cNvSpPr/>
          <p:nvPr/>
        </p:nvSpPr>
        <p:spPr>
          <a:xfrm>
            <a:off x="812800" y="3423146"/>
            <a:ext cx="3420467" cy="1302941"/>
          </a:xfrm>
          <a:prstGeom prst="roundRect">
            <a:avLst>
              <a:gd name="adj" fmla="val 9747"/>
            </a:avLst>
          </a:prstGeom>
          <a:solidFill>
            <a:srgbClr val="06070D"/>
          </a:solidFill>
          <a:ln/>
        </p:spPr>
      </p:sp>
      <p:sp>
        <p:nvSpPr>
          <p:cNvPr id="5" name="Text 3"/>
          <p:cNvSpPr/>
          <p:nvPr/>
        </p:nvSpPr>
        <p:spPr>
          <a:xfrm>
            <a:off x="1016000" y="3626346"/>
            <a:ext cx="31044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016000" y="3951387"/>
            <a:ext cx="3104489"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4F5FA"/>
                </a:solidFill>
                <a:latin typeface="IBM Plex Sans" pitchFamily="34" charset="0"/>
                <a:ea typeface="IBM Plex Sans" pitchFamily="34" charset="-122"/>
                <a:cs typeface="IBM Plex Sans" pitchFamily="34" charset="-120"/>
              </a:rPr>
              <a:t>Which NASA APIs would you choose?</a:t>
            </a:r>
            <a:endParaRPr lang="en-US" sz="1800" dirty="0"/>
          </a:p>
        </p:txBody>
      </p:sp>
      <p:sp>
        <p:nvSpPr>
          <p:cNvPr id="7" name="Shape 5"/>
          <p:cNvSpPr/>
          <p:nvPr/>
        </p:nvSpPr>
        <p:spPr>
          <a:xfrm>
            <a:off x="4385667" y="3423146"/>
            <a:ext cx="3420566" cy="1302941"/>
          </a:xfrm>
          <a:prstGeom prst="roundRect">
            <a:avLst>
              <a:gd name="adj" fmla="val 9747"/>
            </a:avLst>
          </a:prstGeom>
          <a:solidFill>
            <a:srgbClr val="06070D"/>
          </a:solidFill>
          <a:ln/>
        </p:spPr>
      </p:sp>
      <p:sp>
        <p:nvSpPr>
          <p:cNvPr id="8" name="Text 6"/>
          <p:cNvSpPr/>
          <p:nvPr/>
        </p:nvSpPr>
        <p:spPr>
          <a:xfrm>
            <a:off x="4588867" y="3626346"/>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4588867" y="3951387"/>
            <a:ext cx="3104591"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4F5FA"/>
                </a:solidFill>
                <a:latin typeface="IBM Plex Sans" pitchFamily="34" charset="0"/>
                <a:ea typeface="IBM Plex Sans" pitchFamily="34" charset="-122"/>
                <a:cs typeface="IBM Plex Sans" pitchFamily="34" charset="-120"/>
              </a:rPr>
              <a:t>Where do they connect? Name the shared field.</a:t>
            </a:r>
            <a:endParaRPr lang="en-US" sz="1800" dirty="0"/>
          </a:p>
        </p:txBody>
      </p:sp>
      <p:sp>
        <p:nvSpPr>
          <p:cNvPr id="10" name="Shape 8"/>
          <p:cNvSpPr/>
          <p:nvPr/>
        </p:nvSpPr>
        <p:spPr>
          <a:xfrm>
            <a:off x="7958634" y="3423146"/>
            <a:ext cx="3420566" cy="1302941"/>
          </a:xfrm>
          <a:prstGeom prst="roundRect">
            <a:avLst>
              <a:gd name="adj" fmla="val 9747"/>
            </a:avLst>
          </a:prstGeom>
          <a:solidFill>
            <a:srgbClr val="06070D"/>
          </a:solidFill>
          <a:ln/>
        </p:spPr>
      </p:sp>
      <p:sp>
        <p:nvSpPr>
          <p:cNvPr id="11" name="Text 9"/>
          <p:cNvSpPr/>
          <p:nvPr/>
        </p:nvSpPr>
        <p:spPr>
          <a:xfrm>
            <a:off x="8161834" y="3626346"/>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8161834" y="3951387"/>
            <a:ext cx="3104591"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4F5FA"/>
                </a:solidFill>
                <a:latin typeface="IBM Plex Sans" pitchFamily="34" charset="0"/>
                <a:ea typeface="IBM Plex Sans" pitchFamily="34" charset="-122"/>
                <a:cs typeface="IBM Plex Sans" pitchFamily="34" charset="-120"/>
              </a:rPr>
              <a:t>What happens when one of them fails?</a:t>
            </a:r>
            <a:endParaRPr lang="en-US" sz="1800" dirty="0"/>
          </a:p>
        </p:txBody>
      </p:sp>
      <p:sp>
        <p:nvSpPr>
          <p:cNvPr id="13" name="Text 11"/>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6070D"/>
                </a:solidFill>
                <a:latin typeface="IBM Plex Sans" pitchFamily="34" charset="0"/>
                <a:ea typeface="IBM Plex Sans" pitchFamily="34" charset="-122"/>
                <a:cs typeface="IBM Plex Sans" pitchFamily="34" charset="-120"/>
              </a:rPr>
              <a:t>A 2025-style scenario. Talk in pairs, then share one answer.</a:t>
            </a:r>
            <a:endParaRPr lang="en-US" sz="1400" dirty="0"/>
          </a:p>
        </p:txBody>
      </p:sp>
      <p:sp>
        <p:nvSpPr>
          <p:cNvPr id="14" name="Shape 12"/>
          <p:cNvSpPr/>
          <p:nvPr/>
        </p:nvSpPr>
        <p:spPr>
          <a:xfrm>
            <a:off x="812800" y="6096000"/>
            <a:ext cx="1085850" cy="457200"/>
          </a:xfrm>
          <a:prstGeom prst="roundRect">
            <a:avLst>
              <a:gd name="adj" fmla="val 19444"/>
            </a:avLst>
          </a:prstGeom>
          <a:solidFill>
            <a:srgbClr val="06070D"/>
          </a:solidFill>
          <a:ln/>
        </p:spPr>
      </p:sp>
      <p:pic>
        <p:nvPicPr>
          <p:cNvPr id="15" name="Image 0" descr="NASA Space Apps Cairo logo">    </p:cNvPr>
          <p:cNvPicPr>
            <a:picLocks noChangeAspect="1"/>
          </p:cNvPicPr>
          <p:nvPr/>
        </p:nvPicPr>
        <p:blipFill>
          <a:blip r:embed="rId1"/>
          <a:srcRect l="-70" r="-70" t="0" b="0"/>
          <a:stretch/>
        </p:blipFill>
        <p:spPr>
          <a:xfrm>
            <a:off x="901700" y="6146800"/>
            <a:ext cx="908050" cy="355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Integration = joining by a shared field</a:t>
            </a:r>
            <a:endParaRPr lang="en-US" sz="3200" dirty="0"/>
          </a:p>
        </p:txBody>
      </p:sp>
      <p:sp>
        <p:nvSpPr>
          <p:cNvPr id="3" name="Shape 1"/>
          <p:cNvSpPr/>
          <p:nvPr/>
        </p:nvSpPr>
        <p:spPr>
          <a:xfrm>
            <a:off x="822325" y="1497905"/>
            <a:ext cx="5162550" cy="1172170"/>
          </a:xfrm>
          <a:prstGeom prst="roundRect">
            <a:avLst>
              <a:gd name="adj" fmla="val 10022"/>
            </a:avLst>
          </a:prstGeom>
          <a:solidFill>
            <a:srgbClr val="141A2E"/>
          </a:solidFill>
          <a:ln w="19050">
            <a:solidFill>
              <a:srgbClr val="6EA8FF"/>
            </a:solidFill>
            <a:prstDash val="solid"/>
          </a:ln>
        </p:spPr>
      </p:sp>
      <p:sp>
        <p:nvSpPr>
          <p:cNvPr id="4" name="Text 2"/>
          <p:cNvSpPr/>
          <p:nvPr/>
        </p:nvSpPr>
        <p:spPr>
          <a:xfrm>
            <a:off x="1060450" y="1685230"/>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SOURCE A · NASA NEOWS</a:t>
            </a:r>
            <a:endParaRPr lang="en-US" sz="1200" dirty="0"/>
          </a:p>
        </p:txBody>
      </p:sp>
      <p:sp>
        <p:nvSpPr>
          <p:cNvPr id="5" name="Text 3"/>
          <p:cNvSpPr/>
          <p:nvPr/>
        </p:nvSpPr>
        <p:spPr>
          <a:xfrm>
            <a:off x="1060450" y="1923951"/>
            <a:ext cx="482688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5FA"/>
                </a:solidFill>
                <a:latin typeface="JetBrains Mono" pitchFamily="49" charset="0"/>
                <a:ea typeface="JetBrains Mono" pitchFamily="49" charset="-122"/>
                <a:cs typeface="JetBrains Mono" pitchFamily="49" charset="-120"/>
              </a:rPr>
              <a:t>{ "name": "2025 AB",</a:t>
            </a:r>
            <a:endParaRPr lang="en-US" sz="1400" dirty="0"/>
          </a:p>
        </p:txBody>
      </p:sp>
      <p:sp>
        <p:nvSpPr>
          <p:cNvPr id="6" name="Text 4"/>
          <p:cNvSpPr/>
          <p:nvPr/>
        </p:nvSpPr>
        <p:spPr>
          <a:xfrm>
            <a:off x="1060450" y="2216051"/>
            <a:ext cx="482688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5FA"/>
                </a:solidFill>
                <a:latin typeface="JetBrains Mono" pitchFamily="49" charset="0"/>
                <a:ea typeface="JetBrains Mono" pitchFamily="49" charset="-122"/>
                <a:cs typeface="JetBrains Mono" pitchFamily="49" charset="-120"/>
              </a:rPr>
              <a:t>  "date": "2025-10-05" }</a:t>
            </a:r>
            <a:endParaRPr lang="en-US" sz="1400" dirty="0"/>
          </a:p>
        </p:txBody>
      </p:sp>
      <p:sp>
        <p:nvSpPr>
          <p:cNvPr id="7" name="Shape 5"/>
          <p:cNvSpPr/>
          <p:nvPr/>
        </p:nvSpPr>
        <p:spPr>
          <a:xfrm>
            <a:off x="6207125" y="1497905"/>
            <a:ext cx="5162550" cy="1172170"/>
          </a:xfrm>
          <a:prstGeom prst="roundRect">
            <a:avLst>
              <a:gd name="adj" fmla="val 10022"/>
            </a:avLst>
          </a:prstGeom>
          <a:solidFill>
            <a:srgbClr val="141A2E"/>
          </a:solidFill>
          <a:ln w="19050">
            <a:solidFill>
              <a:srgbClr val="FFB347"/>
            </a:solidFill>
            <a:prstDash val="solid"/>
          </a:ln>
        </p:spPr>
      </p:sp>
      <p:sp>
        <p:nvSpPr>
          <p:cNvPr id="8" name="Text 6"/>
          <p:cNvSpPr/>
          <p:nvPr/>
        </p:nvSpPr>
        <p:spPr>
          <a:xfrm>
            <a:off x="6445250" y="1685230"/>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IBM Plex Sans" pitchFamily="34" charset="0"/>
                <a:ea typeface="IBM Plex Sans" pitchFamily="34" charset="-122"/>
                <a:cs typeface="IBM Plex Sans" pitchFamily="34" charset="-120"/>
              </a:rPr>
              <a:t>SOURCE B · USGS EARTHQUAKES</a:t>
            </a:r>
            <a:endParaRPr lang="en-US" sz="1200" dirty="0"/>
          </a:p>
        </p:txBody>
      </p:sp>
      <p:sp>
        <p:nvSpPr>
          <p:cNvPr id="9" name="Text 7"/>
          <p:cNvSpPr/>
          <p:nvPr/>
        </p:nvSpPr>
        <p:spPr>
          <a:xfrm>
            <a:off x="6445250" y="1923951"/>
            <a:ext cx="482688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5FA"/>
                </a:solidFill>
                <a:latin typeface="JetBrains Mono" pitchFamily="49" charset="0"/>
                <a:ea typeface="JetBrains Mono" pitchFamily="49" charset="-122"/>
                <a:cs typeface="JetBrains Mono" pitchFamily="49" charset="-120"/>
              </a:rPr>
              <a:t>{ "date": "2025-10-05",</a:t>
            </a:r>
            <a:endParaRPr lang="en-US" sz="1400" dirty="0"/>
          </a:p>
        </p:txBody>
      </p:sp>
      <p:sp>
        <p:nvSpPr>
          <p:cNvPr id="10" name="Text 8"/>
          <p:cNvSpPr/>
          <p:nvPr/>
        </p:nvSpPr>
        <p:spPr>
          <a:xfrm>
            <a:off x="6445250" y="2216051"/>
            <a:ext cx="482688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5FA"/>
                </a:solidFill>
                <a:latin typeface="JetBrains Mono" pitchFamily="49" charset="0"/>
                <a:ea typeface="JetBrains Mono" pitchFamily="49" charset="-122"/>
                <a:cs typeface="JetBrains Mono" pitchFamily="49" charset="-120"/>
              </a:rPr>
              <a:t>  "magnitude": 5.8 }</a:t>
            </a:r>
            <a:endParaRPr lang="en-US" sz="1400" dirty="0"/>
          </a:p>
        </p:txBody>
      </p:sp>
      <p:pic>
        <p:nvPicPr>
          <p:cNvPr id="11" name="Image 0" descr="arrow-down">    </p:cNvPr>
          <p:cNvPicPr>
            <a:picLocks noChangeAspect="1"/>
          </p:cNvPicPr>
          <p:nvPr/>
        </p:nvPicPr>
        <p:blipFill>
          <a:blip r:embed="rId1"/>
          <a:srcRect l="0" r="0" t="0" b="0"/>
          <a:stretch/>
        </p:blipFill>
        <p:spPr>
          <a:xfrm>
            <a:off x="4776192" y="2991941"/>
            <a:ext cx="203200" cy="279400"/>
          </a:xfrm>
          <a:prstGeom prst="rect">
            <a:avLst/>
          </a:prstGeom>
        </p:spPr>
      </p:pic>
      <p:sp>
        <p:nvSpPr>
          <p:cNvPr id="12" name="Text 9"/>
          <p:cNvSpPr/>
          <p:nvPr/>
        </p:nvSpPr>
        <p:spPr>
          <a:xfrm>
            <a:off x="5157192" y="2908201"/>
            <a:ext cx="1877616" cy="446980"/>
          </a:xfrm>
          <a:prstGeom prst="roundRect">
            <a:avLst>
              <a:gd name="adj" fmla="val 50000"/>
            </a:avLst>
          </a:prstGeom>
          <a:solidFill>
            <a:srgbClr val="3DDC97"/>
          </a:solidFill>
          <a:ln/>
        </p:spPr>
        <p:txBody>
          <a:bodyPr wrap="none" lIns="0" tIns="0" rIns="0" bIns="0" rtlCol="0" anchor="ctr">
            <a:normAutofit/>
          </a:bodyPr>
          <a:lstStyle/>
          <a:p>
            <a:pPr algn="ctr" indent="0" marL="0">
              <a:lnSpc>
                <a:spcPts val="2520"/>
              </a:lnSpc>
              <a:buNone/>
            </a:pPr>
            <a:r>
              <a:rPr lang="en-US" sz="1800" b="1" dirty="0">
                <a:solidFill>
                  <a:srgbClr val="06070D"/>
                </a:solidFill>
                <a:latin typeface="Space Grotesk" pitchFamily="34" charset="0"/>
                <a:ea typeface="Space Grotesk" pitchFamily="34" charset="-122"/>
                <a:cs typeface="Space Grotesk" pitchFamily="34" charset="-120"/>
              </a:rPr>
              <a:t>join on: date</a:t>
            </a:r>
            <a:endParaRPr lang="en-US" sz="1800" dirty="0"/>
          </a:p>
        </p:txBody>
      </p:sp>
      <p:pic>
        <p:nvPicPr>
          <p:cNvPr id="13" name="Image 1" descr="arrow-down">    </p:cNvPr>
          <p:cNvPicPr>
            <a:picLocks noChangeAspect="1"/>
          </p:cNvPicPr>
          <p:nvPr/>
        </p:nvPicPr>
        <p:blipFill>
          <a:blip r:embed="rId2"/>
          <a:srcRect l="0" r="0" t="0" b="0"/>
          <a:stretch/>
        </p:blipFill>
        <p:spPr>
          <a:xfrm>
            <a:off x="7212608" y="2991941"/>
            <a:ext cx="203200" cy="279400"/>
          </a:xfrm>
          <a:prstGeom prst="rect">
            <a:avLst/>
          </a:prstGeom>
        </p:spPr>
      </p:pic>
      <p:sp>
        <p:nvSpPr>
          <p:cNvPr id="14" name="Shape 10"/>
          <p:cNvSpPr/>
          <p:nvPr/>
        </p:nvSpPr>
        <p:spPr>
          <a:xfrm>
            <a:off x="822325" y="3593306"/>
            <a:ext cx="10547350" cy="892770"/>
          </a:xfrm>
          <a:prstGeom prst="roundRect">
            <a:avLst>
              <a:gd name="adj" fmla="val 13158"/>
            </a:avLst>
          </a:prstGeom>
          <a:solidFill>
            <a:srgbClr val="141A2E"/>
          </a:solidFill>
          <a:ln w="19050">
            <a:solidFill>
              <a:srgbClr val="3DDC97"/>
            </a:solidFill>
            <a:prstDash val="solid"/>
          </a:ln>
        </p:spPr>
      </p:sp>
      <p:sp>
        <p:nvSpPr>
          <p:cNvPr id="15" name="Text 11"/>
          <p:cNvSpPr/>
          <p:nvPr/>
        </p:nvSpPr>
        <p:spPr>
          <a:xfrm>
            <a:off x="1060450" y="3780631"/>
            <a:ext cx="103732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RESULT · ASTEROID + EARTHQUAKE CONTEXT</a:t>
            </a:r>
            <a:endParaRPr lang="en-US" sz="1200" dirty="0"/>
          </a:p>
        </p:txBody>
      </p:sp>
      <p:sp>
        <p:nvSpPr>
          <p:cNvPr id="16" name="Text 12"/>
          <p:cNvSpPr/>
          <p:nvPr/>
        </p:nvSpPr>
        <p:spPr>
          <a:xfrm>
            <a:off x="1060450" y="4032052"/>
            <a:ext cx="10373233"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5FA"/>
                </a:solidFill>
                <a:latin typeface="JetBrains Mono" pitchFamily="49" charset="0"/>
                <a:ea typeface="JetBrains Mono" pitchFamily="49" charset="-122"/>
                <a:cs typeface="JetBrains Mono" pitchFamily="49" charset="-120"/>
              </a:rPr>
              <a:t>2025 AB · 2025-10-05 · magnitude 5.8 the same day</a:t>
            </a:r>
            <a:endParaRPr lang="en-US" sz="1400" dirty="0"/>
          </a:p>
        </p:txBody>
      </p:sp>
      <p:sp>
        <p:nvSpPr>
          <p:cNvPr id="17" name="Text 13"/>
          <p:cNvSpPr/>
          <p:nvPr/>
        </p:nvSpPr>
        <p:spPr>
          <a:xfrm>
            <a:off x="812800" y="472420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Illustrative values. Words to know: </a:t>
            </a:r>
            <a:r>
              <a:rPr lang="en-US" sz="1300" b="1" dirty="0">
                <a:solidFill>
                  <a:srgbClr val="F4F5FA"/>
                </a:solidFill>
                <a:latin typeface="IBM Plex Sans" pitchFamily="34" charset="0"/>
                <a:ea typeface="IBM Plex Sans" pitchFamily="34" charset="-122"/>
                <a:cs typeface="IBM Plex Sans" pitchFamily="34" charset="-120"/>
              </a:rPr>
              <a:t>join · key · relationship · data fusion</a:t>
            </a:r>
            <a:r>
              <a:rPr lang="en-US" sz="1300" dirty="0">
                <a:solidFill>
                  <a:srgbClr val="9AA3B8"/>
                </a:solidFill>
                <a:latin typeface="IBM Plex Sans" pitchFamily="34" charset="0"/>
                <a:ea typeface="IBM Plex Sans" pitchFamily="34" charset="-122"/>
                <a:cs typeface="IBM Plex Sans" pitchFamily="34" charset="-120"/>
              </a:rPr>
              <a:t> (many sources, one picture).</a:t>
            </a:r>
            <a:endParaRPr lang="en-US" sz="1300" dirty="0"/>
          </a:p>
        </p:txBody>
      </p:sp>
      <p:pic>
        <p:nvPicPr>
          <p:cNvPr id="18" name="Image 2" descr="NASA Space Apps Cairo logo">    </p:cNvPr>
          <p:cNvPicPr>
            <a:picLocks noChangeAspect="1"/>
          </p:cNvPicPr>
          <p:nvPr/>
        </p:nvPicPr>
        <p:blipFill>
          <a:blip r:embed="rId3"/>
          <a:srcRect l="-70" r="-70" t="0" b="0"/>
          <a:stretch/>
        </p:blipFill>
        <p:spPr>
          <a:xfrm>
            <a:off x="812800" y="6146800"/>
            <a:ext cx="908050" cy="355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51842"/>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F4F5FA"/>
                </a:solidFill>
                <a:latin typeface="Space Grotesk" pitchFamily="34" charset="0"/>
                <a:ea typeface="Space Grotesk" pitchFamily="34" charset="-122"/>
                <a:cs typeface="Space Grotesk" pitchFamily="34" charset="-120"/>
              </a:rPr>
              <a:t>Joining in pandas, and where joins go wrong</a:t>
            </a:r>
            <a:endParaRPr lang="en-US" sz="3060" dirty="0"/>
          </a:p>
        </p:txBody>
      </p:sp>
      <p:sp>
        <p:nvSpPr>
          <p:cNvPr id="3" name="Text 1"/>
          <p:cNvSpPr/>
          <p:nvPr/>
        </p:nvSpPr>
        <p:spPr>
          <a:xfrm>
            <a:off x="812800" y="1493242"/>
            <a:ext cx="6278880" cy="224234"/>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6EA8FF"/>
                </a:solidFill>
                <a:latin typeface="IBM Plex Sans" pitchFamily="34" charset="0"/>
                <a:ea typeface="IBM Plex Sans" pitchFamily="34" charset="-122"/>
                <a:cs typeface="IBM Plex Sans" pitchFamily="34" charset="-120"/>
              </a:rPr>
              <a:t>YOUR TURN · NOTEBOOK 04</a:t>
            </a:r>
            <a:endParaRPr lang="en-US" sz="1121" dirty="0"/>
          </a:p>
        </p:txBody>
      </p:sp>
      <p:sp>
        <p:nvSpPr>
          <p:cNvPr id="4" name="Shape 2"/>
          <p:cNvSpPr/>
          <p:nvPr/>
        </p:nvSpPr>
        <p:spPr>
          <a:xfrm>
            <a:off x="812800" y="1806377"/>
            <a:ext cx="6096000" cy="945654"/>
          </a:xfrm>
          <a:prstGeom prst="roundRect">
            <a:avLst>
              <a:gd name="adj" fmla="val 13430"/>
            </a:avLst>
          </a:prstGeom>
          <a:solidFill>
            <a:srgbClr val="141A2E"/>
          </a:solidFill>
          <a:ln/>
        </p:spPr>
      </p:sp>
      <p:sp>
        <p:nvSpPr>
          <p:cNvPr id="5" name="Text 3"/>
          <p:cNvSpPr/>
          <p:nvPr/>
        </p:nvSpPr>
        <p:spPr>
          <a:xfrm>
            <a:off x="1016000" y="1958777"/>
            <a:ext cx="20012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1</a:t>
            </a:r>
            <a:endParaRPr lang="en-US" sz="2600" dirty="0"/>
          </a:p>
        </p:txBody>
      </p:sp>
      <p:sp>
        <p:nvSpPr>
          <p:cNvPr id="6" name="Text 4"/>
          <p:cNvSpPr/>
          <p:nvPr/>
        </p:nvSpPr>
        <p:spPr>
          <a:xfrm>
            <a:off x="1317724" y="1958777"/>
            <a:ext cx="554951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Make both dates the same type</a:t>
            </a:r>
            <a:endParaRPr lang="en-US" sz="1500" dirty="0"/>
          </a:p>
        </p:txBody>
      </p:sp>
      <p:sp>
        <p:nvSpPr>
          <p:cNvPr id="7" name="Text 5"/>
          <p:cNvSpPr/>
          <p:nvPr/>
        </p:nvSpPr>
        <p:spPr>
          <a:xfrm>
            <a:off x="1317724" y="2235002"/>
            <a:ext cx="554951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USGS time is milliseconds since 1970. NeoWs date is text. Turn both into plain dates.</a:t>
            </a:r>
            <a:endParaRPr lang="en-US" sz="1200" dirty="0"/>
          </a:p>
        </p:txBody>
      </p:sp>
      <p:sp>
        <p:nvSpPr>
          <p:cNvPr id="8" name="Shape 6"/>
          <p:cNvSpPr/>
          <p:nvPr/>
        </p:nvSpPr>
        <p:spPr>
          <a:xfrm>
            <a:off x="812800" y="2866330"/>
            <a:ext cx="6096000" cy="753963"/>
          </a:xfrm>
          <a:prstGeom prst="roundRect">
            <a:avLst>
              <a:gd name="adj" fmla="val 16844"/>
            </a:avLst>
          </a:prstGeom>
          <a:solidFill>
            <a:srgbClr val="141A2E"/>
          </a:solidFill>
          <a:ln/>
        </p:spPr>
      </p:sp>
      <p:sp>
        <p:nvSpPr>
          <p:cNvPr id="9" name="Text 7"/>
          <p:cNvSpPr/>
          <p:nvPr/>
        </p:nvSpPr>
        <p:spPr>
          <a:xfrm>
            <a:off x="1016000" y="3018730"/>
            <a:ext cx="246955"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2</a:t>
            </a:r>
            <a:endParaRPr lang="en-US" sz="2600" dirty="0"/>
          </a:p>
        </p:txBody>
      </p:sp>
      <p:sp>
        <p:nvSpPr>
          <p:cNvPr id="10" name="Text 8"/>
          <p:cNvSpPr/>
          <p:nvPr/>
        </p:nvSpPr>
        <p:spPr>
          <a:xfrm>
            <a:off x="1364555" y="3018730"/>
            <a:ext cx="550127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Reduce quakes to one row per day</a:t>
            </a:r>
            <a:endParaRPr lang="en-US" sz="1500" dirty="0"/>
          </a:p>
        </p:txBody>
      </p:sp>
      <p:sp>
        <p:nvSpPr>
          <p:cNvPr id="11" name="Text 9"/>
          <p:cNvSpPr/>
          <p:nvPr/>
        </p:nvSpPr>
        <p:spPr>
          <a:xfrm>
            <a:off x="1364555" y="3294955"/>
            <a:ext cx="55012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Group by date and keep the strongest magnitude. Otherwise rows multiply.</a:t>
            </a:r>
            <a:endParaRPr lang="en-US" sz="1200" dirty="0"/>
          </a:p>
        </p:txBody>
      </p:sp>
      <p:sp>
        <p:nvSpPr>
          <p:cNvPr id="12" name="Shape 10"/>
          <p:cNvSpPr/>
          <p:nvPr/>
        </p:nvSpPr>
        <p:spPr>
          <a:xfrm>
            <a:off x="812800" y="3734594"/>
            <a:ext cx="6096000" cy="753963"/>
          </a:xfrm>
          <a:prstGeom prst="roundRect">
            <a:avLst>
              <a:gd name="adj" fmla="val 16844"/>
            </a:avLst>
          </a:prstGeom>
          <a:solidFill>
            <a:srgbClr val="141A2E"/>
          </a:solidFill>
          <a:ln/>
        </p:spPr>
      </p:sp>
      <p:sp>
        <p:nvSpPr>
          <p:cNvPr id="13" name="Text 11"/>
          <p:cNvSpPr/>
          <p:nvPr/>
        </p:nvSpPr>
        <p:spPr>
          <a:xfrm>
            <a:off x="1016000" y="3886994"/>
            <a:ext cx="25161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3DDC97"/>
                </a:solidFill>
                <a:latin typeface="Space Grotesk" pitchFamily="34" charset="0"/>
                <a:ea typeface="Space Grotesk" pitchFamily="34" charset="-122"/>
                <a:cs typeface="Space Grotesk" pitchFamily="34" charset="-120"/>
              </a:rPr>
              <a:t>3</a:t>
            </a:r>
            <a:endParaRPr lang="en-US" sz="2600" dirty="0"/>
          </a:p>
        </p:txBody>
      </p:sp>
      <p:sp>
        <p:nvSpPr>
          <p:cNvPr id="14" name="Text 12"/>
          <p:cNvSpPr/>
          <p:nvPr/>
        </p:nvSpPr>
        <p:spPr>
          <a:xfrm>
            <a:off x="1369219" y="3886994"/>
            <a:ext cx="549647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Merge on the shared date</a:t>
            </a:r>
            <a:endParaRPr lang="en-US" sz="1500" dirty="0"/>
          </a:p>
        </p:txBody>
      </p:sp>
      <p:sp>
        <p:nvSpPr>
          <p:cNvPr id="15" name="Text 13"/>
          <p:cNvSpPr/>
          <p:nvPr/>
        </p:nvSpPr>
        <p:spPr>
          <a:xfrm>
            <a:off x="1369219" y="4163219"/>
            <a:ext cx="549647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Keep every asteroid, even on days with no quake. Which </a:t>
            </a:r>
            <a:r>
              <a:rPr lang="en-US" sz="1200" b="1" dirty="0">
                <a:solidFill>
                  <a:srgbClr val="F4F5FA"/>
                </a:solidFill>
                <a:latin typeface="IBM Plex Sans" pitchFamily="34" charset="0"/>
                <a:ea typeface="IBM Plex Sans" pitchFamily="34" charset="-122"/>
                <a:cs typeface="IBM Plex Sans" pitchFamily="34" charset="-120"/>
              </a:rPr>
              <a:t>how=</a:t>
            </a:r>
            <a:r>
              <a:rPr lang="en-US" sz="1200" dirty="0">
                <a:solidFill>
                  <a:srgbClr val="BFC6D8"/>
                </a:solidFill>
                <a:latin typeface="IBM Plex Sans" pitchFamily="34" charset="0"/>
                <a:ea typeface="IBM Plex Sans" pitchFamily="34" charset="-122"/>
                <a:cs typeface="IBM Plex Sans" pitchFamily="34" charset="-120"/>
              </a:rPr>
              <a:t> does that?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4615557"/>
          <a:ext cx="6083300" cy="929878"/>
        </p:xfrm>
        <a:graphic>
          <a:graphicData uri="http://schemas.openxmlformats.org/drawingml/2006/table">
            <a:tbl>
              <a:tblPr/>
              <a:tblGrid>
                <a:gridCol w="2068322"/>
                <a:gridCol w="2068322"/>
                <a:gridCol w="1946656"/>
              </a:tblGrid>
              <a:tr h="309959">
                <a:tc>
                  <a:txBody>
                    <a:bodyPr/>
                    <a:lstStyle/>
                    <a:p>
                      <a:pPr indent="0" marL="0">
                        <a:lnSpc>
                          <a:spcPts val="1559"/>
                        </a:lnSpc>
                        <a:buNone/>
                      </a:pPr>
                      <a:r>
                        <a:rPr lang="en-US" sz="1114" b="1" dirty="0">
                          <a:solidFill>
                            <a:srgbClr val="9AA3B8"/>
                          </a:solidFill>
                          <a:latin typeface="JetBrains Mono" pitchFamily="49" charset="0"/>
                          <a:ea typeface="JetBrains Mono" pitchFamily="49" charset="-122"/>
                          <a:cs typeface="JetBrains Mono" pitchFamily="49" charset="-120"/>
                        </a:rPr>
                        <a:t>date</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3C3C40"/>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559"/>
                        </a:lnSpc>
                        <a:buNone/>
                      </a:pPr>
                      <a:r>
                        <a:rPr lang="en-US" sz="1114" b="1" dirty="0">
                          <a:solidFill>
                            <a:srgbClr val="9AA3B8"/>
                          </a:solidFill>
                          <a:latin typeface="JetBrains Mono" pitchFamily="49" charset="0"/>
                          <a:ea typeface="JetBrains Mono" pitchFamily="49" charset="-122"/>
                          <a:cs typeface="JetBrains Mono" pitchFamily="49" charset="-120"/>
                        </a:rPr>
                        <a:t>name</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559"/>
                        </a:lnSpc>
                        <a:buNone/>
                      </a:pPr>
                      <a:r>
                        <a:rPr lang="en-US" sz="1114" b="1" dirty="0">
                          <a:solidFill>
                            <a:srgbClr val="9AA3B8"/>
                          </a:solidFill>
                          <a:latin typeface="JetBrains Mono" pitchFamily="49" charset="0"/>
                          <a:ea typeface="JetBrains Mono" pitchFamily="49" charset="-122"/>
                          <a:cs typeface="JetBrains Mono" pitchFamily="49" charset="-120"/>
                        </a:rPr>
                        <a:t>mag</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r>
              <a:tr h="309959">
                <a:tc>
                  <a:txBody>
                    <a:bodyPr/>
                    <a:lstStyle/>
                    <a:p>
                      <a:pPr indent="0" marL="0">
                        <a:lnSpc>
                          <a:spcPts val="1559"/>
                        </a:lnSpc>
                        <a:buNone/>
                      </a:pPr>
                      <a:r>
                        <a:rPr lang="en-US" sz="1114" dirty="0">
                          <a:solidFill>
                            <a:srgbClr val="F4F5FA"/>
                          </a:solidFill>
                          <a:latin typeface="JetBrains Mono" pitchFamily="49" charset="0"/>
                          <a:ea typeface="JetBrains Mono" pitchFamily="49" charset="-122"/>
                          <a:cs typeface="JetBrains Mono" pitchFamily="49" charset="-120"/>
                        </a:rPr>
                        <a:t>2025-10-05</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559"/>
                        </a:lnSpc>
                        <a:buNone/>
                      </a:pPr>
                      <a:r>
                        <a:rPr lang="en-US" sz="1114" dirty="0">
                          <a:solidFill>
                            <a:srgbClr val="F4F5FA"/>
                          </a:solidFill>
                          <a:latin typeface="JetBrains Mono" pitchFamily="49" charset="0"/>
                          <a:ea typeface="JetBrains Mono" pitchFamily="49" charset="-122"/>
                          <a:cs typeface="JetBrains Mono" pitchFamily="49" charset="-120"/>
                        </a:rPr>
                        <a:t>2025 AB</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559"/>
                        </a:lnSpc>
                        <a:buNone/>
                      </a:pPr>
                      <a:r>
                        <a:rPr lang="en-US" sz="1114" dirty="0">
                          <a:solidFill>
                            <a:srgbClr val="F4F5FA"/>
                          </a:solidFill>
                          <a:latin typeface="JetBrains Mono" pitchFamily="49" charset="0"/>
                          <a:ea typeface="JetBrains Mono" pitchFamily="49" charset="-122"/>
                          <a:cs typeface="JetBrains Mono" pitchFamily="49" charset="-120"/>
                        </a:rPr>
                        <a:t>5.8</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09959">
                <a:tc>
                  <a:txBody>
                    <a:bodyPr/>
                    <a:lstStyle/>
                    <a:p>
                      <a:pPr indent="0" marL="0">
                        <a:lnSpc>
                          <a:spcPts val="1559"/>
                        </a:lnSpc>
                        <a:buNone/>
                      </a:pPr>
                      <a:r>
                        <a:rPr lang="en-US" sz="1114" dirty="0">
                          <a:solidFill>
                            <a:srgbClr val="F4F5FA"/>
                          </a:solidFill>
                          <a:latin typeface="JetBrains Mono" pitchFamily="49" charset="0"/>
                          <a:ea typeface="JetBrains Mono" pitchFamily="49" charset="-122"/>
                          <a:cs typeface="JetBrains Mono" pitchFamily="49" charset="-120"/>
                        </a:rPr>
                        <a:t>2025-10-06</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559"/>
                        </a:lnSpc>
                        <a:buNone/>
                      </a:pPr>
                      <a:r>
                        <a:rPr lang="en-US" sz="1114" dirty="0">
                          <a:solidFill>
                            <a:srgbClr val="F4F5FA"/>
                          </a:solidFill>
                          <a:latin typeface="JetBrains Mono" pitchFamily="49" charset="0"/>
                          <a:ea typeface="JetBrains Mono" pitchFamily="49" charset="-122"/>
                          <a:cs typeface="JetBrains Mono" pitchFamily="49" charset="-120"/>
                        </a:rPr>
                        <a:t>2025 CD</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559"/>
                        </a:lnSpc>
                        <a:buNone/>
                      </a:pPr>
                      <a:r>
                        <a:rPr lang="en-US" sz="1114" dirty="0">
                          <a:solidFill>
                            <a:srgbClr val="F4F5FA"/>
                          </a:solidFill>
                          <a:latin typeface="JetBrains Mono" pitchFamily="49" charset="0"/>
                          <a:ea typeface="JetBrains Mono" pitchFamily="49" charset="-122"/>
                          <a:cs typeface="JetBrains Mono" pitchFamily="49" charset="-120"/>
                        </a:rPr>
                        <a:t>NaN</a:t>
                      </a:r>
                      <a:endParaRPr lang="en-US" sz="1114" dirty="0">
                        <a:latin typeface="JetBrains Mono" charset="0"/>
                        <a:ea typeface="JetBrains Mono" charset="0"/>
                        <a:cs typeface="JetBrains Mono" charset="0"/>
                      </a:endParaRPr>
                    </a:p>
                  </a:txBody>
                  <a:tcPr marL="49506" marR="49506" marT="49506" marB="49506"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bl>
          </a:graphicData>
        </a:graphic>
      </p:graphicFrame>
      <p:sp>
        <p:nvSpPr>
          <p:cNvPr id="17" name="Text 14"/>
          <p:cNvSpPr/>
          <p:nvPr/>
        </p:nvSpPr>
        <p:spPr>
          <a:xfrm>
            <a:off x="812800" y="5659735"/>
            <a:ext cx="6278880" cy="207665"/>
          </a:xfrm>
          <a:prstGeom prst="rect">
            <a:avLst/>
          </a:prstGeom>
          <a:noFill/>
          <a:ln/>
        </p:spPr>
        <p:txBody>
          <a:bodyPr wrap="square" lIns="0" tIns="0" rIns="0" bIns="0" rtlCol="0" anchor="t">
            <a:normAutofit/>
          </a:bodyPr>
          <a:lstStyle/>
          <a:p>
            <a:pPr algn="l" indent="0" marL="0">
              <a:lnSpc>
                <a:spcPts val="1473"/>
              </a:lnSpc>
              <a:buNone/>
            </a:pPr>
            <a:r>
              <a:rPr lang="en-US" sz="1052" dirty="0">
                <a:solidFill>
                  <a:srgbClr val="9AA3B8"/>
                </a:solidFill>
                <a:latin typeface="IBM Plex Sans" pitchFamily="34" charset="0"/>
                <a:ea typeface="IBM Plex Sans" pitchFamily="34" charset="-122"/>
                <a:cs typeface="IBM Plex Sans" pitchFamily="34" charset="-120"/>
              </a:rPr>
              <a:t>Illustrative target shape, not real data.</a:t>
            </a:r>
            <a:endParaRPr lang="en-US" sz="1052" dirty="0"/>
          </a:p>
        </p:txBody>
      </p:sp>
      <p:sp>
        <p:nvSpPr>
          <p:cNvPr id="18" name="Text 15"/>
          <p:cNvSpPr/>
          <p:nvPr/>
        </p:nvSpPr>
        <p:spPr>
          <a:xfrm>
            <a:off x="7213600" y="1493242"/>
            <a:ext cx="42905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IBM Plex Sans" pitchFamily="34" charset="0"/>
                <a:ea typeface="IBM Plex Sans" pitchFamily="34" charset="-122"/>
                <a:cs typeface="IBM Plex Sans" pitchFamily="34" charset="-120"/>
              </a:rPr>
              <a:t>WHERE JOINS GO WRONG</a:t>
            </a:r>
            <a:endParaRPr lang="en-US" sz="1200" dirty="0"/>
          </a:p>
        </p:txBody>
      </p:sp>
      <p:pic>
        <p:nvPicPr>
          <p:cNvPr id="19" name="Image 0" descr="Warning">    </p:cNvPr>
          <p:cNvPicPr>
            <a:picLocks noChangeAspect="1"/>
          </p:cNvPicPr>
          <p:nvPr/>
        </p:nvPicPr>
        <p:blipFill>
          <a:blip r:embed="rId1"/>
          <a:srcRect l="0" r="0" t="0" b="0"/>
          <a:stretch/>
        </p:blipFill>
        <p:spPr>
          <a:xfrm>
            <a:off x="7213600" y="1833563"/>
            <a:ext cx="228600" cy="228600"/>
          </a:xfrm>
          <a:prstGeom prst="rect">
            <a:avLst/>
          </a:prstGeom>
        </p:spPr>
      </p:pic>
      <p:sp>
        <p:nvSpPr>
          <p:cNvPr id="20" name="Text 16"/>
          <p:cNvSpPr/>
          <p:nvPr/>
        </p:nvSpPr>
        <p:spPr>
          <a:xfrm>
            <a:off x="7543800" y="1833563"/>
            <a:ext cx="395046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Same format on both sides: dates as dates, not text on one side and ms on the other</a:t>
            </a:r>
            <a:endParaRPr lang="en-US" sz="1300" dirty="0"/>
          </a:p>
        </p:txBody>
      </p:sp>
      <p:pic>
        <p:nvPicPr>
          <p:cNvPr id="21" name="Image 1" descr="Warning">    </p:cNvPr>
          <p:cNvPicPr>
            <a:picLocks noChangeAspect="1"/>
          </p:cNvPicPr>
          <p:nvPr/>
        </p:nvPicPr>
        <p:blipFill>
          <a:blip r:embed="rId2"/>
          <a:srcRect l="0" r="0" t="0" b="0"/>
          <a:stretch/>
        </p:blipFill>
        <p:spPr>
          <a:xfrm>
            <a:off x="7213600" y="2406253"/>
            <a:ext cx="228600" cy="228600"/>
          </a:xfrm>
          <a:prstGeom prst="rect">
            <a:avLst/>
          </a:prstGeom>
        </p:spPr>
      </p:pic>
      <p:sp>
        <p:nvSpPr>
          <p:cNvPr id="22" name="Text 17"/>
          <p:cNvSpPr/>
          <p:nvPr/>
        </p:nvSpPr>
        <p:spPr>
          <a:xfrm>
            <a:off x="7543800" y="2406253"/>
            <a:ext cx="395046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Time zones: UTC vs local time can shift the day</a:t>
            </a:r>
            <a:endParaRPr lang="en-US" sz="1300" dirty="0"/>
          </a:p>
        </p:txBody>
      </p:sp>
      <p:pic>
        <p:nvPicPr>
          <p:cNvPr id="23" name="Image 2" descr="Warning">    </p:cNvPr>
          <p:cNvPicPr>
            <a:picLocks noChangeAspect="1"/>
          </p:cNvPicPr>
          <p:nvPr/>
        </p:nvPicPr>
        <p:blipFill>
          <a:blip r:embed="rId3"/>
          <a:srcRect l="0" r="0" t="0" b="0"/>
          <a:stretch/>
        </p:blipFill>
        <p:spPr>
          <a:xfrm>
            <a:off x="7213600" y="2761853"/>
            <a:ext cx="228600" cy="228600"/>
          </a:xfrm>
          <a:prstGeom prst="rect">
            <a:avLst/>
          </a:prstGeom>
        </p:spPr>
      </p:pic>
      <p:sp>
        <p:nvSpPr>
          <p:cNvPr id="24" name="Text 18"/>
          <p:cNvSpPr/>
          <p:nvPr/>
        </p:nvSpPr>
        <p:spPr>
          <a:xfrm>
            <a:off x="7543800" y="2761853"/>
            <a:ext cx="395046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GeoJSON order is [lon, lat], not [lat, lon]</a:t>
            </a:r>
            <a:endParaRPr lang="en-US" sz="1300" dirty="0"/>
          </a:p>
        </p:txBody>
      </p:sp>
      <p:pic>
        <p:nvPicPr>
          <p:cNvPr id="25" name="Image 3" descr="Warning">    </p:cNvPr>
          <p:cNvPicPr>
            <a:picLocks noChangeAspect="1"/>
          </p:cNvPicPr>
          <p:nvPr/>
        </p:nvPicPr>
        <p:blipFill>
          <a:blip r:embed="rId4"/>
          <a:srcRect l="0" r="0" t="0" b="0"/>
          <a:stretch/>
        </p:blipFill>
        <p:spPr>
          <a:xfrm>
            <a:off x="7213600" y="3117453"/>
            <a:ext cx="228600" cy="228600"/>
          </a:xfrm>
          <a:prstGeom prst="rect">
            <a:avLst/>
          </a:prstGeom>
        </p:spPr>
      </p:pic>
      <p:sp>
        <p:nvSpPr>
          <p:cNvPr id="26" name="Text 19"/>
          <p:cNvSpPr/>
          <p:nvPr/>
        </p:nvSpPr>
        <p:spPr>
          <a:xfrm>
            <a:off x="7543800" y="3117453"/>
            <a:ext cx="395046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One-to-many: group first, or rows multiply</a:t>
            </a:r>
            <a:endParaRPr lang="en-US" sz="1300" dirty="0"/>
          </a:p>
        </p:txBody>
      </p:sp>
      <p:pic>
        <p:nvPicPr>
          <p:cNvPr id="27" name="Image 4" descr="Warning">    </p:cNvPr>
          <p:cNvPicPr>
            <a:picLocks noChangeAspect="1"/>
          </p:cNvPicPr>
          <p:nvPr/>
        </p:nvPicPr>
        <p:blipFill>
          <a:blip r:embed="rId5"/>
          <a:srcRect l="0" r="0" t="0" b="0"/>
          <a:stretch/>
        </p:blipFill>
        <p:spPr>
          <a:xfrm>
            <a:off x="7213600" y="3473053"/>
            <a:ext cx="228600" cy="228600"/>
          </a:xfrm>
          <a:prstGeom prst="rect">
            <a:avLst/>
          </a:prstGeom>
        </p:spPr>
      </p:pic>
      <p:sp>
        <p:nvSpPr>
          <p:cNvPr id="28" name="Text 20"/>
          <p:cNvSpPr/>
          <p:nvPr/>
        </p:nvSpPr>
        <p:spPr>
          <a:xfrm>
            <a:off x="7543800" y="3473053"/>
            <a:ext cx="395046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5FA"/>
                </a:solidFill>
                <a:latin typeface="IBM Plex Sans" pitchFamily="34" charset="0"/>
                <a:ea typeface="IBM Plex Sans" pitchFamily="34" charset="-122"/>
                <a:cs typeface="IBM Plex Sans" pitchFamily="34" charset="-120"/>
              </a:rPr>
              <a:t>A left join keeps every asteroid, even on days with no quake</a:t>
            </a:r>
            <a:endParaRPr lang="en-US" sz="1300" dirty="0"/>
          </a:p>
        </p:txBody>
      </p:sp>
      <p:pic>
        <p:nvPicPr>
          <p:cNvPr id="29" name="Image 5" descr="NASA Space Apps Cairo logo">    </p:cNvPr>
          <p:cNvPicPr>
            <a:picLocks noChangeAspect="1"/>
          </p:cNvPicPr>
          <p:nvPr/>
        </p:nvPicPr>
        <p:blipFill>
          <a:blip r:embed="rId6"/>
          <a:srcRect l="-70" r="-70" t="0" b="0"/>
          <a:stretch/>
        </p:blipFill>
        <p:spPr>
          <a:xfrm>
            <a:off x="812800" y="6146800"/>
            <a:ext cx="908050" cy="355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Failure engineering: what breaks, and what to do</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53700" cy="2701727"/>
        </p:xfrm>
        <a:graphic>
          <a:graphicData uri="http://schemas.openxmlformats.org/drawingml/2006/table">
            <a:tbl>
              <a:tblPr/>
              <a:tblGrid>
                <a:gridCol w="2110740"/>
                <a:gridCol w="3166110"/>
                <a:gridCol w="5276850"/>
              </a:tblGrid>
              <a:tr h="385961">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Failure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What it looks like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c>
                  <a:txBody>
                    <a:bodyPr/>
                    <a:lstStyle/>
                    <a:p>
                      <a:pPr indent="0" marL="0">
                        <a:lnSpc>
                          <a:spcPts val="1960"/>
                        </a:lnSpc>
                        <a:buNone/>
                      </a:pPr>
                      <a:r>
                        <a:rPr lang="en-US" sz="1400" b="1" dirty="0">
                          <a:solidFill>
                            <a:srgbClr val="9AA3B8"/>
                          </a:solidFill>
                          <a:latin typeface="IBM Plex Sans" pitchFamily="34" charset="0"/>
                          <a:ea typeface="IBM Plex Sans" pitchFamily="34" charset="-122"/>
                          <a:cs typeface="IBM Plex Sans" pitchFamily="34" charset="-120"/>
                        </a:rPr>
                        <a:t>What to 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74B5A"/>
                      </a:solidFill>
                      <a:prstDash val="solid"/>
                      <a:round/>
                      <a:headEnd type="none" w="med" len="med"/>
                      <a:tailEnd type="none" w="med" len="med"/>
                    </a:lnL>
                    <a:lnR w="12700" cap="flat" cmpd="sng" algn="ctr">
                      <a:solidFill>
                        <a:srgbClr val="474B5A"/>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74B5A"/>
                      </a:solidFill>
                      <a:prstDash val="solid"/>
                      <a:round/>
                      <a:headEnd type="none" w="med" len="med"/>
                      <a:tailEnd type="none" w="med" len="med"/>
                    </a:lnB>
                    <a:solidFill>
                      <a:srgbClr val="141A2E"/>
                    </a:solidFill>
                  </a:tcPr>
                </a:tc>
              </a:tr>
              <a:tr h="385961">
                <a:tc>
                  <a:txBody>
                    <a:bodyPr/>
                    <a:lstStyle/>
                    <a:p>
                      <a:pPr indent="0" marL="0">
                        <a:lnSpc>
                          <a:spcPts val="1960"/>
                        </a:lnSpc>
                        <a:buNone/>
                      </a:pPr>
                      <a:r>
                        <a:rPr lang="en-US" sz="1400" dirty="0">
                          <a:solidFill>
                            <a:srgbClr val="FFB347"/>
                          </a:solidFill>
                          <a:latin typeface="IBM Plex Sans" pitchFamily="34" charset="0"/>
                          <a:ea typeface="IBM Plex Sans" pitchFamily="34" charset="-122"/>
                          <a:cs typeface="IBM Plex Sans" pitchFamily="34" charset="-120"/>
                        </a:rPr>
                        <a:t>Timeout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NASA is slow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Set timeout=10, retry once, then fall 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74B5A"/>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FF3B1F"/>
                          </a:solidFill>
                          <a:latin typeface="IBM Plex Sans" pitchFamily="34" charset="0"/>
                          <a:ea typeface="IBM Plex Sans" pitchFamily="34" charset="-122"/>
                          <a:cs typeface="IBM Plex Sans" pitchFamily="34" charset="-120"/>
                        </a:rPr>
                        <a:t>403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Invalid or missing key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Show a clear message; check the key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85961">
                <a:tc>
                  <a:txBody>
                    <a:bodyPr/>
                    <a:lstStyle/>
                    <a:p>
                      <a:pPr indent="0" marL="0">
                        <a:lnSpc>
                          <a:spcPts val="1960"/>
                        </a:lnSpc>
                        <a:buNone/>
                      </a:pPr>
                      <a:r>
                        <a:rPr lang="en-US" sz="1400" dirty="0">
                          <a:solidFill>
                            <a:srgbClr val="FF3B1F"/>
                          </a:solidFill>
                          <a:latin typeface="IBM Plex Sans" pitchFamily="34" charset="0"/>
                          <a:ea typeface="IBM Plex Sans" pitchFamily="34" charset="-122"/>
                          <a:cs typeface="IBM Plex Sans" pitchFamily="34" charset="-120"/>
                        </a:rPr>
                        <a:t>429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Too many calls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Wait, cache results, use your own key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FFB347"/>
                          </a:solidFill>
                          <a:latin typeface="IBM Plex Sans" pitchFamily="34" charset="0"/>
                          <a:ea typeface="IBM Plex Sans" pitchFamily="34" charset="-122"/>
                          <a:cs typeface="IBM Plex Sans" pitchFamily="34" charset="-120"/>
                        </a:rPr>
                        <a:t>Missing field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A key is not in the JSON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Use .get() with a default value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r h="385961">
                <a:tc>
                  <a:txBody>
                    <a:bodyPr/>
                    <a:lstStyle/>
                    <a:p>
                      <a:pPr indent="0" marL="0">
                        <a:lnSpc>
                          <a:spcPts val="1960"/>
                        </a:lnSpc>
                        <a:buNone/>
                      </a:pPr>
                      <a:r>
                        <a:rPr lang="en-US" sz="1400" dirty="0">
                          <a:solidFill>
                            <a:srgbClr val="FFB347"/>
                          </a:solidFill>
                          <a:latin typeface="IBM Plex Sans" pitchFamily="34" charset="0"/>
                          <a:ea typeface="IBM Plex Sans" pitchFamily="34" charset="-122"/>
                          <a:cs typeface="IBM Plex Sans" pitchFamily="34" charset="-120"/>
                        </a:rPr>
                        <a:t>Wrong units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km vs miles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Check the docs; convert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3C3C40"/>
                      </a:solidFill>
                      <a:prstDash val="solid"/>
                      <a:round/>
                      <a:headEnd type="none" w="med" len="med"/>
                      <a:tailEnd type="none" w="med" len="med"/>
                    </a:lnR>
                    <a:lnT w="12700" cap="flat" cmpd="sng" algn="ctr">
                      <a:solidFill>
                        <a:srgbClr val="41444F"/>
                      </a:solidFill>
                      <a:prstDash val="solid"/>
                      <a:round/>
                      <a:headEnd type="none" w="med" len="med"/>
                      <a:tailEnd type="none" w="med" len="med"/>
                    </a:lnT>
                    <a:lnB w="12700" cap="flat" cmpd="sng" algn="ctr">
                      <a:solidFill>
                        <a:srgbClr val="3C3C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6EA8FF"/>
                          </a:solidFill>
                          <a:latin typeface="IBM Plex Sans" pitchFamily="34" charset="0"/>
                          <a:ea typeface="IBM Plex Sans" pitchFamily="34" charset="-122"/>
                          <a:cs typeface="IBM Plex Sans" pitchFamily="34" charset="-120"/>
                        </a:rPr>
                        <a:t>Empty response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C3C40"/>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200 OK with [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c>
                  <a:txBody>
                    <a:bodyPr/>
                    <a:lstStyle/>
                    <a:p>
                      <a:pPr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Show a “no data” state, not a blank screen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1444F"/>
                      </a:solidFill>
                      <a:prstDash val="solid"/>
                      <a:round/>
                      <a:headEnd type="none" w="med" len="med"/>
                      <a:tailEnd type="none" w="med" len="med"/>
                    </a:lnL>
                    <a:lnR w="12700" cap="flat" cmpd="sng" algn="ctr">
                      <a:solidFill>
                        <a:srgbClr val="41444F"/>
                      </a:solidFill>
                      <a:prstDash val="solid"/>
                      <a:round/>
                      <a:headEnd type="none" w="med" len="med"/>
                      <a:tailEnd type="none" w="med" len="med"/>
                    </a:lnR>
                    <a:lnT w="12700" cap="flat" cmpd="sng" algn="ctr">
                      <a:solidFill>
                        <a:srgbClr val="3C3C40"/>
                      </a:solidFill>
                      <a:prstDash val="solid"/>
                      <a:round/>
                      <a:headEnd type="none" w="med" len="med"/>
                      <a:tailEnd type="none" w="med" len="med"/>
                    </a:lnT>
                    <a:lnB w="12700" cap="flat" cmpd="sng" algn="ctr">
                      <a:solidFill>
                        <a:srgbClr val="41444F"/>
                      </a:solidFill>
                      <a:prstDash val="solid"/>
                      <a:round/>
                      <a:headEnd type="none" w="med" len="med"/>
                      <a:tailEnd type="none" w="med" len="med"/>
                    </a:lnB>
                    <a:solidFill>
                      <a:srgbClr val="0D1120"/>
                    </a:solidFill>
                  </a:tcPr>
                </a:tc>
              </a:tr>
            </a:tbl>
          </a:graphicData>
        </a:graphic>
      </p:graphicFrame>
      <p:sp>
        <p:nvSpPr>
          <p:cNvPr id="4" name="Text 1"/>
          <p:cNvSpPr/>
          <p:nvPr/>
        </p:nvSpPr>
        <p:spPr>
          <a:xfrm>
            <a:off x="812800" y="4482207"/>
            <a:ext cx="10883392" cy="29964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4F5FA"/>
                </a:solidFill>
                <a:latin typeface="IBM Plex Sans" pitchFamily="34" charset="0"/>
                <a:ea typeface="IBM Plex Sans" pitchFamily="34" charset="-122"/>
                <a:cs typeface="IBM Plex Sans" pitchFamily="34" charset="-120"/>
              </a:rPr>
              <a:t>Real systems survive because they </a:t>
            </a:r>
            <a:r>
              <a:rPr lang="en-US" sz="1600" b="1" dirty="0">
                <a:solidFill>
                  <a:srgbClr val="FF3B1F"/>
                </a:solidFill>
                <a:latin typeface="IBM Plex Sans" pitchFamily="34" charset="0"/>
                <a:ea typeface="IBM Plex Sans" pitchFamily="34" charset="-122"/>
                <a:cs typeface="IBM Plex Sans" pitchFamily="34" charset="-120"/>
              </a:rPr>
              <a:t>plan for failure</a:t>
            </a:r>
            <a:r>
              <a:rPr lang="en-US" sz="1600" b="1" dirty="0">
                <a:solidFill>
                  <a:srgbClr val="F4F5FA"/>
                </a:solidFill>
                <a:latin typeface="IBM Plex Sans" pitchFamily="34" charset="0"/>
                <a:ea typeface="IBM Plex Sans" pitchFamily="34" charset="-122"/>
                <a:cs typeface="IBM Plex Sans" pitchFamily="34" charset="-120"/>
              </a:rPr>
              <a:t>.</a:t>
            </a:r>
            <a:endParaRPr lang="en-US" sz="1600" dirty="0"/>
          </a:p>
        </p:txBody>
      </p:sp>
      <p:pic>
        <p:nvPicPr>
          <p:cNvPr id="5"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Plan for failure: things broke this week</a:t>
            </a:r>
            <a:endParaRPr lang="en-US" sz="3200" dirty="0"/>
          </a:p>
        </p:txBody>
      </p:sp>
      <p:sp>
        <p:nvSpPr>
          <p:cNvPr id="3" name="Text 1"/>
          <p:cNvSpPr/>
          <p:nvPr/>
        </p:nvSpPr>
        <p:spPr>
          <a:xfrm>
            <a:off x="812800" y="1564580"/>
            <a:ext cx="1905000" cy="508000"/>
          </a:xfrm>
          <a:prstGeom prst="roundRect">
            <a:avLst>
              <a:gd name="adj" fmla="val 20000"/>
            </a:avLst>
          </a:prstGeom>
          <a:solidFill>
            <a:srgbClr val="141A2E"/>
          </a:solidFill>
          <a:ln/>
        </p:spPr>
        <p:txBody>
          <a:bodyPr wrap="square" lIns="0" tIns="0" rIns="0" bIns="0"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Call the API</a:t>
            </a:r>
            <a:endParaRPr lang="en-US" sz="1500" dirty="0"/>
          </a:p>
        </p:txBody>
      </p:sp>
      <p:sp>
        <p:nvSpPr>
          <p:cNvPr id="4" name="Text 2"/>
          <p:cNvSpPr/>
          <p:nvPr/>
        </p:nvSpPr>
        <p:spPr>
          <a:xfrm>
            <a:off x="3479800" y="1564580"/>
            <a:ext cx="1651000" cy="508000"/>
          </a:xfrm>
          <a:prstGeom prst="roundRect">
            <a:avLst>
              <a:gd name="adj" fmla="val 20000"/>
            </a:avLst>
          </a:prstGeom>
          <a:solidFill>
            <a:srgbClr val="141A2E"/>
          </a:solidFill>
          <a:ln/>
        </p:spPr>
        <p:txBody>
          <a:bodyPr wrap="square" lIns="0" tIns="0" rIns="0" bIns="0"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200 OK?</a:t>
            </a:r>
            <a:endParaRPr lang="en-US" sz="1500" dirty="0"/>
          </a:p>
        </p:txBody>
      </p:sp>
      <p:sp>
        <p:nvSpPr>
          <p:cNvPr id="5" name="Text 3"/>
          <p:cNvSpPr/>
          <p:nvPr/>
        </p:nvSpPr>
        <p:spPr>
          <a:xfrm>
            <a:off x="5892800" y="1564580"/>
            <a:ext cx="1905000" cy="508000"/>
          </a:xfrm>
          <a:prstGeom prst="roundRect">
            <a:avLst>
              <a:gd name="adj" fmla="val 20000"/>
            </a:avLst>
          </a:prstGeom>
          <a:solidFill>
            <a:srgbClr val="3DDC97"/>
          </a:solidFill>
          <a:ln/>
        </p:spPr>
        <p:txBody>
          <a:bodyPr wrap="square" lIns="0" tIns="0" rIns="0" bIns="0" rtlCol="0" anchor="ctr">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Save a copy</a:t>
            </a:r>
            <a:endParaRPr lang="en-US" sz="1500" dirty="0"/>
          </a:p>
        </p:txBody>
      </p:sp>
      <p:sp>
        <p:nvSpPr>
          <p:cNvPr id="6" name="Text 4"/>
          <p:cNvSpPr/>
          <p:nvPr/>
        </p:nvSpPr>
        <p:spPr>
          <a:xfrm>
            <a:off x="8813800" y="1564580"/>
            <a:ext cx="2159000" cy="508000"/>
          </a:xfrm>
          <a:prstGeom prst="roundRect">
            <a:avLst>
              <a:gd name="adj" fmla="val 20000"/>
            </a:avLst>
          </a:prstGeom>
          <a:solidFill>
            <a:srgbClr val="F4F5FA"/>
          </a:solidFill>
          <a:ln/>
        </p:spPr>
        <p:txBody>
          <a:bodyPr wrap="square" lIns="0" tIns="0" rIns="0" bIns="0" rtlCol="0" anchor="ctr">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Show the feature</a:t>
            </a:r>
            <a:endParaRPr lang="en-US" sz="1500" dirty="0"/>
          </a:p>
        </p:txBody>
      </p:sp>
      <p:sp>
        <p:nvSpPr>
          <p:cNvPr id="7" name="Text 5"/>
          <p:cNvSpPr/>
          <p:nvPr/>
        </p:nvSpPr>
        <p:spPr>
          <a:xfrm>
            <a:off x="3352800" y="2961580"/>
            <a:ext cx="1905000" cy="508000"/>
          </a:xfrm>
          <a:prstGeom prst="roundRect">
            <a:avLst>
              <a:gd name="adj" fmla="val 20000"/>
            </a:avLst>
          </a:prstGeom>
          <a:solidFill>
            <a:srgbClr val="FF3B1F"/>
          </a:solidFill>
          <a:ln/>
        </p:spPr>
        <p:txBody>
          <a:bodyPr wrap="square" lIns="0" tIns="0" rIns="0" bIns="0" rtlCol="0" anchor="ctr">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Clear message</a:t>
            </a:r>
            <a:endParaRPr lang="en-US" sz="1500" dirty="0"/>
          </a:p>
        </p:txBody>
      </p:sp>
      <p:sp>
        <p:nvSpPr>
          <p:cNvPr id="8" name="Text 6"/>
          <p:cNvSpPr/>
          <p:nvPr/>
        </p:nvSpPr>
        <p:spPr>
          <a:xfrm>
            <a:off x="6019800" y="2961580"/>
            <a:ext cx="2159000" cy="508000"/>
          </a:xfrm>
          <a:prstGeom prst="roundRect">
            <a:avLst>
              <a:gd name="adj" fmla="val 20000"/>
            </a:avLst>
          </a:prstGeom>
          <a:solidFill>
            <a:srgbClr val="FFB347"/>
          </a:solidFill>
          <a:ln/>
        </p:spPr>
        <p:txBody>
          <a:bodyPr wrap="square" lIns="0" tIns="0" rIns="0" bIns="0" rtlCol="0" anchor="ctr">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Use the saved copy</a:t>
            </a:r>
            <a:endParaRPr lang="en-US" sz="1500" dirty="0"/>
          </a:p>
        </p:txBody>
      </p:sp>
      <p:pic>
        <p:nvPicPr>
          <p:cNvPr id="9" name="Image 0" descr="connector">    </p:cNvPr>
          <p:cNvPicPr>
            <a:picLocks noChangeAspect="1"/>
          </p:cNvPicPr>
          <p:nvPr/>
        </p:nvPicPr>
        <p:blipFill>
          <a:blip r:embed="rId1"/>
          <a:srcRect l="0" r="0" t="0" b="0"/>
          <a:stretch/>
        </p:blipFill>
        <p:spPr>
          <a:xfrm>
            <a:off x="2667000" y="1767780"/>
            <a:ext cx="863600" cy="101600"/>
          </a:xfrm>
          <a:prstGeom prst="rect">
            <a:avLst/>
          </a:prstGeom>
        </p:spPr>
      </p:pic>
      <p:pic>
        <p:nvPicPr>
          <p:cNvPr id="10" name="Image 1" descr="connector">    </p:cNvPr>
          <p:cNvPicPr>
            <a:picLocks noChangeAspect="1"/>
          </p:cNvPicPr>
          <p:nvPr/>
        </p:nvPicPr>
        <p:blipFill>
          <a:blip r:embed="rId2"/>
          <a:srcRect l="0" r="0" t="0" b="0"/>
          <a:stretch/>
        </p:blipFill>
        <p:spPr>
          <a:xfrm>
            <a:off x="5080000" y="1767780"/>
            <a:ext cx="863600" cy="101600"/>
          </a:xfrm>
          <a:prstGeom prst="rect">
            <a:avLst/>
          </a:prstGeom>
        </p:spPr>
      </p:pic>
      <p:pic>
        <p:nvPicPr>
          <p:cNvPr id="11" name="Image 2" descr="connector">    </p:cNvPr>
          <p:cNvPicPr>
            <a:picLocks noChangeAspect="1"/>
          </p:cNvPicPr>
          <p:nvPr/>
        </p:nvPicPr>
        <p:blipFill>
          <a:blip r:embed="rId3"/>
          <a:srcRect l="0" r="0" t="0" b="0"/>
          <a:stretch/>
        </p:blipFill>
        <p:spPr>
          <a:xfrm>
            <a:off x="7747000" y="1767780"/>
            <a:ext cx="1117600" cy="101600"/>
          </a:xfrm>
          <a:prstGeom prst="rect">
            <a:avLst/>
          </a:prstGeom>
        </p:spPr>
      </p:pic>
      <p:pic>
        <p:nvPicPr>
          <p:cNvPr id="12" name="Image 3" descr="connector">    </p:cNvPr>
          <p:cNvPicPr>
            <a:picLocks noChangeAspect="1"/>
          </p:cNvPicPr>
          <p:nvPr/>
        </p:nvPicPr>
        <p:blipFill>
          <a:blip r:embed="rId4"/>
          <a:srcRect l="0" r="0" t="0" b="0"/>
          <a:stretch/>
        </p:blipFill>
        <p:spPr>
          <a:xfrm>
            <a:off x="4254500" y="2021780"/>
            <a:ext cx="101600" cy="990600"/>
          </a:xfrm>
          <a:prstGeom prst="rect">
            <a:avLst/>
          </a:prstGeom>
        </p:spPr>
      </p:pic>
      <p:pic>
        <p:nvPicPr>
          <p:cNvPr id="13" name="Image 4" descr="connector">    </p:cNvPr>
          <p:cNvPicPr>
            <a:picLocks noChangeAspect="1"/>
          </p:cNvPicPr>
          <p:nvPr/>
        </p:nvPicPr>
        <p:blipFill>
          <a:blip r:embed="rId5"/>
          <a:srcRect l="0" r="0" t="0" b="0"/>
          <a:stretch/>
        </p:blipFill>
        <p:spPr>
          <a:xfrm>
            <a:off x="5207000" y="3164780"/>
            <a:ext cx="863600" cy="101600"/>
          </a:xfrm>
          <a:prstGeom prst="rect">
            <a:avLst/>
          </a:prstGeom>
        </p:spPr>
      </p:pic>
      <p:pic>
        <p:nvPicPr>
          <p:cNvPr id="14" name="Image 5" descr="connector">    </p:cNvPr>
          <p:cNvPicPr>
            <a:picLocks noChangeAspect="1"/>
          </p:cNvPicPr>
          <p:nvPr/>
        </p:nvPicPr>
        <p:blipFill>
          <a:blip r:embed="rId6"/>
          <a:srcRect l="0" r="0" t="0" b="0"/>
          <a:stretch/>
        </p:blipFill>
        <p:spPr>
          <a:xfrm>
            <a:off x="8128000" y="2021780"/>
            <a:ext cx="1816100" cy="1244600"/>
          </a:xfrm>
          <a:prstGeom prst="rect">
            <a:avLst/>
          </a:prstGeom>
        </p:spPr>
      </p:pic>
      <p:sp>
        <p:nvSpPr>
          <p:cNvPr id="15" name="Text 7"/>
          <p:cNvSpPr/>
          <p:nvPr/>
        </p:nvSpPr>
        <p:spPr>
          <a:xfrm>
            <a:off x="5359400" y="1564580"/>
            <a:ext cx="495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yes</a:t>
            </a:r>
            <a:endParaRPr lang="en-US" sz="1300" dirty="0"/>
          </a:p>
        </p:txBody>
      </p:sp>
      <p:sp>
        <p:nvSpPr>
          <p:cNvPr id="16" name="Text 8"/>
          <p:cNvSpPr/>
          <p:nvPr/>
        </p:nvSpPr>
        <p:spPr>
          <a:xfrm>
            <a:off x="4445000" y="2415480"/>
            <a:ext cx="495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no</a:t>
            </a:r>
            <a:endParaRPr lang="en-US" sz="1300" dirty="0"/>
          </a:p>
        </p:txBody>
      </p:sp>
      <p:sp>
        <p:nvSpPr>
          <p:cNvPr id="17" name="Shape 9"/>
          <p:cNvSpPr/>
          <p:nvPr/>
        </p:nvSpPr>
        <p:spPr>
          <a:xfrm>
            <a:off x="812800" y="4028380"/>
            <a:ext cx="3420467" cy="1188541"/>
          </a:xfrm>
          <a:prstGeom prst="roundRect">
            <a:avLst>
              <a:gd name="adj" fmla="val 10685"/>
            </a:avLst>
          </a:prstGeom>
          <a:solidFill>
            <a:srgbClr val="141A2E"/>
          </a:solidFill>
          <a:ln/>
        </p:spPr>
      </p:sp>
      <p:sp>
        <p:nvSpPr>
          <p:cNvPr id="18" name="Text 10"/>
          <p:cNvSpPr/>
          <p:nvPr/>
        </p:nvSpPr>
        <p:spPr>
          <a:xfrm>
            <a:off x="1016000" y="4206180"/>
            <a:ext cx="310448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B347"/>
                </a:solidFill>
                <a:latin typeface="Space Grotesk" pitchFamily="34" charset="0"/>
                <a:ea typeface="Space Grotesk" pitchFamily="34" charset="-122"/>
                <a:cs typeface="Space Grotesk" pitchFamily="34" charset="-120"/>
              </a:rPr>
              <a:t>APOD API</a:t>
            </a:r>
            <a:endParaRPr lang="en-US" sz="1800" dirty="0"/>
          </a:p>
        </p:txBody>
      </p:sp>
      <p:sp>
        <p:nvSpPr>
          <p:cNvPr id="19" name="Text 11"/>
          <p:cNvSpPr/>
          <p:nvPr/>
        </p:nvSpPr>
        <p:spPr>
          <a:xfrm>
            <a:off x="1016000" y="4576961"/>
            <a:ext cx="31044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Returns a placeholder (“NASA Science”) for every date, and 500 for today</a:t>
            </a:r>
            <a:endParaRPr lang="en-US" sz="1300" dirty="0"/>
          </a:p>
        </p:txBody>
      </p:sp>
      <p:sp>
        <p:nvSpPr>
          <p:cNvPr id="20" name="Shape 12"/>
          <p:cNvSpPr/>
          <p:nvPr/>
        </p:nvSpPr>
        <p:spPr>
          <a:xfrm>
            <a:off x="4385667" y="4028380"/>
            <a:ext cx="3420566" cy="1188541"/>
          </a:xfrm>
          <a:prstGeom prst="roundRect">
            <a:avLst>
              <a:gd name="adj" fmla="val 10685"/>
            </a:avLst>
          </a:prstGeom>
          <a:solidFill>
            <a:srgbClr val="141A2E"/>
          </a:solidFill>
          <a:ln/>
        </p:spPr>
      </p:sp>
      <p:sp>
        <p:nvSpPr>
          <p:cNvPr id="21" name="Text 13"/>
          <p:cNvSpPr/>
          <p:nvPr/>
        </p:nvSpPr>
        <p:spPr>
          <a:xfrm>
            <a:off x="4588867" y="4206180"/>
            <a:ext cx="310459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B347"/>
                </a:solidFill>
                <a:latin typeface="Space Grotesk" pitchFamily="34" charset="0"/>
                <a:ea typeface="Space Grotesk" pitchFamily="34" charset="-122"/>
                <a:cs typeface="Space Grotesk" pitchFamily="34" charset="-120"/>
              </a:rPr>
              <a:t>SkySense</a:t>
            </a:r>
            <a:endParaRPr lang="en-US" sz="1800" dirty="0"/>
          </a:p>
        </p:txBody>
      </p:sp>
      <p:sp>
        <p:nvSpPr>
          <p:cNvPr id="22" name="Text 14"/>
          <p:cNvSpPr/>
          <p:nvPr/>
        </p:nvSpPr>
        <p:spPr>
          <a:xfrm>
            <a:off x="4588867" y="4576961"/>
            <a:ext cx="31045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A 2025 Global Winner. The live site is gone: the domain expired</a:t>
            </a:r>
            <a:endParaRPr lang="en-US" sz="1300" dirty="0"/>
          </a:p>
        </p:txBody>
      </p:sp>
      <p:sp>
        <p:nvSpPr>
          <p:cNvPr id="23" name="Shape 15"/>
          <p:cNvSpPr/>
          <p:nvPr/>
        </p:nvSpPr>
        <p:spPr>
          <a:xfrm>
            <a:off x="7958634" y="4028380"/>
            <a:ext cx="3420566" cy="1188541"/>
          </a:xfrm>
          <a:prstGeom prst="roundRect">
            <a:avLst>
              <a:gd name="adj" fmla="val 10685"/>
            </a:avLst>
          </a:prstGeom>
          <a:solidFill>
            <a:srgbClr val="141A2E"/>
          </a:solidFill>
          <a:ln/>
        </p:spPr>
      </p:sp>
      <p:sp>
        <p:nvSpPr>
          <p:cNvPr id="24" name="Text 16"/>
          <p:cNvSpPr/>
          <p:nvPr/>
        </p:nvSpPr>
        <p:spPr>
          <a:xfrm>
            <a:off x="8161834" y="4206180"/>
            <a:ext cx="310459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DDC97"/>
                </a:solidFill>
                <a:latin typeface="Space Grotesk" pitchFamily="34" charset="0"/>
                <a:ea typeface="Space Grotesk" pitchFamily="34" charset="-122"/>
                <a:cs typeface="Space Grotesk" pitchFamily="34" charset="-120"/>
              </a:rPr>
              <a:t>Meteor Shield</a:t>
            </a:r>
            <a:endParaRPr lang="en-US" sz="1800" dirty="0"/>
          </a:p>
        </p:txBody>
      </p:sp>
      <p:sp>
        <p:nvSpPr>
          <p:cNvPr id="25" name="Text 17"/>
          <p:cNvSpPr/>
          <p:nvPr/>
        </p:nvSpPr>
        <p:spPr>
          <a:xfrm>
            <a:off x="8161834" y="4576961"/>
            <a:ext cx="31045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Fallback data built in, so it still shows something when calls fail</a:t>
            </a:r>
            <a:endParaRPr lang="en-US" sz="1300" dirty="0"/>
          </a:p>
        </p:txBody>
      </p:sp>
      <p:pic>
        <p:nvPicPr>
          <p:cNvPr id="26" name="Image 6" descr="NASA Space Apps Cairo logo">    </p:cNvPr>
          <p:cNvPicPr>
            <a:picLocks noChangeAspect="1"/>
          </p:cNvPicPr>
          <p:nvPr/>
        </p:nvPicPr>
        <p:blipFill>
          <a:blip r:embed="rId7"/>
          <a:srcRect l="-70" r="-70" t="0" b="0"/>
          <a:stretch/>
        </p:blipFill>
        <p:spPr>
          <a:xfrm>
            <a:off x="812800" y="6146800"/>
            <a:ext cx="908050" cy="355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The fallback pattern: build it yourself</a:t>
            </a:r>
            <a:endParaRPr lang="en-US" sz="3200" dirty="0"/>
          </a:p>
        </p:txBody>
      </p:sp>
      <p:sp>
        <p:nvSpPr>
          <p:cNvPr id="3" name="Text 1"/>
          <p:cNvSpPr/>
          <p:nvPr/>
        </p:nvSpPr>
        <p:spPr>
          <a:xfrm>
            <a:off x="812800" y="15137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YOUR TURN · NOTEBOOK 00, STEP 10</a:t>
            </a:r>
            <a:endParaRPr lang="en-US" sz="1200" dirty="0"/>
          </a:p>
        </p:txBody>
      </p:sp>
      <p:sp>
        <p:nvSpPr>
          <p:cNvPr id="4" name="Shape 2"/>
          <p:cNvSpPr/>
          <p:nvPr/>
        </p:nvSpPr>
        <p:spPr>
          <a:xfrm>
            <a:off x="812800" y="1841401"/>
            <a:ext cx="6985000" cy="786705"/>
          </a:xfrm>
          <a:prstGeom prst="roundRect">
            <a:avLst>
              <a:gd name="adj" fmla="val 16143"/>
            </a:avLst>
          </a:prstGeom>
          <a:solidFill>
            <a:srgbClr val="141A2E"/>
          </a:solidFill>
          <a:ln/>
        </p:spPr>
      </p:sp>
      <p:sp>
        <p:nvSpPr>
          <p:cNvPr id="5" name="Text 3"/>
          <p:cNvSpPr/>
          <p:nvPr/>
        </p:nvSpPr>
        <p:spPr>
          <a:xfrm>
            <a:off x="1016000" y="1993801"/>
            <a:ext cx="20012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6EA8FF"/>
                </a:solidFill>
                <a:latin typeface="Space Grotesk" pitchFamily="34" charset="0"/>
                <a:ea typeface="Space Grotesk" pitchFamily="34" charset="-122"/>
                <a:cs typeface="Space Grotesk" pitchFamily="34" charset="-120"/>
              </a:rPr>
              <a:t>1</a:t>
            </a:r>
            <a:endParaRPr lang="en-US" sz="2600" dirty="0"/>
          </a:p>
        </p:txBody>
      </p:sp>
      <p:sp>
        <p:nvSpPr>
          <p:cNvPr id="6" name="Text 4"/>
          <p:cNvSpPr/>
          <p:nvPr/>
        </p:nvSpPr>
        <p:spPr>
          <a:xfrm>
            <a:off x="1317724" y="1993801"/>
            <a:ext cx="646518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Ask before you trust</a:t>
            </a:r>
            <a:endParaRPr lang="en-US" sz="1500" dirty="0"/>
          </a:p>
        </p:txBody>
      </p:sp>
      <p:sp>
        <p:nvSpPr>
          <p:cNvPr id="7" name="Text 5"/>
          <p:cNvSpPr/>
          <p:nvPr/>
        </p:nvSpPr>
        <p:spPr>
          <a:xfrm>
            <a:off x="1317724" y="2270026"/>
            <a:ext cx="646518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Call with a </a:t>
            </a:r>
            <a:r>
              <a:rPr lang="en-US" sz="1200" b="1" dirty="0">
                <a:solidFill>
                  <a:srgbClr val="F4F5FA"/>
                </a:solidFill>
                <a:latin typeface="IBM Plex Sans" pitchFamily="34" charset="0"/>
                <a:ea typeface="IBM Plex Sans" pitchFamily="34" charset="-122"/>
                <a:cs typeface="IBM Plex Sans" pitchFamily="34" charset="-120"/>
              </a:rPr>
              <a:t>timeout</a:t>
            </a:r>
            <a:r>
              <a:rPr lang="en-US" sz="1200" dirty="0">
                <a:solidFill>
                  <a:srgbClr val="BFC6D8"/>
                </a:solidFill>
                <a:latin typeface="IBM Plex Sans" pitchFamily="34" charset="0"/>
                <a:ea typeface="IBM Plex Sans" pitchFamily="34" charset="-122"/>
                <a:cs typeface="IBM Plex Sans" pitchFamily="34" charset="-120"/>
              </a:rPr>
              <a:t>. Check the status code. Then check the answer is not empty.</a:t>
            </a:r>
            <a:endParaRPr lang="en-US" sz="1200" dirty="0"/>
          </a:p>
        </p:txBody>
      </p:sp>
      <p:sp>
        <p:nvSpPr>
          <p:cNvPr id="8" name="Shape 6"/>
          <p:cNvSpPr/>
          <p:nvPr/>
        </p:nvSpPr>
        <p:spPr>
          <a:xfrm>
            <a:off x="812800" y="2742406"/>
            <a:ext cx="6985000" cy="786705"/>
          </a:xfrm>
          <a:prstGeom prst="roundRect">
            <a:avLst>
              <a:gd name="adj" fmla="val 16143"/>
            </a:avLst>
          </a:prstGeom>
          <a:solidFill>
            <a:srgbClr val="141A2E"/>
          </a:solidFill>
          <a:ln/>
        </p:spPr>
      </p:sp>
      <p:sp>
        <p:nvSpPr>
          <p:cNvPr id="9" name="Text 7"/>
          <p:cNvSpPr/>
          <p:nvPr/>
        </p:nvSpPr>
        <p:spPr>
          <a:xfrm>
            <a:off x="1016000" y="2894806"/>
            <a:ext cx="246955"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3DDC97"/>
                </a:solidFill>
                <a:latin typeface="Space Grotesk" pitchFamily="34" charset="0"/>
                <a:ea typeface="Space Grotesk" pitchFamily="34" charset="-122"/>
                <a:cs typeface="Space Grotesk" pitchFamily="34" charset="-120"/>
              </a:rPr>
              <a:t>2</a:t>
            </a:r>
            <a:endParaRPr lang="en-US" sz="2600" dirty="0"/>
          </a:p>
        </p:txBody>
      </p:sp>
      <p:sp>
        <p:nvSpPr>
          <p:cNvPr id="10" name="Text 8"/>
          <p:cNvSpPr/>
          <p:nvPr/>
        </p:nvSpPr>
        <p:spPr>
          <a:xfrm>
            <a:off x="1364555" y="2894806"/>
            <a:ext cx="641694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Save when it works</a:t>
            </a:r>
            <a:endParaRPr lang="en-US" sz="1500" dirty="0"/>
          </a:p>
        </p:txBody>
      </p:sp>
      <p:sp>
        <p:nvSpPr>
          <p:cNvPr id="11" name="Text 9"/>
          <p:cNvSpPr/>
          <p:nvPr/>
        </p:nvSpPr>
        <p:spPr>
          <a:xfrm>
            <a:off x="1364555" y="3171031"/>
            <a:ext cx="641694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Every good answer goes to a backup file. Hide the key before you save.</a:t>
            </a:r>
            <a:endParaRPr lang="en-US" sz="1200" dirty="0"/>
          </a:p>
        </p:txBody>
      </p:sp>
      <p:sp>
        <p:nvSpPr>
          <p:cNvPr id="12" name="Shape 10"/>
          <p:cNvSpPr/>
          <p:nvPr/>
        </p:nvSpPr>
        <p:spPr>
          <a:xfrm>
            <a:off x="812800" y="3643412"/>
            <a:ext cx="6985000" cy="786705"/>
          </a:xfrm>
          <a:prstGeom prst="roundRect">
            <a:avLst>
              <a:gd name="adj" fmla="val 16143"/>
            </a:avLst>
          </a:prstGeom>
          <a:solidFill>
            <a:srgbClr val="141A2E"/>
          </a:solidFill>
          <a:ln/>
        </p:spPr>
      </p:sp>
      <p:sp>
        <p:nvSpPr>
          <p:cNvPr id="13" name="Text 11"/>
          <p:cNvSpPr/>
          <p:nvPr/>
        </p:nvSpPr>
        <p:spPr>
          <a:xfrm>
            <a:off x="1016000" y="3795812"/>
            <a:ext cx="25161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FB347"/>
                </a:solidFill>
                <a:latin typeface="Space Grotesk" pitchFamily="34" charset="0"/>
                <a:ea typeface="Space Grotesk" pitchFamily="34" charset="-122"/>
                <a:cs typeface="Space Grotesk" pitchFamily="34" charset="-120"/>
              </a:rPr>
              <a:t>3</a:t>
            </a:r>
            <a:endParaRPr lang="en-US" sz="2600" dirty="0"/>
          </a:p>
        </p:txBody>
      </p:sp>
      <p:sp>
        <p:nvSpPr>
          <p:cNvPr id="14" name="Text 12"/>
          <p:cNvSpPr/>
          <p:nvPr/>
        </p:nvSpPr>
        <p:spPr>
          <a:xfrm>
            <a:off x="1369219" y="3795812"/>
            <a:ext cx="641214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Catch when it fails</a:t>
            </a:r>
            <a:endParaRPr lang="en-US" sz="1500" dirty="0"/>
          </a:p>
        </p:txBody>
      </p:sp>
      <p:sp>
        <p:nvSpPr>
          <p:cNvPr id="15" name="Text 13"/>
          <p:cNvSpPr/>
          <p:nvPr/>
        </p:nvSpPr>
        <p:spPr>
          <a:xfrm>
            <a:off x="1369219" y="4072037"/>
            <a:ext cx="641214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Wrap the call in try / except. Print one clear message a teammate can read.</a:t>
            </a:r>
            <a:endParaRPr lang="en-US" sz="1200" dirty="0"/>
          </a:p>
        </p:txBody>
      </p:sp>
      <p:sp>
        <p:nvSpPr>
          <p:cNvPr id="16" name="Shape 14"/>
          <p:cNvSpPr/>
          <p:nvPr/>
        </p:nvSpPr>
        <p:spPr>
          <a:xfrm>
            <a:off x="812800" y="4544417"/>
            <a:ext cx="6985000" cy="786705"/>
          </a:xfrm>
          <a:prstGeom prst="roundRect">
            <a:avLst>
              <a:gd name="adj" fmla="val 16143"/>
            </a:avLst>
          </a:prstGeom>
          <a:solidFill>
            <a:srgbClr val="141A2E"/>
          </a:solidFill>
          <a:ln/>
        </p:spPr>
      </p:sp>
      <p:sp>
        <p:nvSpPr>
          <p:cNvPr id="17" name="Text 15"/>
          <p:cNvSpPr/>
          <p:nvPr/>
        </p:nvSpPr>
        <p:spPr>
          <a:xfrm>
            <a:off x="1016000" y="4696817"/>
            <a:ext cx="26084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F3B1F"/>
                </a:solidFill>
                <a:latin typeface="Space Grotesk" pitchFamily="34" charset="0"/>
                <a:ea typeface="Space Grotesk" pitchFamily="34" charset="-122"/>
                <a:cs typeface="Space Grotesk" pitchFamily="34" charset="-120"/>
              </a:rPr>
              <a:t>4</a:t>
            </a:r>
            <a:endParaRPr lang="en-US" sz="2600" dirty="0"/>
          </a:p>
        </p:txBody>
      </p:sp>
      <p:sp>
        <p:nvSpPr>
          <p:cNvPr id="18" name="Text 16"/>
          <p:cNvSpPr/>
          <p:nvPr/>
        </p:nvSpPr>
        <p:spPr>
          <a:xfrm>
            <a:off x="1378446" y="4696817"/>
            <a:ext cx="640263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4F5FA"/>
                </a:solidFill>
                <a:latin typeface="IBM Plex Sans" pitchFamily="34" charset="0"/>
                <a:ea typeface="IBM Plex Sans" pitchFamily="34" charset="-122"/>
                <a:cs typeface="IBM Plex Sans" pitchFamily="34" charset="-120"/>
              </a:rPr>
              <a:t>Fall back, in order</a:t>
            </a:r>
            <a:endParaRPr lang="en-US" sz="1500" dirty="0"/>
          </a:p>
        </p:txBody>
      </p:sp>
      <p:sp>
        <p:nvSpPr>
          <p:cNvPr id="19" name="Text 17"/>
          <p:cNvSpPr/>
          <p:nvPr/>
        </p:nvSpPr>
        <p:spPr>
          <a:xfrm>
            <a:off x="1378446" y="4973042"/>
            <a:ext cx="640263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6D8"/>
                </a:solidFill>
                <a:latin typeface="IBM Plex Sans" pitchFamily="34" charset="0"/>
                <a:ea typeface="IBM Plex Sans" pitchFamily="34" charset="-122"/>
                <a:cs typeface="IBM Plex Sans" pitchFamily="34" charset="-120"/>
              </a:rPr>
              <a:t>Live call, then the saved copy, then clearly labelled sample data.</a:t>
            </a:r>
            <a:endParaRPr lang="en-US" sz="1200" dirty="0"/>
          </a:p>
        </p:txBody>
      </p:sp>
      <p:sp>
        <p:nvSpPr>
          <p:cNvPr id="20" name="Shape 18"/>
          <p:cNvSpPr/>
          <p:nvPr/>
        </p:nvSpPr>
        <p:spPr>
          <a:xfrm>
            <a:off x="8102600" y="1513780"/>
            <a:ext cx="3276600" cy="1352451"/>
          </a:xfrm>
          <a:prstGeom prst="roundRect">
            <a:avLst>
              <a:gd name="adj" fmla="val 9390"/>
            </a:avLst>
          </a:prstGeom>
          <a:solidFill>
            <a:srgbClr val="141A2E"/>
          </a:solidFill>
          <a:ln/>
        </p:spPr>
      </p:sp>
      <p:sp>
        <p:nvSpPr>
          <p:cNvPr id="21" name="Text 19"/>
          <p:cNvSpPr/>
          <p:nvPr/>
        </p:nvSpPr>
        <p:spPr>
          <a:xfrm>
            <a:off x="8305800" y="1691580"/>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3B1F"/>
                </a:solidFill>
                <a:latin typeface="IBM Plex Sans" pitchFamily="34" charset="0"/>
                <a:ea typeface="IBM Plex Sans" pitchFamily="34" charset="-122"/>
                <a:cs typeface="IBM Plex Sans" pitchFamily="34" charset="-120"/>
              </a:rPr>
              <a:t>PLANNED FAILURE</a:t>
            </a:r>
            <a:endParaRPr lang="en-US" sz="1200" dirty="0"/>
          </a:p>
        </p:txBody>
      </p:sp>
      <p:sp>
        <p:nvSpPr>
          <p:cNvPr id="22" name="Text 20"/>
          <p:cNvSpPr/>
          <p:nvPr/>
        </p:nvSpPr>
        <p:spPr>
          <a:xfrm>
            <a:off x="8305800" y="1968401"/>
            <a:ext cx="295630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5FA"/>
                </a:solidFill>
                <a:latin typeface="IBM Plex Sans" pitchFamily="34" charset="0"/>
                <a:ea typeface="IBM Plex Sans" pitchFamily="34" charset="-122"/>
                <a:cs typeface="IBM Plex Sans" pitchFamily="34" charset="-120"/>
              </a:rPr>
              <a:t>The notebook switches on a wrong key. Your function must survive it and still show a result.</a:t>
            </a:r>
            <a:endParaRPr lang="en-US" sz="1400" dirty="0"/>
          </a:p>
        </p:txBody>
      </p:sp>
      <p:sp>
        <p:nvSpPr>
          <p:cNvPr id="23" name="Text 21"/>
          <p:cNvSpPr/>
          <p:nvPr/>
        </p:nvSpPr>
        <p:spPr>
          <a:xfrm>
            <a:off x="8102600" y="2993231"/>
            <a:ext cx="337489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Test it: break the key on purpose, run, and read your own message.</a:t>
            </a:r>
            <a:endParaRPr lang="en-US" sz="1300" dirty="0"/>
          </a:p>
        </p:txBody>
      </p:sp>
      <p:pic>
        <p:nvPicPr>
          <p:cNvPr id="24"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5FA"/>
                </a:solidFill>
                <a:latin typeface="Space Grotesk" pitchFamily="34" charset="0"/>
                <a:ea typeface="Space Grotesk" pitchFamily="34" charset="-122"/>
                <a:cs typeface="Space Grotesk" pitchFamily="34" charset="-120"/>
              </a:rPr>
              <a:t>Add an AI? Free providers</a:t>
            </a:r>
            <a:endParaRPr lang="en-US" sz="3000" dirty="0"/>
          </a:p>
        </p:txBody>
      </p:sp>
      <p:sp>
        <p:nvSpPr>
          <p:cNvPr id="3" name="Text 1"/>
          <p:cNvSpPr/>
          <p:nvPr/>
        </p:nvSpPr>
        <p:spPr>
          <a:xfrm>
            <a:off x="812800" y="13589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C6D8"/>
                </a:solidFill>
                <a:latin typeface="IBM Plex Sans" pitchFamily="34" charset="0"/>
                <a:ea typeface="IBM Plex Sans" pitchFamily="34" charset="-122"/>
                <a:cs typeface="IBM Plex Sans" pitchFamily="34" charset="-120"/>
              </a:rPr>
              <a:t>Optional. Same idea as every API today: one POST, one key, one JSON answer. Keys live in Colab Secrets, never in code.</a:t>
            </a:r>
            <a:endParaRPr lang="en-US" sz="1500" dirty="0"/>
          </a:p>
        </p:txBody>
      </p:sp>
      <p:sp>
        <p:nvSpPr>
          <p:cNvPr id="4" name="Shape 2"/>
          <p:cNvSpPr/>
          <p:nvPr/>
        </p:nvSpPr>
        <p:spPr>
          <a:xfrm>
            <a:off x="812800" y="1854200"/>
            <a:ext cx="3403600" cy="1629172"/>
          </a:xfrm>
          <a:prstGeom prst="roundRect">
            <a:avLst>
              <a:gd name="adj" fmla="val 7795"/>
            </a:avLst>
          </a:prstGeom>
          <a:solidFill>
            <a:srgbClr val="141A2E"/>
          </a:solidFill>
          <a:ln/>
        </p:spPr>
      </p:sp>
      <p:sp>
        <p:nvSpPr>
          <p:cNvPr id="5" name="Text 3"/>
          <p:cNvSpPr/>
          <p:nvPr/>
        </p:nvSpPr>
        <p:spPr>
          <a:xfrm>
            <a:off x="965200" y="200660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GOOGLE GEMINI</a:t>
            </a:r>
            <a:endParaRPr lang="en-US" sz="1200" dirty="0"/>
          </a:p>
        </p:txBody>
      </p:sp>
      <p:sp>
        <p:nvSpPr>
          <p:cNvPr id="6" name="Text 4"/>
          <p:cNvSpPr/>
          <p:nvPr/>
        </p:nvSpPr>
        <p:spPr>
          <a:xfrm>
            <a:off x="965200" y="2283420"/>
            <a:ext cx="319176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5FA"/>
                </a:solidFill>
                <a:latin typeface="Space Grotesk" pitchFamily="34" charset="0"/>
                <a:ea typeface="Space Grotesk" pitchFamily="34" charset="-122"/>
                <a:cs typeface="Space Grotesk" pitchFamily="34" charset="-120"/>
              </a:rPr>
              <a:t>AI Studio key</a:t>
            </a:r>
            <a:endParaRPr lang="en-US" sz="1800" dirty="0"/>
          </a:p>
        </p:txBody>
      </p:sp>
      <p:sp>
        <p:nvSpPr>
          <p:cNvPr id="7" name="Text 5"/>
          <p:cNvSpPr/>
          <p:nvPr/>
        </p:nvSpPr>
        <p:spPr>
          <a:xfrm>
            <a:off x="965200" y="2609751"/>
            <a:ext cx="31917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Free tier on Flash models</a:t>
            </a:r>
            <a:endParaRPr lang="en-US" sz="1300" dirty="0"/>
          </a:p>
        </p:txBody>
      </p:sp>
      <p:sp>
        <p:nvSpPr>
          <p:cNvPr id="8" name="Text 6"/>
          <p:cNvSpPr/>
          <p:nvPr/>
        </p:nvSpPr>
        <p:spPr>
          <a:xfrm>
            <a:off x="965200" y="2904331"/>
            <a:ext cx="31917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347"/>
                </a:solidFill>
                <a:latin typeface="IBM Plex Sans" pitchFamily="34" charset="0"/>
                <a:ea typeface="IBM Plex Sans" pitchFamily="34" charset="-122"/>
                <a:cs typeface="IBM Plex Sans" pitchFamily="34" charset="-120"/>
              </a:rPr>
              <a:t>Free prompts may be used by Google: no private data</a:t>
            </a:r>
            <a:endParaRPr lang="en-US" sz="1200" dirty="0"/>
          </a:p>
        </p:txBody>
      </p:sp>
      <p:sp>
        <p:nvSpPr>
          <p:cNvPr id="9" name="Shape 7"/>
          <p:cNvSpPr/>
          <p:nvPr/>
        </p:nvSpPr>
        <p:spPr>
          <a:xfrm>
            <a:off x="4394200" y="1854200"/>
            <a:ext cx="3403600" cy="1629172"/>
          </a:xfrm>
          <a:prstGeom prst="roundRect">
            <a:avLst>
              <a:gd name="adj" fmla="val 7795"/>
            </a:avLst>
          </a:prstGeom>
          <a:solidFill>
            <a:srgbClr val="141A2E"/>
          </a:solidFill>
          <a:ln/>
        </p:spPr>
      </p:sp>
      <p:sp>
        <p:nvSpPr>
          <p:cNvPr id="10" name="Text 8"/>
          <p:cNvSpPr/>
          <p:nvPr/>
        </p:nvSpPr>
        <p:spPr>
          <a:xfrm>
            <a:off x="4546600" y="200660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GROQ</a:t>
            </a:r>
            <a:endParaRPr lang="en-US" sz="1200" dirty="0"/>
          </a:p>
        </p:txBody>
      </p:sp>
      <p:sp>
        <p:nvSpPr>
          <p:cNvPr id="11" name="Text 9"/>
          <p:cNvSpPr/>
          <p:nvPr/>
        </p:nvSpPr>
        <p:spPr>
          <a:xfrm>
            <a:off x="4546600" y="2283420"/>
            <a:ext cx="319176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5FA"/>
                </a:solidFill>
                <a:latin typeface="Space Grotesk" pitchFamily="34" charset="0"/>
                <a:ea typeface="Space Grotesk" pitchFamily="34" charset="-122"/>
                <a:cs typeface="Space Grotesk" pitchFamily="34" charset="-120"/>
              </a:rPr>
              <a:t>Very fast</a:t>
            </a:r>
            <a:endParaRPr lang="en-US" sz="1800" dirty="0"/>
          </a:p>
        </p:txBody>
      </p:sp>
      <p:sp>
        <p:nvSpPr>
          <p:cNvPr id="12" name="Text 10"/>
          <p:cNvSpPr/>
          <p:nvPr/>
        </p:nvSpPr>
        <p:spPr>
          <a:xfrm>
            <a:off x="4546600" y="2609751"/>
            <a:ext cx="31917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Free plan, limits per organisation</a:t>
            </a:r>
            <a:endParaRPr lang="en-US" sz="1300" dirty="0"/>
          </a:p>
        </p:txBody>
      </p:sp>
      <p:sp>
        <p:nvSpPr>
          <p:cNvPr id="13" name="Text 11"/>
          <p:cNvSpPr/>
          <p:nvPr/>
        </p:nvSpPr>
        <p:spPr>
          <a:xfrm>
            <a:off x="4546600" y="29043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347"/>
                </a:solidFill>
                <a:latin typeface="IBM Plex Sans" pitchFamily="34" charset="0"/>
                <a:ea typeface="IBM Plex Sans" pitchFamily="34" charset="-122"/>
                <a:cs typeface="IBM Plex Sans" pitchFamily="34" charset="-120"/>
              </a:rPr>
              <a:t>Check the dashboard: limits change</a:t>
            </a:r>
            <a:endParaRPr lang="en-US" sz="1200" dirty="0"/>
          </a:p>
        </p:txBody>
      </p:sp>
      <p:sp>
        <p:nvSpPr>
          <p:cNvPr id="14" name="Shape 12"/>
          <p:cNvSpPr/>
          <p:nvPr/>
        </p:nvSpPr>
        <p:spPr>
          <a:xfrm>
            <a:off x="7975600" y="1854200"/>
            <a:ext cx="3403600" cy="1629172"/>
          </a:xfrm>
          <a:prstGeom prst="roundRect">
            <a:avLst>
              <a:gd name="adj" fmla="val 7795"/>
            </a:avLst>
          </a:prstGeom>
          <a:solidFill>
            <a:srgbClr val="141A2E"/>
          </a:solidFill>
          <a:ln/>
        </p:spPr>
      </p:sp>
      <p:sp>
        <p:nvSpPr>
          <p:cNvPr id="15" name="Text 13"/>
          <p:cNvSpPr/>
          <p:nvPr/>
        </p:nvSpPr>
        <p:spPr>
          <a:xfrm>
            <a:off x="8128000" y="200660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IBM Plex Sans" pitchFamily="34" charset="0"/>
                <a:ea typeface="IBM Plex Sans" pitchFamily="34" charset="-122"/>
                <a:cs typeface="IBM Plex Sans" pitchFamily="34" charset="-120"/>
              </a:rPr>
              <a:t>OPENROUTER</a:t>
            </a:r>
            <a:endParaRPr lang="en-US" sz="1200" dirty="0"/>
          </a:p>
        </p:txBody>
      </p:sp>
      <p:sp>
        <p:nvSpPr>
          <p:cNvPr id="16" name="Text 14"/>
          <p:cNvSpPr/>
          <p:nvPr/>
        </p:nvSpPr>
        <p:spPr>
          <a:xfrm>
            <a:off x="8128000" y="2283420"/>
            <a:ext cx="319176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5FA"/>
                </a:solidFill>
                <a:latin typeface="Space Grotesk" pitchFamily="34" charset="0"/>
                <a:ea typeface="Space Grotesk" pitchFamily="34" charset="-122"/>
                <a:cs typeface="Space Grotesk" pitchFamily="34" charset="-120"/>
              </a:rPr>
              <a:t>Router + :free models</a:t>
            </a:r>
            <a:endParaRPr lang="en-US" sz="1800" dirty="0"/>
          </a:p>
        </p:txBody>
      </p:sp>
      <p:sp>
        <p:nvSpPr>
          <p:cNvPr id="17" name="Text 15"/>
          <p:cNvSpPr/>
          <p:nvPr/>
        </p:nvSpPr>
        <p:spPr>
          <a:xfrm>
            <a:off x="8128000" y="2609751"/>
            <a:ext cx="31917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One key, many free models</a:t>
            </a:r>
            <a:endParaRPr lang="en-US" sz="1300" dirty="0"/>
          </a:p>
        </p:txBody>
      </p:sp>
      <p:sp>
        <p:nvSpPr>
          <p:cNvPr id="18" name="Text 16"/>
          <p:cNvSpPr/>
          <p:nvPr/>
        </p:nvSpPr>
        <p:spPr>
          <a:xfrm>
            <a:off x="8128000" y="29043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347"/>
                </a:solidFill>
                <a:latin typeface="IBM Plex Sans" pitchFamily="34" charset="0"/>
                <a:ea typeface="IBM Plex Sans" pitchFamily="34" charset="-122"/>
                <a:cs typeface="IBM Plex Sans" pitchFamily="34" charset="-120"/>
              </a:rPr>
              <a:t>A paid model in your list costs money</a:t>
            </a:r>
            <a:endParaRPr lang="en-US" sz="1200" dirty="0"/>
          </a:p>
        </p:txBody>
      </p:sp>
      <p:sp>
        <p:nvSpPr>
          <p:cNvPr id="19" name="Text 17"/>
          <p:cNvSpPr/>
          <p:nvPr/>
        </p:nvSpPr>
        <p:spPr>
          <a:xfrm>
            <a:off x="812800" y="371197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All three accept the same request: POST …/chat/completions with Authorization: Bearer KEY. Notebooks 05 to 08.</a:t>
            </a:r>
            <a:endParaRPr lang="en-US" sz="1300" dirty="0"/>
          </a:p>
        </p:txBody>
      </p:sp>
      <p:pic>
        <p:nvPicPr>
          <p:cNvPr id="20"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5FA"/>
                </a:solidFill>
                <a:latin typeface="Space Grotesk" pitchFamily="34" charset="0"/>
                <a:ea typeface="Space Grotesk" pitchFamily="34" charset="-122"/>
                <a:cs typeface="Space Grotesk" pitchFamily="34" charset="-120"/>
              </a:rPr>
              <a:t>What comes back from an AI call</a:t>
            </a:r>
            <a:endParaRPr lang="en-US" sz="3000" dirty="0"/>
          </a:p>
        </p:txBody>
      </p:sp>
      <p:sp>
        <p:nvSpPr>
          <p:cNvPr id="3" name="Text 1"/>
          <p:cNvSpPr/>
          <p:nvPr/>
        </p:nvSpPr>
        <p:spPr>
          <a:xfrm>
            <a:off x="812800" y="1384300"/>
            <a:ext cx="2286000" cy="571500"/>
          </a:xfrm>
          <a:prstGeom prst="roundRect">
            <a:avLst>
              <a:gd name="adj" fmla="val 17778"/>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Your code</a:t>
            </a:r>
            <a:endParaRPr lang="en-US" sz="1500" dirty="0"/>
          </a:p>
        </p:txBody>
      </p:sp>
      <p:sp>
        <p:nvSpPr>
          <p:cNvPr id="4" name="Text 2"/>
          <p:cNvSpPr/>
          <p:nvPr/>
        </p:nvSpPr>
        <p:spPr>
          <a:xfrm>
            <a:off x="4114800" y="1384300"/>
            <a:ext cx="3556000" cy="571500"/>
          </a:xfrm>
          <a:prstGeom prst="roundRect">
            <a:avLst>
              <a:gd name="adj" fmla="val 17778"/>
            </a:avLst>
          </a:prstGeom>
          <a:solidFill>
            <a:srgbClr val="6EA8FF"/>
          </a:solidFill>
          <a:ln/>
        </p:spPr>
        <p:txBody>
          <a:bodyPr wrap="square" lIns="21042" tIns="21042" rIns="21042" bIns="21042" rtlCol="0" anchor="ctr">
            <a:normAutofit/>
          </a:bodyPr>
          <a:lstStyle/>
          <a:p>
            <a:pPr algn="ctr" indent="0" marL="0">
              <a:lnSpc>
                <a:spcPts val="1960"/>
              </a:lnSpc>
              <a:buNone/>
            </a:pPr>
            <a:r>
              <a:rPr lang="en-US" sz="1400" b="1" dirty="0">
                <a:solidFill>
                  <a:srgbClr val="06070D"/>
                </a:solidFill>
                <a:latin typeface="IBM Plex Sans" pitchFamily="34" charset="0"/>
                <a:ea typeface="IBM Plex Sans" pitchFamily="34" charset="-122"/>
                <a:cs typeface="IBM Plex Sans" pitchFamily="34" charset="-120"/>
              </a:rPr>
              <a:t>POST /chat/completions</a:t>
            </a:r>
            <a:endParaRPr lang="en-US" sz="1400" dirty="0"/>
          </a:p>
        </p:txBody>
      </p:sp>
      <p:sp>
        <p:nvSpPr>
          <p:cNvPr id="5" name="Text 3"/>
          <p:cNvSpPr/>
          <p:nvPr/>
        </p:nvSpPr>
        <p:spPr>
          <a:xfrm>
            <a:off x="8686800" y="1384300"/>
            <a:ext cx="2692400" cy="571500"/>
          </a:xfrm>
          <a:prstGeom prst="roundRect">
            <a:avLst>
              <a:gd name="adj" fmla="val 17778"/>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AI provider</a:t>
            </a:r>
            <a:endParaRPr lang="en-US" sz="1500" dirty="0"/>
          </a:p>
        </p:txBody>
      </p:sp>
      <p:pic>
        <p:nvPicPr>
          <p:cNvPr id="6" name="Image 0" descr="connector">    </p:cNvPr>
          <p:cNvPicPr>
            <a:picLocks noChangeAspect="1"/>
          </p:cNvPicPr>
          <p:nvPr/>
        </p:nvPicPr>
        <p:blipFill>
          <a:blip r:embed="rId1"/>
          <a:srcRect l="0" r="0" t="0" b="0"/>
          <a:stretch/>
        </p:blipFill>
        <p:spPr>
          <a:xfrm>
            <a:off x="3048000" y="1619250"/>
            <a:ext cx="1117600" cy="101600"/>
          </a:xfrm>
          <a:prstGeom prst="rect">
            <a:avLst/>
          </a:prstGeom>
        </p:spPr>
      </p:pic>
      <p:pic>
        <p:nvPicPr>
          <p:cNvPr id="7" name="Image 1" descr="connector">    </p:cNvPr>
          <p:cNvPicPr>
            <a:picLocks noChangeAspect="1"/>
          </p:cNvPicPr>
          <p:nvPr/>
        </p:nvPicPr>
        <p:blipFill>
          <a:blip r:embed="rId2"/>
          <a:srcRect l="0" r="0" t="0" b="0"/>
          <a:stretch/>
        </p:blipFill>
        <p:spPr>
          <a:xfrm>
            <a:off x="7620000" y="1619250"/>
            <a:ext cx="1117600" cy="101600"/>
          </a:xfrm>
          <a:prstGeom prst="rect">
            <a:avLst/>
          </a:prstGeom>
        </p:spPr>
      </p:pic>
      <p:sp>
        <p:nvSpPr>
          <p:cNvPr id="8" name="Text 4"/>
          <p:cNvSpPr/>
          <p:nvPr/>
        </p:nvSpPr>
        <p:spPr>
          <a:xfrm>
            <a:off x="812800" y="2082800"/>
            <a:ext cx="340106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A3B8"/>
                </a:solidFill>
                <a:latin typeface="IBM Plex Sans" pitchFamily="34" charset="0"/>
                <a:ea typeface="IBM Plex Sans" pitchFamily="34" charset="-122"/>
                <a:cs typeface="IBM Plex Sans" pitchFamily="34" charset="-120"/>
              </a:rPr>
              <a:t>Key in the header. Messages in the body.</a:t>
            </a:r>
            <a:endParaRPr lang="en-US" sz="1200" dirty="0"/>
          </a:p>
        </p:txBody>
      </p:sp>
      <p:sp>
        <p:nvSpPr>
          <p:cNvPr id="9" name="Text 5"/>
          <p:cNvSpPr/>
          <p:nvPr/>
        </p:nvSpPr>
        <p:spPr>
          <a:xfrm>
            <a:off x="8606028" y="2082800"/>
            <a:ext cx="2773172" cy="22344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9AA3B8"/>
                </a:solidFill>
                <a:latin typeface="IBM Plex Sans" pitchFamily="34" charset="0"/>
                <a:ea typeface="IBM Plex Sans" pitchFamily="34" charset="-122"/>
                <a:cs typeface="IBM Plex Sans" pitchFamily="34" charset="-120"/>
              </a:rPr>
              <a:t>Answer comes back as JSON</a:t>
            </a:r>
            <a:endParaRPr lang="en-US" sz="1200" dirty="0"/>
          </a:p>
        </p:txBody>
      </p:sp>
      <p:sp>
        <p:nvSpPr>
          <p:cNvPr id="10" name="Shape 6"/>
          <p:cNvSpPr/>
          <p:nvPr/>
        </p:nvSpPr>
        <p:spPr>
          <a:xfrm>
            <a:off x="812800" y="2463800"/>
            <a:ext cx="10566400" cy="698500"/>
          </a:xfrm>
          <a:prstGeom prst="roundRect">
            <a:avLst>
              <a:gd name="adj" fmla="val 14545"/>
            </a:avLst>
          </a:prstGeom>
          <a:solidFill>
            <a:srgbClr val="0D1226"/>
          </a:solidFill>
          <a:ln/>
        </p:spPr>
      </p:sp>
      <p:sp>
        <p:nvSpPr>
          <p:cNvPr id="11" name="Text 7"/>
          <p:cNvSpPr/>
          <p:nvPr/>
        </p:nvSpPr>
        <p:spPr>
          <a:xfrm>
            <a:off x="2658428" y="2569170"/>
            <a:ext cx="687514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3DDC97"/>
                </a:solidFill>
                <a:latin typeface="IBM Plex Sans" pitchFamily="34" charset="0"/>
                <a:ea typeface="IBM Plex Sans" pitchFamily="34" charset="-122"/>
                <a:cs typeface="IBM Plex Sans" pitchFamily="34" charset="-120"/>
              </a:rPr>
              <a:t>choices[0].message.content · finish_reason · usage.total_tokens</a:t>
            </a:r>
            <a:endParaRPr lang="en-US" sz="1500" dirty="0"/>
          </a:p>
        </p:txBody>
      </p:sp>
      <p:sp>
        <p:nvSpPr>
          <p:cNvPr id="12" name="Text 8"/>
          <p:cNvSpPr/>
          <p:nvPr/>
        </p:nvSpPr>
        <p:spPr>
          <a:xfrm>
            <a:off x="2833092" y="2861270"/>
            <a:ext cx="6525816"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3DDC97"/>
                </a:solidFill>
                <a:latin typeface="IBM Plex Sans" pitchFamily="34" charset="0"/>
                <a:ea typeface="IBM Plex Sans" pitchFamily="34" charset="-122"/>
                <a:cs typeface="IBM Plex Sans" pitchFamily="34" charset="-120"/>
              </a:rPr>
              <a:t>The three fields you read: the text, why it stopped (stop or length = cut off), what it cost</a:t>
            </a:r>
            <a:endParaRPr lang="en-US" sz="1100" dirty="0"/>
          </a:p>
        </p:txBody>
      </p:sp>
      <p:sp>
        <p:nvSpPr>
          <p:cNvPr id="13" name="Shape 9"/>
          <p:cNvSpPr/>
          <p:nvPr/>
        </p:nvSpPr>
        <p:spPr>
          <a:xfrm>
            <a:off x="812800" y="3543300"/>
            <a:ext cx="3420467" cy="1366441"/>
          </a:xfrm>
          <a:prstGeom prst="roundRect">
            <a:avLst>
              <a:gd name="adj" fmla="val 9294"/>
            </a:avLst>
          </a:prstGeom>
          <a:solidFill>
            <a:srgbClr val="141A2E"/>
          </a:solidFill>
          <a:ln/>
        </p:spPr>
      </p:sp>
      <p:sp>
        <p:nvSpPr>
          <p:cNvPr id="14" name="Text 10"/>
          <p:cNvSpPr/>
          <p:nvPr/>
        </p:nvSpPr>
        <p:spPr>
          <a:xfrm>
            <a:off x="990600" y="3695700"/>
            <a:ext cx="315681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TEXT</a:t>
            </a:r>
            <a:endParaRPr lang="en-US" sz="1200" dirty="0"/>
          </a:p>
        </p:txBody>
      </p:sp>
      <p:sp>
        <p:nvSpPr>
          <p:cNvPr id="15" name="Text 11"/>
          <p:cNvSpPr/>
          <p:nvPr/>
        </p:nvSpPr>
        <p:spPr>
          <a:xfrm>
            <a:off x="990600" y="3959820"/>
            <a:ext cx="3156813"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5FA"/>
                </a:solidFill>
                <a:latin typeface="Space Grotesk" pitchFamily="34" charset="0"/>
                <a:ea typeface="Space Grotesk" pitchFamily="34" charset="-122"/>
                <a:cs typeface="Space Grotesk" pitchFamily="34" charset="-120"/>
              </a:rPr>
              <a:t>Plain answer</a:t>
            </a:r>
            <a:endParaRPr lang="en-US" sz="1700" dirty="0"/>
          </a:p>
        </p:txBody>
      </p:sp>
      <p:sp>
        <p:nvSpPr>
          <p:cNvPr id="16" name="Text 12"/>
          <p:cNvSpPr/>
          <p:nvPr/>
        </p:nvSpPr>
        <p:spPr>
          <a:xfrm>
            <a:off x="990600" y="4312841"/>
            <a:ext cx="315681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BFC6D8"/>
                </a:solidFill>
                <a:latin typeface="IBM Plex Sans" pitchFamily="34" charset="0"/>
                <a:ea typeface="IBM Plex Sans" pitchFamily="34" charset="-122"/>
                <a:cs typeface="IBM Plex Sans" pitchFamily="34" charset="-120"/>
              </a:rPr>
              <a:t>Read the content string. It may be empty or cut off: check finish_reason.</a:t>
            </a:r>
            <a:endParaRPr lang="en-US" sz="1250" dirty="0"/>
          </a:p>
        </p:txBody>
      </p:sp>
      <p:sp>
        <p:nvSpPr>
          <p:cNvPr id="17" name="Shape 13"/>
          <p:cNvSpPr/>
          <p:nvPr/>
        </p:nvSpPr>
        <p:spPr>
          <a:xfrm>
            <a:off x="4385667" y="3543300"/>
            <a:ext cx="3420566" cy="1366441"/>
          </a:xfrm>
          <a:prstGeom prst="roundRect">
            <a:avLst>
              <a:gd name="adj" fmla="val 9294"/>
            </a:avLst>
          </a:prstGeom>
          <a:solidFill>
            <a:srgbClr val="141A2E"/>
          </a:solidFill>
          <a:ln/>
        </p:spPr>
      </p:sp>
      <p:sp>
        <p:nvSpPr>
          <p:cNvPr id="18" name="Text 14"/>
          <p:cNvSpPr/>
          <p:nvPr/>
        </p:nvSpPr>
        <p:spPr>
          <a:xfrm>
            <a:off x="4563467" y="3695700"/>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IBM Plex Sans" pitchFamily="34" charset="0"/>
                <a:ea typeface="IBM Plex Sans" pitchFamily="34" charset="-122"/>
                <a:cs typeface="IBM Plex Sans" pitchFamily="34" charset="-120"/>
              </a:rPr>
              <a:t>JSON</a:t>
            </a:r>
            <a:endParaRPr lang="en-US" sz="1200" dirty="0"/>
          </a:p>
        </p:txBody>
      </p:sp>
      <p:sp>
        <p:nvSpPr>
          <p:cNvPr id="19" name="Text 15"/>
          <p:cNvSpPr/>
          <p:nvPr/>
        </p:nvSpPr>
        <p:spPr>
          <a:xfrm>
            <a:off x="4563467" y="3959820"/>
            <a:ext cx="315691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5FA"/>
                </a:solidFill>
                <a:latin typeface="Space Grotesk" pitchFamily="34" charset="0"/>
                <a:ea typeface="Space Grotesk" pitchFamily="34" charset="-122"/>
                <a:cs typeface="Space Grotesk" pitchFamily="34" charset="-120"/>
              </a:rPr>
              <a:t>Structured answer</a:t>
            </a:r>
            <a:endParaRPr lang="en-US" sz="1700" dirty="0"/>
          </a:p>
        </p:txBody>
      </p:sp>
      <p:sp>
        <p:nvSpPr>
          <p:cNvPr id="20" name="Text 16"/>
          <p:cNvSpPr/>
          <p:nvPr/>
        </p:nvSpPr>
        <p:spPr>
          <a:xfrm>
            <a:off x="4563467" y="4312841"/>
            <a:ext cx="315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BFC6D8"/>
                </a:solidFill>
                <a:latin typeface="IBM Plex Sans" pitchFamily="34" charset="0"/>
                <a:ea typeface="IBM Plex Sans" pitchFamily="34" charset="-122"/>
                <a:cs typeface="IBM Plex Sans" pitchFamily="34" charset="-120"/>
              </a:rPr>
              <a:t>JSON mode is only a hint. Strip code fences, parse, validate keys, retry once.</a:t>
            </a:r>
            <a:endParaRPr lang="en-US" sz="1250" dirty="0"/>
          </a:p>
        </p:txBody>
      </p:sp>
      <p:sp>
        <p:nvSpPr>
          <p:cNvPr id="21" name="Shape 17"/>
          <p:cNvSpPr/>
          <p:nvPr/>
        </p:nvSpPr>
        <p:spPr>
          <a:xfrm>
            <a:off x="7958634" y="3543300"/>
            <a:ext cx="3420566" cy="1366441"/>
          </a:xfrm>
          <a:prstGeom prst="roundRect">
            <a:avLst>
              <a:gd name="adj" fmla="val 9294"/>
            </a:avLst>
          </a:prstGeom>
          <a:solidFill>
            <a:srgbClr val="141A2E"/>
          </a:solidFill>
          <a:ln/>
        </p:spPr>
      </p:sp>
      <p:sp>
        <p:nvSpPr>
          <p:cNvPr id="22" name="Text 18"/>
          <p:cNvSpPr/>
          <p:nvPr/>
        </p:nvSpPr>
        <p:spPr>
          <a:xfrm>
            <a:off x="8136434" y="3695700"/>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STREAM</a:t>
            </a:r>
            <a:endParaRPr lang="en-US" sz="1200" dirty="0"/>
          </a:p>
        </p:txBody>
      </p:sp>
      <p:sp>
        <p:nvSpPr>
          <p:cNvPr id="23" name="Text 19"/>
          <p:cNvSpPr/>
          <p:nvPr/>
        </p:nvSpPr>
        <p:spPr>
          <a:xfrm>
            <a:off x="8136434" y="3959820"/>
            <a:ext cx="315691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5FA"/>
                </a:solidFill>
                <a:latin typeface="Space Grotesk" pitchFamily="34" charset="0"/>
                <a:ea typeface="Space Grotesk" pitchFamily="34" charset="-122"/>
                <a:cs typeface="Space Grotesk" pitchFamily="34" charset="-120"/>
              </a:rPr>
              <a:t>Words as they come</a:t>
            </a:r>
            <a:endParaRPr lang="en-US" sz="1700" dirty="0"/>
          </a:p>
        </p:txBody>
      </p:sp>
      <p:sp>
        <p:nvSpPr>
          <p:cNvPr id="24" name="Text 20"/>
          <p:cNvSpPr/>
          <p:nvPr/>
        </p:nvSpPr>
        <p:spPr>
          <a:xfrm>
            <a:off x="8136434" y="4312841"/>
            <a:ext cx="315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BFC6D8"/>
                </a:solidFill>
                <a:latin typeface="IBM Plex Sans" pitchFamily="34" charset="0"/>
                <a:ea typeface="IBM Plex Sans" pitchFamily="34" charset="-122"/>
                <a:cs typeface="IBM Plex Sans" pitchFamily="34" charset="-120"/>
              </a:rPr>
              <a:t>Lines start with data: and end with [DONE]. Show text while it arrives.</a:t>
            </a:r>
            <a:endParaRPr lang="en-US" sz="1250" dirty="0"/>
          </a:p>
        </p:txBody>
      </p:sp>
      <p:pic>
        <p:nvPicPr>
          <p:cNvPr id="25" name="Image 2" descr="NASA Space Apps Cairo logo">    </p:cNvPr>
          <p:cNvPicPr>
            <a:picLocks noChangeAspect="1"/>
          </p:cNvPicPr>
          <p:nvPr/>
        </p:nvPicPr>
        <p:blipFill>
          <a:blip r:embed="rId3"/>
          <a:srcRect l="-70" r="-70" t="0" b="0"/>
          <a:stretch/>
        </p:blipFill>
        <p:spPr>
          <a:xfrm>
            <a:off x="812800" y="6146800"/>
            <a:ext cx="908050" cy="355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5FA"/>
                </a:solidFill>
                <a:latin typeface="Space Grotesk" pitchFamily="34" charset="0"/>
                <a:ea typeface="Space Grotesk" pitchFamily="34" charset="-122"/>
                <a:cs typeface="Space Grotesk" pitchFamily="34" charset="-120"/>
              </a:rPr>
              <a:t>When the AI call fails</a:t>
            </a:r>
            <a:endParaRPr lang="en-US" sz="3000" dirty="0"/>
          </a:p>
        </p:txBody>
      </p:sp>
      <p:sp>
        <p:nvSpPr>
          <p:cNvPr id="3" name="Text 1"/>
          <p:cNvSpPr/>
          <p:nvPr/>
        </p:nvSpPr>
        <p:spPr>
          <a:xfrm>
            <a:off x="812800" y="2019300"/>
            <a:ext cx="1905000" cy="571500"/>
          </a:xfrm>
          <a:prstGeom prst="roundRect">
            <a:avLst>
              <a:gd name="adj" fmla="val 17778"/>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Call provider</a:t>
            </a:r>
            <a:endParaRPr lang="en-US" sz="1500" dirty="0"/>
          </a:p>
        </p:txBody>
      </p:sp>
      <p:sp>
        <p:nvSpPr>
          <p:cNvPr id="4" name="Text 2"/>
          <p:cNvSpPr/>
          <p:nvPr/>
        </p:nvSpPr>
        <p:spPr>
          <a:xfrm>
            <a:off x="3352800" y="2019300"/>
            <a:ext cx="1651000" cy="571500"/>
          </a:xfrm>
          <a:prstGeom prst="roundRect">
            <a:avLst>
              <a:gd name="adj" fmla="val 17778"/>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Worked?</a:t>
            </a:r>
            <a:endParaRPr lang="en-US" sz="1500" dirty="0"/>
          </a:p>
        </p:txBody>
      </p:sp>
      <p:sp>
        <p:nvSpPr>
          <p:cNvPr id="5" name="Text 3"/>
          <p:cNvSpPr/>
          <p:nvPr/>
        </p:nvSpPr>
        <p:spPr>
          <a:xfrm>
            <a:off x="5638800" y="2019300"/>
            <a:ext cx="2159000" cy="571500"/>
          </a:xfrm>
          <a:prstGeom prst="roundRect">
            <a:avLst>
              <a:gd name="adj" fmla="val 17778"/>
            </a:avLst>
          </a:prstGeom>
          <a:solidFill>
            <a:srgbClr val="3DDC97"/>
          </a:solidFill>
          <a:ln/>
        </p:spPr>
        <p:txBody>
          <a:bodyPr wrap="square" lIns="21042" tIns="21042" rIns="21042" bIns="21042" rtlCol="0" anchor="ctr">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Validate, show</a:t>
            </a:r>
            <a:endParaRPr lang="en-US" sz="1500" dirty="0"/>
          </a:p>
        </p:txBody>
      </p:sp>
      <p:sp>
        <p:nvSpPr>
          <p:cNvPr id="6" name="Shape 4"/>
          <p:cNvSpPr/>
          <p:nvPr/>
        </p:nvSpPr>
        <p:spPr>
          <a:xfrm>
            <a:off x="2590800" y="3479800"/>
            <a:ext cx="2730500" cy="635000"/>
          </a:xfrm>
          <a:prstGeom prst="roundRect">
            <a:avLst>
              <a:gd name="adj" fmla="val 16000"/>
            </a:avLst>
          </a:prstGeom>
          <a:solidFill>
            <a:srgbClr val="FFB347"/>
          </a:solidFill>
          <a:ln/>
        </p:spPr>
      </p:sp>
      <p:sp>
        <p:nvSpPr>
          <p:cNvPr id="7" name="Text 5"/>
          <p:cNvSpPr/>
          <p:nvPr/>
        </p:nvSpPr>
        <p:spPr>
          <a:xfrm>
            <a:off x="2944624" y="3553420"/>
            <a:ext cx="202275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429 · 5xx · timeout</a:t>
            </a:r>
            <a:endParaRPr lang="en-US" sz="1500" dirty="0"/>
          </a:p>
        </p:txBody>
      </p:sp>
      <p:sp>
        <p:nvSpPr>
          <p:cNvPr id="8" name="Text 6"/>
          <p:cNvSpPr/>
          <p:nvPr/>
        </p:nvSpPr>
        <p:spPr>
          <a:xfrm>
            <a:off x="3363238" y="3845520"/>
            <a:ext cx="1185624"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06070D"/>
                </a:solidFill>
                <a:latin typeface="IBM Plex Sans" pitchFamily="34" charset="0"/>
                <a:ea typeface="IBM Plex Sans" pitchFamily="34" charset="-122"/>
                <a:cs typeface="IBM Plex Sans" pitchFamily="34" charset="-120"/>
              </a:rPr>
              <a:t>Wait, retry once</a:t>
            </a:r>
            <a:endParaRPr lang="en-US" sz="1100" dirty="0"/>
          </a:p>
        </p:txBody>
      </p:sp>
      <p:sp>
        <p:nvSpPr>
          <p:cNvPr id="9" name="Shape 7"/>
          <p:cNvSpPr/>
          <p:nvPr/>
        </p:nvSpPr>
        <p:spPr>
          <a:xfrm>
            <a:off x="5765800" y="3479800"/>
            <a:ext cx="2730500" cy="635000"/>
          </a:xfrm>
          <a:prstGeom prst="roundRect">
            <a:avLst>
              <a:gd name="adj" fmla="val 16000"/>
            </a:avLst>
          </a:prstGeom>
          <a:solidFill>
            <a:srgbClr val="FF3B1F"/>
          </a:solidFill>
          <a:ln/>
        </p:spPr>
      </p:sp>
      <p:sp>
        <p:nvSpPr>
          <p:cNvPr id="10" name="Text 8"/>
          <p:cNvSpPr/>
          <p:nvPr/>
        </p:nvSpPr>
        <p:spPr>
          <a:xfrm>
            <a:off x="6023421" y="3553420"/>
            <a:ext cx="221515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400 · 401 · 403 · 404</a:t>
            </a:r>
            <a:endParaRPr lang="en-US" sz="1500" dirty="0"/>
          </a:p>
        </p:txBody>
      </p:sp>
      <p:sp>
        <p:nvSpPr>
          <p:cNvPr id="11" name="Text 9"/>
          <p:cNvSpPr/>
          <p:nvPr/>
        </p:nvSpPr>
        <p:spPr>
          <a:xfrm>
            <a:off x="6150461" y="3845520"/>
            <a:ext cx="1961078"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06070D"/>
                </a:solidFill>
                <a:latin typeface="IBM Plex Sans" pitchFamily="34" charset="0"/>
                <a:ea typeface="IBM Plex Sans" pitchFamily="34" charset="-122"/>
                <a:cs typeface="IBM Plex Sans" pitchFamily="34" charset="-120"/>
              </a:rPr>
              <a:t>Skip. Retrying cannot help</a:t>
            </a:r>
            <a:endParaRPr lang="en-US" sz="1100" dirty="0"/>
          </a:p>
        </p:txBody>
      </p:sp>
      <p:sp>
        <p:nvSpPr>
          <p:cNvPr id="12" name="Text 10"/>
          <p:cNvSpPr/>
          <p:nvPr/>
        </p:nvSpPr>
        <p:spPr>
          <a:xfrm>
            <a:off x="9258300" y="3479800"/>
            <a:ext cx="2120900" cy="635000"/>
          </a:xfrm>
          <a:prstGeom prst="roundRect">
            <a:avLst>
              <a:gd name="adj" fmla="val 16000"/>
            </a:avLst>
          </a:prstGeom>
          <a:solidFill>
            <a:srgbClr val="6EA8FF"/>
          </a:solidFill>
          <a:ln/>
        </p:spPr>
        <p:txBody>
          <a:bodyPr wrap="square" lIns="21042" tIns="21042" rIns="21042" bIns="21042" rtlCol="0" anchor="ctr">
            <a:normAutofit/>
          </a:bodyPr>
          <a:lstStyle/>
          <a:p>
            <a:pPr algn="ctr" indent="0" marL="0">
              <a:lnSpc>
                <a:spcPts val="2100"/>
              </a:lnSpc>
              <a:buNone/>
            </a:pPr>
            <a:r>
              <a:rPr lang="en-US" sz="1500" b="1" dirty="0">
                <a:solidFill>
                  <a:srgbClr val="06070D"/>
                </a:solidFill>
                <a:latin typeface="IBM Plex Sans" pitchFamily="34" charset="0"/>
                <a:ea typeface="IBM Plex Sans" pitchFamily="34" charset="-122"/>
                <a:cs typeface="IBM Plex Sans" pitchFamily="34" charset="-120"/>
              </a:rPr>
              <a:t>Next provider</a:t>
            </a:r>
            <a:endParaRPr lang="en-US" sz="1500" dirty="0"/>
          </a:p>
        </p:txBody>
      </p:sp>
      <p:pic>
        <p:nvPicPr>
          <p:cNvPr id="13" name="Image 0" descr="connector">    </p:cNvPr>
          <p:cNvPicPr>
            <a:picLocks noChangeAspect="1"/>
          </p:cNvPicPr>
          <p:nvPr/>
        </p:nvPicPr>
        <p:blipFill>
          <a:blip r:embed="rId1"/>
          <a:srcRect l="0" r="0" t="0" b="0"/>
          <a:stretch/>
        </p:blipFill>
        <p:spPr>
          <a:xfrm>
            <a:off x="2667000" y="2254250"/>
            <a:ext cx="736600" cy="101600"/>
          </a:xfrm>
          <a:prstGeom prst="rect">
            <a:avLst/>
          </a:prstGeom>
        </p:spPr>
      </p:pic>
      <p:pic>
        <p:nvPicPr>
          <p:cNvPr id="14" name="Image 1" descr="connector">    </p:cNvPr>
          <p:cNvPicPr>
            <a:picLocks noChangeAspect="1"/>
          </p:cNvPicPr>
          <p:nvPr/>
        </p:nvPicPr>
        <p:blipFill>
          <a:blip r:embed="rId2"/>
          <a:srcRect l="0" r="0" t="0" b="0"/>
          <a:stretch/>
        </p:blipFill>
        <p:spPr>
          <a:xfrm>
            <a:off x="4953000" y="2254250"/>
            <a:ext cx="736600" cy="101600"/>
          </a:xfrm>
          <a:prstGeom prst="rect">
            <a:avLst/>
          </a:prstGeom>
        </p:spPr>
      </p:pic>
      <p:pic>
        <p:nvPicPr>
          <p:cNvPr id="15" name="Image 2" descr="connector">    </p:cNvPr>
          <p:cNvPicPr>
            <a:picLocks noChangeAspect="1"/>
          </p:cNvPicPr>
          <p:nvPr/>
        </p:nvPicPr>
        <p:blipFill>
          <a:blip r:embed="rId3"/>
          <a:srcRect l="0" r="0" t="0" b="0"/>
          <a:stretch/>
        </p:blipFill>
        <p:spPr>
          <a:xfrm>
            <a:off x="3905250" y="2540000"/>
            <a:ext cx="323850" cy="990600"/>
          </a:xfrm>
          <a:prstGeom prst="rect">
            <a:avLst/>
          </a:prstGeom>
        </p:spPr>
      </p:pic>
      <p:pic>
        <p:nvPicPr>
          <p:cNvPr id="16" name="Image 3" descr="connector">    </p:cNvPr>
          <p:cNvPicPr>
            <a:picLocks noChangeAspect="1"/>
          </p:cNvPicPr>
          <p:nvPr/>
        </p:nvPicPr>
        <p:blipFill>
          <a:blip r:embed="rId4"/>
          <a:srcRect l="0" r="0" t="0" b="0"/>
          <a:stretch/>
        </p:blipFill>
        <p:spPr>
          <a:xfrm>
            <a:off x="4127500" y="2540000"/>
            <a:ext cx="3054350" cy="990600"/>
          </a:xfrm>
          <a:prstGeom prst="rect">
            <a:avLst/>
          </a:prstGeom>
        </p:spPr>
      </p:pic>
      <p:pic>
        <p:nvPicPr>
          <p:cNvPr id="17" name="Image 4" descr="connector">    </p:cNvPr>
          <p:cNvPicPr>
            <a:picLocks noChangeAspect="1"/>
          </p:cNvPicPr>
          <p:nvPr/>
        </p:nvPicPr>
        <p:blipFill>
          <a:blip r:embed="rId5"/>
          <a:srcRect l="0" r="0" t="0" b="0"/>
          <a:stretch/>
        </p:blipFill>
        <p:spPr>
          <a:xfrm>
            <a:off x="5270500" y="3619500"/>
            <a:ext cx="4038600" cy="228600"/>
          </a:xfrm>
          <a:prstGeom prst="rect">
            <a:avLst/>
          </a:prstGeom>
        </p:spPr>
      </p:pic>
      <p:pic>
        <p:nvPicPr>
          <p:cNvPr id="18" name="Image 5" descr="connector">    </p:cNvPr>
          <p:cNvPicPr>
            <a:picLocks noChangeAspect="1"/>
          </p:cNvPicPr>
          <p:nvPr/>
        </p:nvPicPr>
        <p:blipFill>
          <a:blip r:embed="rId6"/>
          <a:srcRect l="0" r="0" t="0" b="0"/>
          <a:stretch/>
        </p:blipFill>
        <p:spPr>
          <a:xfrm>
            <a:off x="8445500" y="3746500"/>
            <a:ext cx="863600" cy="165100"/>
          </a:xfrm>
          <a:prstGeom prst="rect">
            <a:avLst/>
          </a:prstGeom>
        </p:spPr>
      </p:pic>
      <p:sp>
        <p:nvSpPr>
          <p:cNvPr id="19" name="Text 11"/>
          <p:cNvSpPr/>
          <p:nvPr/>
        </p:nvSpPr>
        <p:spPr>
          <a:xfrm>
            <a:off x="5194300" y="2051050"/>
            <a:ext cx="4953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A3B8"/>
                </a:solidFill>
                <a:latin typeface="IBM Plex Sans" pitchFamily="34" charset="0"/>
                <a:ea typeface="IBM Plex Sans" pitchFamily="34" charset="-122"/>
                <a:cs typeface="IBM Plex Sans" pitchFamily="34" charset="-120"/>
              </a:rPr>
              <a:t>yes</a:t>
            </a:r>
            <a:endParaRPr lang="en-US" sz="1200" dirty="0"/>
          </a:p>
        </p:txBody>
      </p:sp>
      <p:sp>
        <p:nvSpPr>
          <p:cNvPr id="20" name="Text 12"/>
          <p:cNvSpPr/>
          <p:nvPr/>
        </p:nvSpPr>
        <p:spPr>
          <a:xfrm>
            <a:off x="4343400" y="2882900"/>
            <a:ext cx="4953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A3B8"/>
                </a:solidFill>
                <a:latin typeface="IBM Plex Sans" pitchFamily="34" charset="0"/>
                <a:ea typeface="IBM Plex Sans" pitchFamily="34" charset="-122"/>
                <a:cs typeface="IBM Plex Sans" pitchFamily="34" charset="-120"/>
              </a:rPr>
              <a:t>no</a:t>
            </a:r>
            <a:endParaRPr lang="en-US" sz="1200" dirty="0"/>
          </a:p>
        </p:txBody>
      </p:sp>
      <p:sp>
        <p:nvSpPr>
          <p:cNvPr id="21" name="Text 13"/>
          <p:cNvSpPr/>
          <p:nvPr/>
        </p:nvSpPr>
        <p:spPr>
          <a:xfrm>
            <a:off x="812800" y="1384300"/>
            <a:ext cx="719455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FC6D8"/>
                </a:solidFill>
                <a:latin typeface="IBM Plex Sans" pitchFamily="34" charset="0"/>
                <a:ea typeface="IBM Plex Sans" pitchFamily="34" charset="-122"/>
                <a:cs typeface="IBM Plex Sans" pitchFamily="34" charset="-120"/>
              </a:rPr>
              <a:t>Rule of thumb: temporary problem? try again once. Permanent problem? move on.</a:t>
            </a:r>
            <a:endParaRPr lang="en-US" sz="1400" dirty="0"/>
          </a:p>
        </p:txBody>
      </p:sp>
      <p:pic>
        <p:nvPicPr>
          <p:cNvPr id="22" name="Image 6" descr="NASA Space Apps Cairo logo">    </p:cNvPr>
          <p:cNvPicPr>
            <a:picLocks noChangeAspect="1"/>
          </p:cNvPicPr>
          <p:nvPr/>
        </p:nvPicPr>
        <p:blipFill>
          <a:blip r:embed="rId7"/>
          <a:srcRect l="-70" r="-70" t="0" b="0"/>
          <a:stretch/>
        </p:blipFill>
        <p:spPr>
          <a:xfrm>
            <a:off x="812800" y="6146800"/>
            <a:ext cx="908050" cy="355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5FA"/>
                </a:solidFill>
                <a:latin typeface="Space Grotesk" pitchFamily="34" charset="0"/>
                <a:ea typeface="Space Grotesk" pitchFamily="34" charset="-122"/>
                <a:cs typeface="Space Grotesk" pitchFamily="34" charset="-120"/>
              </a:rPr>
              <a:t>The fallback chain, step by step</a:t>
            </a:r>
            <a:endParaRPr lang="en-US" sz="3000" dirty="0"/>
          </a:p>
        </p:txBody>
      </p:sp>
      <p:sp>
        <p:nvSpPr>
          <p:cNvPr id="3" name="Text 1"/>
          <p:cNvSpPr/>
          <p:nvPr/>
        </p:nvSpPr>
        <p:spPr>
          <a:xfrm>
            <a:off x="812800" y="1638300"/>
            <a:ext cx="1727200" cy="698500"/>
          </a:xfrm>
          <a:prstGeom prst="roundRect">
            <a:avLst>
              <a:gd name="adj" fmla="val 14545"/>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Cache</a:t>
            </a:r>
            <a:endParaRPr lang="en-US" sz="1500" dirty="0"/>
          </a:p>
        </p:txBody>
      </p:sp>
      <p:sp>
        <p:nvSpPr>
          <p:cNvPr id="4" name="Text 2"/>
          <p:cNvSpPr/>
          <p:nvPr/>
        </p:nvSpPr>
        <p:spPr>
          <a:xfrm>
            <a:off x="3022600" y="1638300"/>
            <a:ext cx="1727200" cy="698500"/>
          </a:xfrm>
          <a:prstGeom prst="roundRect">
            <a:avLst>
              <a:gd name="adj" fmla="val 14545"/>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Gemini</a:t>
            </a:r>
            <a:endParaRPr lang="en-US" sz="1500" dirty="0"/>
          </a:p>
        </p:txBody>
      </p:sp>
      <p:sp>
        <p:nvSpPr>
          <p:cNvPr id="5" name="Text 3"/>
          <p:cNvSpPr/>
          <p:nvPr/>
        </p:nvSpPr>
        <p:spPr>
          <a:xfrm>
            <a:off x="5232400" y="1638300"/>
            <a:ext cx="1727200" cy="698500"/>
          </a:xfrm>
          <a:prstGeom prst="roundRect">
            <a:avLst>
              <a:gd name="adj" fmla="val 14545"/>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Groq</a:t>
            </a:r>
            <a:endParaRPr lang="en-US" sz="1500" dirty="0"/>
          </a:p>
        </p:txBody>
      </p:sp>
      <p:sp>
        <p:nvSpPr>
          <p:cNvPr id="6" name="Text 4"/>
          <p:cNvSpPr/>
          <p:nvPr/>
        </p:nvSpPr>
        <p:spPr>
          <a:xfrm>
            <a:off x="7442200" y="1638300"/>
            <a:ext cx="1727200" cy="698500"/>
          </a:xfrm>
          <a:prstGeom prst="roundRect">
            <a:avLst>
              <a:gd name="adj" fmla="val 14545"/>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OpenRouter</a:t>
            </a:r>
            <a:endParaRPr lang="en-US" sz="1500" dirty="0"/>
          </a:p>
        </p:txBody>
      </p:sp>
      <p:sp>
        <p:nvSpPr>
          <p:cNvPr id="7" name="Text 5"/>
          <p:cNvSpPr/>
          <p:nvPr/>
        </p:nvSpPr>
        <p:spPr>
          <a:xfrm>
            <a:off x="9652000" y="1638300"/>
            <a:ext cx="1727200" cy="698500"/>
          </a:xfrm>
          <a:prstGeom prst="roundRect">
            <a:avLst>
              <a:gd name="adj" fmla="val 14545"/>
            </a:avLst>
          </a:prstGeom>
          <a:solidFill>
            <a:srgbClr val="141A2E"/>
          </a:solidFill>
          <a:ln/>
        </p:spPr>
        <p:txBody>
          <a:bodyPr wrap="square" lIns="21042" tIns="21042" rIns="21042" bIns="21042" rtlCol="0" anchor="ctr">
            <a:normAutofit/>
          </a:bodyPr>
          <a:lstStyle/>
          <a:p>
            <a:pPr algn="ctr" indent="0" marL="0">
              <a:lnSpc>
                <a:spcPts val="2100"/>
              </a:lnSpc>
              <a:buNone/>
            </a:pPr>
            <a:r>
              <a:rPr lang="en-US" sz="1500" b="1" dirty="0">
                <a:solidFill>
                  <a:srgbClr val="FFB347"/>
                </a:solidFill>
                <a:latin typeface="IBM Plex Sans" pitchFamily="34" charset="0"/>
                <a:ea typeface="IBM Plex Sans" pitchFamily="34" charset="-122"/>
                <a:cs typeface="IBM Plex Sans" pitchFamily="34" charset="-120"/>
              </a:rPr>
              <a:t>Your template</a:t>
            </a:r>
            <a:endParaRPr lang="en-US" sz="1500" dirty="0"/>
          </a:p>
        </p:txBody>
      </p:sp>
      <p:pic>
        <p:nvPicPr>
          <p:cNvPr id="8" name="Image 0" descr="connector">    </p:cNvPr>
          <p:cNvPicPr>
            <a:picLocks noChangeAspect="1"/>
          </p:cNvPicPr>
          <p:nvPr/>
        </p:nvPicPr>
        <p:blipFill>
          <a:blip r:embed="rId1"/>
          <a:srcRect l="0" r="0" t="0" b="0"/>
          <a:stretch/>
        </p:blipFill>
        <p:spPr>
          <a:xfrm>
            <a:off x="2489200" y="1936750"/>
            <a:ext cx="584200" cy="101600"/>
          </a:xfrm>
          <a:prstGeom prst="rect">
            <a:avLst/>
          </a:prstGeom>
        </p:spPr>
      </p:pic>
      <p:pic>
        <p:nvPicPr>
          <p:cNvPr id="9" name="Image 1" descr="connector">    </p:cNvPr>
          <p:cNvPicPr>
            <a:picLocks noChangeAspect="1"/>
          </p:cNvPicPr>
          <p:nvPr/>
        </p:nvPicPr>
        <p:blipFill>
          <a:blip r:embed="rId2"/>
          <a:srcRect l="0" r="0" t="0" b="0"/>
          <a:stretch/>
        </p:blipFill>
        <p:spPr>
          <a:xfrm>
            <a:off x="4699000" y="1936750"/>
            <a:ext cx="584200" cy="101600"/>
          </a:xfrm>
          <a:prstGeom prst="rect">
            <a:avLst/>
          </a:prstGeom>
        </p:spPr>
      </p:pic>
      <p:pic>
        <p:nvPicPr>
          <p:cNvPr id="10" name="Image 2" descr="connector">    </p:cNvPr>
          <p:cNvPicPr>
            <a:picLocks noChangeAspect="1"/>
          </p:cNvPicPr>
          <p:nvPr/>
        </p:nvPicPr>
        <p:blipFill>
          <a:blip r:embed="rId3"/>
          <a:srcRect l="0" r="0" t="0" b="0"/>
          <a:stretch/>
        </p:blipFill>
        <p:spPr>
          <a:xfrm>
            <a:off x="6908800" y="1936750"/>
            <a:ext cx="584200" cy="101600"/>
          </a:xfrm>
          <a:prstGeom prst="rect">
            <a:avLst/>
          </a:prstGeom>
        </p:spPr>
      </p:pic>
      <p:pic>
        <p:nvPicPr>
          <p:cNvPr id="11" name="Image 3" descr="connector">    </p:cNvPr>
          <p:cNvPicPr>
            <a:picLocks noChangeAspect="1"/>
          </p:cNvPicPr>
          <p:nvPr/>
        </p:nvPicPr>
        <p:blipFill>
          <a:blip r:embed="rId4"/>
          <a:srcRect l="0" r="0" t="0" b="0"/>
          <a:stretch/>
        </p:blipFill>
        <p:spPr>
          <a:xfrm>
            <a:off x="9118600" y="1936750"/>
            <a:ext cx="584200" cy="101600"/>
          </a:xfrm>
          <a:prstGeom prst="rect">
            <a:avLst/>
          </a:prstGeom>
        </p:spPr>
      </p:pic>
      <p:sp>
        <p:nvSpPr>
          <p:cNvPr id="12" name="Text 6"/>
          <p:cNvSpPr/>
          <p:nvPr/>
        </p:nvSpPr>
        <p:spPr>
          <a:xfrm>
            <a:off x="786892" y="2463800"/>
            <a:ext cx="1779016" cy="25648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9AA3B8"/>
                </a:solidFill>
                <a:latin typeface="IBM Plex Sans" pitchFamily="34" charset="0"/>
                <a:ea typeface="IBM Plex Sans" pitchFamily="34" charset="-122"/>
                <a:cs typeface="IBM Plex Sans" pitchFamily="34" charset="-120"/>
              </a:rPr>
              <a:t>miss</a:t>
            </a:r>
            <a:endParaRPr lang="en-US" sz="1400" dirty="0"/>
          </a:p>
        </p:txBody>
      </p:sp>
      <p:sp>
        <p:nvSpPr>
          <p:cNvPr id="13" name="Text 7"/>
          <p:cNvSpPr/>
          <p:nvPr/>
        </p:nvSpPr>
        <p:spPr>
          <a:xfrm>
            <a:off x="2996692" y="2463800"/>
            <a:ext cx="1779016" cy="25648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FB347"/>
                </a:solidFill>
                <a:latin typeface="IBM Plex Sans" pitchFamily="34" charset="0"/>
                <a:ea typeface="IBM Plex Sans" pitchFamily="34" charset="-122"/>
                <a:cs typeface="IBM Plex Sans" pitchFamily="34" charset="-120"/>
              </a:rPr>
              <a:t>429, retry, 429</a:t>
            </a:r>
            <a:endParaRPr lang="en-US" sz="1400" dirty="0"/>
          </a:p>
        </p:txBody>
      </p:sp>
      <p:sp>
        <p:nvSpPr>
          <p:cNvPr id="14" name="Text 8"/>
          <p:cNvSpPr/>
          <p:nvPr/>
        </p:nvSpPr>
        <p:spPr>
          <a:xfrm>
            <a:off x="5206492" y="2463800"/>
            <a:ext cx="1779016" cy="25648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F3B1F"/>
                </a:solidFill>
                <a:latin typeface="IBM Plex Sans" pitchFamily="34" charset="0"/>
                <a:ea typeface="IBM Plex Sans" pitchFamily="34" charset="-122"/>
                <a:cs typeface="IBM Plex Sans" pitchFamily="34" charset="-120"/>
              </a:rPr>
              <a:t>401, skip</a:t>
            </a:r>
            <a:endParaRPr lang="en-US" sz="1400" dirty="0"/>
          </a:p>
        </p:txBody>
      </p:sp>
      <p:sp>
        <p:nvSpPr>
          <p:cNvPr id="15" name="Text 9"/>
          <p:cNvSpPr/>
          <p:nvPr/>
        </p:nvSpPr>
        <p:spPr>
          <a:xfrm>
            <a:off x="7416292" y="2463800"/>
            <a:ext cx="1779016" cy="25648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3DDC97"/>
                </a:solidFill>
                <a:latin typeface="IBM Plex Sans" pitchFamily="34" charset="0"/>
                <a:ea typeface="IBM Plex Sans" pitchFamily="34" charset="-122"/>
                <a:cs typeface="IBM Plex Sans" pitchFamily="34" charset="-120"/>
              </a:rPr>
              <a:t>200 ✓ answer</a:t>
            </a:r>
            <a:endParaRPr lang="en-US" sz="1400" dirty="0"/>
          </a:p>
        </p:txBody>
      </p:sp>
      <p:sp>
        <p:nvSpPr>
          <p:cNvPr id="16" name="Text 10"/>
          <p:cNvSpPr/>
          <p:nvPr/>
        </p:nvSpPr>
        <p:spPr>
          <a:xfrm>
            <a:off x="9626092" y="2463800"/>
            <a:ext cx="1779016" cy="25648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9AA3B8"/>
                </a:solidFill>
                <a:latin typeface="IBM Plex Sans" pitchFamily="34" charset="0"/>
                <a:ea typeface="IBM Plex Sans" pitchFamily="34" charset="-122"/>
                <a:cs typeface="IBM Plex Sans" pitchFamily="34" charset="-120"/>
              </a:rPr>
              <a:t>only if all fail</a:t>
            </a:r>
            <a:endParaRPr lang="en-US" sz="1400" dirty="0"/>
          </a:p>
        </p:txBody>
      </p:sp>
      <p:sp>
        <p:nvSpPr>
          <p:cNvPr id="17" name="Text 11"/>
          <p:cNvSpPr/>
          <p:nvPr/>
        </p:nvSpPr>
        <p:spPr>
          <a:xfrm>
            <a:off x="812800" y="2971800"/>
            <a:ext cx="1088339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5FA"/>
                </a:solidFill>
                <a:latin typeface="IBM Plex Sans" pitchFamily="34" charset="0"/>
                <a:ea typeface="IBM Plex Sans" pitchFamily="34" charset="-122"/>
                <a:cs typeface="IBM Plex Sans" pitchFamily="34" charset="-120"/>
              </a:rPr>
              <a:t>The user always sees something. The screen says who wrote it: “AI-written by OpenRouter”, or “Basic version (no AI)”.</a:t>
            </a:r>
            <a:endParaRPr lang="en-US" sz="1500" dirty="0"/>
          </a:p>
        </p:txBody>
      </p:sp>
      <p:sp>
        <p:nvSpPr>
          <p:cNvPr id="18" name="Text 12"/>
          <p:cNvSpPr/>
          <p:nvPr/>
        </p:nvSpPr>
        <p:spPr>
          <a:xfrm>
            <a:off x="812800" y="3416300"/>
            <a:ext cx="1088339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BFC6D8"/>
                </a:solidFill>
                <a:latin typeface="IBM Plex Sans" pitchFamily="34" charset="0"/>
                <a:ea typeface="IBM Plex Sans" pitchFamily="34" charset="-122"/>
                <a:cs typeface="IBM Plex Sans" pitchFamily="34" charset="-120"/>
              </a:rPr>
              <a:t>Good answers go into the cache, so a repeat question costs nothing and still works if every provider is down later.</a:t>
            </a:r>
            <a:endParaRPr lang="en-US" sz="1300" dirty="0"/>
          </a:p>
        </p:txBody>
      </p:sp>
      <p:pic>
        <p:nvPicPr>
          <p:cNvPr id="19" name="Image 4" descr="NASA Space Apps Cairo logo">    </p:cNvPr>
          <p:cNvPicPr>
            <a:picLocks noChangeAspect="1"/>
          </p:cNvPicPr>
          <p:nvPr/>
        </p:nvPicPr>
        <p:blipFill>
          <a:blip r:embed="rId5"/>
          <a:srcRect l="-70" r="-70" t="0" b="0"/>
          <a:stretch/>
        </p:blipFill>
        <p:spPr>
          <a:xfrm>
            <a:off x="812800" y="6146800"/>
            <a:ext cx="908050" cy="355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5FA"/>
                </a:solidFill>
                <a:latin typeface="Space Grotesk" pitchFamily="34" charset="0"/>
                <a:ea typeface="Space Grotesk" pitchFamily="34" charset="-122"/>
                <a:cs typeface="Space Grotesk" pitchFamily="34" charset="-120"/>
              </a:rPr>
              <a:t>AI responses and the fallback</a:t>
            </a:r>
            <a:endParaRPr lang="en-US" sz="3000" dirty="0"/>
          </a:p>
        </p:txBody>
      </p:sp>
      <p:sp>
        <p:nvSpPr>
          <p:cNvPr id="3" name="Shape 1"/>
          <p:cNvSpPr/>
          <p:nvPr/>
        </p:nvSpPr>
        <p:spPr>
          <a:xfrm>
            <a:off x="812800" y="1358900"/>
            <a:ext cx="3403600" cy="1646932"/>
          </a:xfrm>
          <a:prstGeom prst="roundRect">
            <a:avLst>
              <a:gd name="adj" fmla="val 7711"/>
            </a:avLst>
          </a:prstGeom>
          <a:solidFill>
            <a:srgbClr val="141A2E"/>
          </a:solidFill>
          <a:ln/>
        </p:spPr>
      </p:sp>
      <p:sp>
        <p:nvSpPr>
          <p:cNvPr id="4" name="Text 2"/>
          <p:cNvSpPr/>
          <p:nvPr/>
        </p:nvSpPr>
        <p:spPr>
          <a:xfrm>
            <a:off x="965200" y="151130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EA8FF"/>
                </a:solidFill>
                <a:latin typeface="IBM Plex Sans" pitchFamily="34" charset="0"/>
                <a:ea typeface="IBM Plex Sans" pitchFamily="34" charset="-122"/>
                <a:cs typeface="IBM Plex Sans" pitchFamily="34" charset="-120"/>
              </a:rPr>
              <a:t>TEXT · JSON · STREAM</a:t>
            </a:r>
            <a:endParaRPr lang="en-US" sz="1200" dirty="0"/>
          </a:p>
        </p:txBody>
      </p:sp>
      <p:sp>
        <p:nvSpPr>
          <p:cNvPr id="5" name="Text 3"/>
          <p:cNvSpPr/>
          <p:nvPr/>
        </p:nvSpPr>
        <p:spPr>
          <a:xfrm>
            <a:off x="965200" y="1788120"/>
            <a:ext cx="319176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5FA"/>
                </a:solidFill>
                <a:latin typeface="Space Grotesk" pitchFamily="34" charset="0"/>
                <a:ea typeface="Space Grotesk" pitchFamily="34" charset="-122"/>
                <a:cs typeface="Space Grotesk" pitchFamily="34" charset="-120"/>
              </a:rPr>
              <a:t>Know what you asked for</a:t>
            </a:r>
            <a:endParaRPr lang="en-US" sz="1800" dirty="0"/>
          </a:p>
        </p:txBody>
      </p:sp>
      <p:sp>
        <p:nvSpPr>
          <p:cNvPr id="6" name="Text 4"/>
          <p:cNvSpPr/>
          <p:nvPr/>
        </p:nvSpPr>
        <p:spPr>
          <a:xfrm>
            <a:off x="965200" y="2114451"/>
            <a:ext cx="319176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choices[0].message.content; check finish_reason</a:t>
            </a:r>
            <a:endParaRPr lang="en-US" sz="1300" dirty="0"/>
          </a:p>
        </p:txBody>
      </p:sp>
      <p:sp>
        <p:nvSpPr>
          <p:cNvPr id="7" name="Text 5"/>
          <p:cNvSpPr/>
          <p:nvPr/>
        </p:nvSpPr>
        <p:spPr>
          <a:xfrm>
            <a:off x="965200" y="2640112"/>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347"/>
                </a:solidFill>
                <a:latin typeface="IBM Plex Sans" pitchFamily="34" charset="0"/>
                <a:ea typeface="IBM Plex Sans" pitchFamily="34" charset="-122"/>
                <a:cs typeface="IBM Plex Sans" pitchFamily="34" charset="-120"/>
              </a:rPr>
              <a:t>JSON mode is a hint: parse and validate</a:t>
            </a:r>
            <a:endParaRPr lang="en-US" sz="1200" dirty="0"/>
          </a:p>
        </p:txBody>
      </p:sp>
      <p:sp>
        <p:nvSpPr>
          <p:cNvPr id="8" name="Shape 6"/>
          <p:cNvSpPr/>
          <p:nvPr/>
        </p:nvSpPr>
        <p:spPr>
          <a:xfrm>
            <a:off x="4394200" y="1358900"/>
            <a:ext cx="3403600" cy="1646932"/>
          </a:xfrm>
          <a:prstGeom prst="roundRect">
            <a:avLst>
              <a:gd name="adj" fmla="val 7711"/>
            </a:avLst>
          </a:prstGeom>
          <a:solidFill>
            <a:srgbClr val="141A2E"/>
          </a:solidFill>
          <a:ln/>
        </p:spPr>
      </p:sp>
      <p:sp>
        <p:nvSpPr>
          <p:cNvPr id="9" name="Text 7"/>
          <p:cNvSpPr/>
          <p:nvPr/>
        </p:nvSpPr>
        <p:spPr>
          <a:xfrm>
            <a:off x="4546600" y="151130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3B1F"/>
                </a:solidFill>
                <a:latin typeface="IBM Plex Sans" pitchFamily="34" charset="0"/>
                <a:ea typeface="IBM Plex Sans" pitchFamily="34" charset="-122"/>
                <a:cs typeface="IBM Plex Sans" pitchFamily="34" charset="-120"/>
              </a:rPr>
              <a:t>WHEN IT FAILS</a:t>
            </a:r>
            <a:endParaRPr lang="en-US" sz="1200" dirty="0"/>
          </a:p>
        </p:txBody>
      </p:sp>
      <p:sp>
        <p:nvSpPr>
          <p:cNvPr id="10" name="Text 8"/>
          <p:cNvSpPr/>
          <p:nvPr/>
        </p:nvSpPr>
        <p:spPr>
          <a:xfrm>
            <a:off x="4546600" y="1788120"/>
            <a:ext cx="319176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5FA"/>
                </a:solidFill>
                <a:latin typeface="Space Grotesk" pitchFamily="34" charset="0"/>
                <a:ea typeface="Space Grotesk" pitchFamily="34" charset="-122"/>
                <a:cs typeface="Space Grotesk" pitchFamily="34" charset="-120"/>
              </a:rPr>
              <a:t>Retry or skip?</a:t>
            </a:r>
            <a:endParaRPr lang="en-US" sz="1800" dirty="0"/>
          </a:p>
        </p:txBody>
      </p:sp>
      <p:sp>
        <p:nvSpPr>
          <p:cNvPr id="11" name="Text 9"/>
          <p:cNvSpPr/>
          <p:nvPr/>
        </p:nvSpPr>
        <p:spPr>
          <a:xfrm>
            <a:off x="4546600" y="2114451"/>
            <a:ext cx="319176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429 and 5xx: wait, retry once. 401, 403, 404: skip</a:t>
            </a:r>
            <a:endParaRPr lang="en-US" sz="1300" dirty="0"/>
          </a:p>
        </p:txBody>
      </p:sp>
      <p:sp>
        <p:nvSpPr>
          <p:cNvPr id="12" name="Text 10"/>
          <p:cNvSpPr/>
          <p:nvPr/>
        </p:nvSpPr>
        <p:spPr>
          <a:xfrm>
            <a:off x="4546600" y="2640112"/>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347"/>
                </a:solidFill>
                <a:latin typeface="IBM Plex Sans" pitchFamily="34" charset="0"/>
                <a:ea typeface="IBM Plex Sans" pitchFamily="34" charset="-122"/>
                <a:cs typeface="IBM Plex Sans" pitchFamily="34" charset="-120"/>
              </a:rPr>
              <a:t>Never loop forever on a bad key</a:t>
            </a:r>
            <a:endParaRPr lang="en-US" sz="1200" dirty="0"/>
          </a:p>
        </p:txBody>
      </p:sp>
      <p:sp>
        <p:nvSpPr>
          <p:cNvPr id="13" name="Shape 11"/>
          <p:cNvSpPr/>
          <p:nvPr/>
        </p:nvSpPr>
        <p:spPr>
          <a:xfrm>
            <a:off x="7975600" y="1358900"/>
            <a:ext cx="3403600" cy="1646932"/>
          </a:xfrm>
          <a:prstGeom prst="roundRect">
            <a:avLst>
              <a:gd name="adj" fmla="val 7711"/>
            </a:avLst>
          </a:prstGeom>
          <a:solidFill>
            <a:srgbClr val="141A2E"/>
          </a:solidFill>
          <a:ln/>
        </p:spPr>
      </p:sp>
      <p:sp>
        <p:nvSpPr>
          <p:cNvPr id="14" name="Text 12"/>
          <p:cNvSpPr/>
          <p:nvPr/>
        </p:nvSpPr>
        <p:spPr>
          <a:xfrm>
            <a:off x="8128000" y="151130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THE CHAIN</a:t>
            </a:r>
            <a:endParaRPr lang="en-US" sz="1200" dirty="0"/>
          </a:p>
        </p:txBody>
      </p:sp>
      <p:sp>
        <p:nvSpPr>
          <p:cNvPr id="15" name="Text 13"/>
          <p:cNvSpPr/>
          <p:nvPr/>
        </p:nvSpPr>
        <p:spPr>
          <a:xfrm>
            <a:off x="8128000" y="1788120"/>
            <a:ext cx="319176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5FA"/>
                </a:solidFill>
                <a:latin typeface="Space Grotesk" pitchFamily="34" charset="0"/>
                <a:ea typeface="Space Grotesk" pitchFamily="34" charset="-122"/>
                <a:cs typeface="Space Grotesk" pitchFamily="34" charset="-120"/>
              </a:rPr>
              <a:t>Always show something</a:t>
            </a:r>
            <a:endParaRPr lang="en-US" sz="1800" dirty="0"/>
          </a:p>
        </p:txBody>
      </p:sp>
      <p:sp>
        <p:nvSpPr>
          <p:cNvPr id="16" name="Text 14"/>
          <p:cNvSpPr/>
          <p:nvPr/>
        </p:nvSpPr>
        <p:spPr>
          <a:xfrm>
            <a:off x="8128000" y="2114451"/>
            <a:ext cx="319176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Cache, provider 1, 2, 3, then your template</a:t>
            </a:r>
            <a:endParaRPr lang="en-US" sz="1300" dirty="0"/>
          </a:p>
        </p:txBody>
      </p:sp>
      <p:sp>
        <p:nvSpPr>
          <p:cNvPr id="17" name="Text 15"/>
          <p:cNvSpPr/>
          <p:nvPr/>
        </p:nvSpPr>
        <p:spPr>
          <a:xfrm>
            <a:off x="8128000" y="2640112"/>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347"/>
                </a:solidFill>
                <a:latin typeface="IBM Plex Sans" pitchFamily="34" charset="0"/>
                <a:ea typeface="IBM Plex Sans" pitchFamily="34" charset="-122"/>
                <a:cs typeface="IBM Plex Sans" pitchFamily="34" charset="-120"/>
              </a:rPr>
              <a:t>Say on screen when it is the basic version</a:t>
            </a:r>
            <a:endParaRPr lang="en-US" sz="1200" dirty="0"/>
          </a:p>
        </p:txBody>
      </p:sp>
      <p:sp>
        <p:nvSpPr>
          <p:cNvPr id="18" name="Text 16"/>
          <p:cNvSpPr/>
          <p:nvPr/>
        </p:nvSpPr>
        <p:spPr>
          <a:xfrm>
            <a:off x="812800" y="323443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5FA"/>
                </a:solidFill>
                <a:latin typeface="IBM Plex Sans" pitchFamily="34" charset="0"/>
                <a:ea typeface="IBM Plex Sans" pitchFamily="34" charset="-122"/>
                <a:cs typeface="IBM Plex Sans" pitchFamily="34" charset="-120"/>
              </a:rPr>
              <a:t>Facts come from your code. The model only phrases them. Check its numbers before you show them.</a:t>
            </a:r>
            <a:endParaRPr lang="en-US" sz="1400" dirty="0"/>
          </a:p>
        </p:txBody>
      </p:sp>
      <p:pic>
        <p:nvPicPr>
          <p:cNvPr id="19" name="Image 0" descr="NASA Space Apps Cairo logo">    </p:cNvPr>
          <p:cNvPicPr>
            <a:picLocks noChangeAspect="1"/>
          </p:cNvPicPr>
          <p:nvPr/>
        </p:nvPicPr>
        <p:blipFill>
          <a:blip r:embed="rId1"/>
          <a:srcRect l="-70" r="-70" t="0" b="0"/>
          <a:stretch/>
        </p:blipFill>
        <p:spPr>
          <a:xfrm>
            <a:off x="812800" y="6146800"/>
            <a:ext cx="908050" cy="355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Architecture: start small, join later</a:t>
            </a:r>
            <a:endParaRPr lang="en-US" sz="3200" dirty="0"/>
          </a:p>
        </p:txBody>
      </p:sp>
      <p:sp>
        <p:nvSpPr>
          <p:cNvPr id="3" name="Shape 1"/>
          <p:cNvSpPr/>
          <p:nvPr/>
        </p:nvSpPr>
        <p:spPr>
          <a:xfrm>
            <a:off x="822325" y="1523305"/>
            <a:ext cx="3028950" cy="2490192"/>
          </a:xfrm>
          <a:prstGeom prst="roundRect">
            <a:avLst>
              <a:gd name="adj" fmla="val 4718"/>
            </a:avLst>
          </a:prstGeom>
          <a:solidFill>
            <a:srgbClr val="141A2E"/>
          </a:solidFill>
          <a:ln w="19050">
            <a:solidFill>
              <a:srgbClr val="FF3B1F"/>
            </a:solidFill>
            <a:prstDash val="solid"/>
          </a:ln>
        </p:spPr>
      </p:sp>
      <p:sp>
        <p:nvSpPr>
          <p:cNvPr id="4" name="Text 2"/>
          <p:cNvSpPr/>
          <p:nvPr/>
        </p:nvSpPr>
        <p:spPr>
          <a:xfrm>
            <a:off x="1009650" y="1710630"/>
            <a:ext cx="4406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3B1F"/>
                </a:solidFill>
                <a:latin typeface="IBM Plex Sans" pitchFamily="34" charset="0"/>
                <a:ea typeface="IBM Plex Sans" pitchFamily="34" charset="-122"/>
                <a:cs typeface="IBM Plex Sans" pitchFamily="34" charset="-120"/>
              </a:rPr>
              <a:t>BAD</a:t>
            </a:r>
            <a:endParaRPr lang="en-US" sz="1200" dirty="0"/>
          </a:p>
        </p:txBody>
      </p:sp>
      <p:sp>
        <p:nvSpPr>
          <p:cNvPr id="5" name="Text 3"/>
          <p:cNvSpPr/>
          <p:nvPr/>
        </p:nvSpPr>
        <p:spPr>
          <a:xfrm>
            <a:off x="1681163" y="1987451"/>
            <a:ext cx="1311275" cy="375841"/>
          </a:xfrm>
          <a:prstGeom prst="roundRect">
            <a:avLst>
              <a:gd name="adj" fmla="val 20275"/>
            </a:avLst>
          </a:prstGeom>
          <a:solidFill>
            <a:srgbClr val="0D1120"/>
          </a:solidFill>
          <a:ln/>
        </p:spPr>
        <p:txBody>
          <a:bodyPr wrap="none" lIns="0" tIns="0" rIns="0" bIns="0" rtlCol="0" anchor="ctr">
            <a:normAutofit/>
          </a:bodyPr>
          <a:lstStyle/>
          <a:p>
            <a:pPr algn="ctr"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Hackathon</a:t>
            </a:r>
            <a:endParaRPr lang="en-US" sz="1400" dirty="0"/>
          </a:p>
        </p:txBody>
      </p:sp>
      <p:pic>
        <p:nvPicPr>
          <p:cNvPr id="6" name="Image 0" descr="arrow-down">    </p:cNvPr>
          <p:cNvPicPr>
            <a:picLocks noChangeAspect="1"/>
          </p:cNvPicPr>
          <p:nvPr/>
        </p:nvPicPr>
        <p:blipFill>
          <a:blip r:embed="rId1"/>
          <a:srcRect l="0" r="0" t="0" b="0"/>
          <a:stretch/>
        </p:blipFill>
        <p:spPr>
          <a:xfrm>
            <a:off x="2247900" y="2426791"/>
            <a:ext cx="177800" cy="228600"/>
          </a:xfrm>
          <a:prstGeom prst="rect">
            <a:avLst/>
          </a:prstGeom>
        </p:spPr>
      </p:pic>
      <p:sp>
        <p:nvSpPr>
          <p:cNvPr id="7" name="Text 4"/>
          <p:cNvSpPr/>
          <p:nvPr/>
        </p:nvSpPr>
        <p:spPr>
          <a:xfrm>
            <a:off x="1803896" y="2718891"/>
            <a:ext cx="1065709" cy="375841"/>
          </a:xfrm>
          <a:prstGeom prst="roundRect">
            <a:avLst>
              <a:gd name="adj" fmla="val 20275"/>
            </a:avLst>
          </a:prstGeom>
          <a:solidFill>
            <a:srgbClr val="0D1120"/>
          </a:solidFill>
          <a:ln/>
        </p:spPr>
        <p:txBody>
          <a:bodyPr wrap="none" lIns="0" tIns="0" rIns="0" bIns="0" rtlCol="0" anchor="ctr">
            <a:normAutofit/>
          </a:bodyPr>
          <a:lstStyle/>
          <a:p>
            <a:pPr algn="ctr" indent="0" marL="0">
              <a:lnSpc>
                <a:spcPts val="1960"/>
              </a:lnSpc>
              <a:buNone/>
            </a:pPr>
            <a:r>
              <a:rPr lang="en-US" sz="1400" b="1" dirty="0">
                <a:solidFill>
                  <a:srgbClr val="F4F5FA"/>
                </a:solidFill>
                <a:latin typeface="IBM Plex Sans" pitchFamily="34" charset="0"/>
                <a:ea typeface="IBM Plex Sans" pitchFamily="34" charset="-122"/>
                <a:cs typeface="IBM Plex Sans" pitchFamily="34" charset="-120"/>
              </a:rPr>
              <a:t>10 APIs</a:t>
            </a:r>
            <a:endParaRPr lang="en-US" sz="1400" dirty="0"/>
          </a:p>
        </p:txBody>
      </p:sp>
      <p:pic>
        <p:nvPicPr>
          <p:cNvPr id="8" name="Image 1" descr="arrow-down">    </p:cNvPr>
          <p:cNvPicPr>
            <a:picLocks noChangeAspect="1"/>
          </p:cNvPicPr>
          <p:nvPr/>
        </p:nvPicPr>
        <p:blipFill>
          <a:blip r:embed="rId2"/>
          <a:srcRect l="0" r="0" t="0" b="0"/>
          <a:stretch/>
        </p:blipFill>
        <p:spPr>
          <a:xfrm>
            <a:off x="2247900" y="3158232"/>
            <a:ext cx="177800" cy="228600"/>
          </a:xfrm>
          <a:prstGeom prst="rect">
            <a:avLst/>
          </a:prstGeom>
        </p:spPr>
      </p:pic>
      <p:sp>
        <p:nvSpPr>
          <p:cNvPr id="9" name="Text 5"/>
          <p:cNvSpPr/>
          <p:nvPr/>
        </p:nvSpPr>
        <p:spPr>
          <a:xfrm>
            <a:off x="1877120" y="3450332"/>
            <a:ext cx="919262" cy="375841"/>
          </a:xfrm>
          <a:prstGeom prst="roundRect">
            <a:avLst>
              <a:gd name="adj" fmla="val 20275"/>
            </a:avLst>
          </a:prstGeom>
          <a:solidFill>
            <a:srgbClr val="FF3B1F"/>
          </a:solidFill>
          <a:ln/>
        </p:spPr>
        <p:txBody>
          <a:bodyPr wrap="none" lIns="0" tIns="0" rIns="0" bIns="0" rtlCol="0" anchor="ctr">
            <a:normAutofit/>
          </a:bodyPr>
          <a:lstStyle/>
          <a:p>
            <a:pPr algn="ctr" indent="0" marL="0">
              <a:lnSpc>
                <a:spcPts val="1960"/>
              </a:lnSpc>
              <a:buNone/>
            </a:pPr>
            <a:r>
              <a:rPr lang="en-US" sz="1400" b="1" dirty="0">
                <a:solidFill>
                  <a:srgbClr val="06070D"/>
                </a:solidFill>
                <a:latin typeface="IBM Plex Sans" pitchFamily="34" charset="0"/>
                <a:ea typeface="IBM Plex Sans" pitchFamily="34" charset="-122"/>
                <a:cs typeface="IBM Plex Sans" pitchFamily="34" charset="-120"/>
              </a:rPr>
              <a:t>Chaos</a:t>
            </a:r>
            <a:endParaRPr lang="en-US" sz="1400" dirty="0"/>
          </a:p>
        </p:txBody>
      </p:sp>
      <p:sp>
        <p:nvSpPr>
          <p:cNvPr id="10" name="Shape 6"/>
          <p:cNvSpPr/>
          <p:nvPr/>
        </p:nvSpPr>
        <p:spPr>
          <a:xfrm>
            <a:off x="4124325" y="1523305"/>
            <a:ext cx="7245350" cy="2490192"/>
          </a:xfrm>
          <a:prstGeom prst="roundRect">
            <a:avLst>
              <a:gd name="adj" fmla="val 4718"/>
            </a:avLst>
          </a:prstGeom>
          <a:solidFill>
            <a:srgbClr val="141A2E"/>
          </a:solidFill>
          <a:ln w="19050">
            <a:solidFill>
              <a:srgbClr val="3DDC97"/>
            </a:solidFill>
            <a:prstDash val="solid"/>
          </a:ln>
        </p:spPr>
      </p:sp>
      <p:sp>
        <p:nvSpPr>
          <p:cNvPr id="11" name="Text 7"/>
          <p:cNvSpPr/>
          <p:nvPr/>
        </p:nvSpPr>
        <p:spPr>
          <a:xfrm>
            <a:off x="4311650" y="1710630"/>
            <a:ext cx="707682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GOOD</a:t>
            </a:r>
            <a:endParaRPr lang="en-US" sz="1200" dirty="0"/>
          </a:p>
        </p:txBody>
      </p:sp>
      <p:sp>
        <p:nvSpPr>
          <p:cNvPr id="12" name="Text 8"/>
          <p:cNvSpPr/>
          <p:nvPr/>
        </p:nvSpPr>
        <p:spPr>
          <a:xfrm>
            <a:off x="4311650" y="2248991"/>
            <a:ext cx="1084560" cy="401241"/>
          </a:xfrm>
          <a:prstGeom prst="roundRect">
            <a:avLst>
              <a:gd name="adj" fmla="val 18991"/>
            </a:avLst>
          </a:prstGeom>
          <a:solidFill>
            <a:srgbClr val="0D1120"/>
          </a:solidFill>
          <a:ln/>
        </p:spPr>
        <p:txBody>
          <a:bodyPr wrap="square" lIns="41182" tIns="79282" rIns="41182" bIns="53882" rtlCol="0" anchor="t">
            <a:normAutofit/>
          </a:bodyPr>
          <a:lstStyle/>
          <a:p>
            <a:pPr algn="ctr" indent="0" marL="0">
              <a:lnSpc>
                <a:spcPts val="1560"/>
              </a:lnSpc>
              <a:buNone/>
            </a:pPr>
            <a:r>
              <a:rPr lang="en-US" sz="1300" b="1" dirty="0">
                <a:solidFill>
                  <a:srgbClr val="F4F5FA"/>
                </a:solidFill>
                <a:latin typeface="IBM Plex Sans" pitchFamily="34" charset="0"/>
                <a:ea typeface="IBM Plex Sans" pitchFamily="34" charset="-122"/>
                <a:cs typeface="IBM Plex Sans" pitchFamily="34" charset="-120"/>
              </a:rPr>
              <a:t>NASA API</a:t>
            </a:r>
            <a:endParaRPr lang="en-US" sz="1300" dirty="0"/>
          </a:p>
        </p:txBody>
      </p:sp>
      <p:pic>
        <p:nvPicPr>
          <p:cNvPr id="13" name="Image 2" descr="arrow-right">    </p:cNvPr>
          <p:cNvPicPr>
            <a:picLocks noChangeAspect="1"/>
          </p:cNvPicPr>
          <p:nvPr/>
        </p:nvPicPr>
        <p:blipFill>
          <a:blip r:embed="rId3"/>
          <a:srcRect l="0" r="0" t="0" b="0"/>
          <a:stretch/>
        </p:blipFill>
        <p:spPr>
          <a:xfrm>
            <a:off x="5472410" y="2386112"/>
            <a:ext cx="203200" cy="127000"/>
          </a:xfrm>
          <a:prstGeom prst="rect">
            <a:avLst/>
          </a:prstGeom>
        </p:spPr>
      </p:pic>
      <p:sp>
        <p:nvSpPr>
          <p:cNvPr id="14" name="Text 9"/>
          <p:cNvSpPr/>
          <p:nvPr/>
        </p:nvSpPr>
        <p:spPr>
          <a:xfrm>
            <a:off x="5751810" y="2248991"/>
            <a:ext cx="1084659" cy="401241"/>
          </a:xfrm>
          <a:prstGeom prst="roundRect">
            <a:avLst>
              <a:gd name="adj" fmla="val 18991"/>
            </a:avLst>
          </a:prstGeom>
          <a:solidFill>
            <a:srgbClr val="0D1120"/>
          </a:solidFill>
          <a:ln/>
        </p:spPr>
        <p:txBody>
          <a:bodyPr wrap="square" lIns="41182" tIns="79282" rIns="41182" bIns="53882" rtlCol="0" anchor="t">
            <a:normAutofit/>
          </a:bodyPr>
          <a:lstStyle/>
          <a:p>
            <a:pPr algn="ctr" indent="0" marL="0">
              <a:lnSpc>
                <a:spcPts val="1560"/>
              </a:lnSpc>
              <a:buNone/>
            </a:pPr>
            <a:r>
              <a:rPr lang="en-US" sz="1300" b="1" dirty="0">
                <a:solidFill>
                  <a:srgbClr val="F4F5FA"/>
                </a:solidFill>
                <a:latin typeface="IBM Plex Sans" pitchFamily="34" charset="0"/>
                <a:ea typeface="IBM Plex Sans" pitchFamily="34" charset="-122"/>
                <a:cs typeface="IBM Plex Sans" pitchFamily="34" charset="-120"/>
              </a:rPr>
              <a:t>Save data</a:t>
            </a:r>
            <a:endParaRPr lang="en-US" sz="1300" dirty="0"/>
          </a:p>
        </p:txBody>
      </p:sp>
      <p:pic>
        <p:nvPicPr>
          <p:cNvPr id="15" name="Image 3" descr="arrow-right">    </p:cNvPr>
          <p:cNvPicPr>
            <a:picLocks noChangeAspect="1"/>
          </p:cNvPicPr>
          <p:nvPr/>
        </p:nvPicPr>
        <p:blipFill>
          <a:blip r:embed="rId4"/>
          <a:srcRect l="0" r="0" t="0" b="0"/>
          <a:stretch/>
        </p:blipFill>
        <p:spPr>
          <a:xfrm>
            <a:off x="6912670" y="2386112"/>
            <a:ext cx="203200" cy="127000"/>
          </a:xfrm>
          <a:prstGeom prst="rect">
            <a:avLst/>
          </a:prstGeom>
        </p:spPr>
      </p:pic>
      <p:sp>
        <p:nvSpPr>
          <p:cNvPr id="16" name="Text 10"/>
          <p:cNvSpPr/>
          <p:nvPr/>
        </p:nvSpPr>
        <p:spPr>
          <a:xfrm>
            <a:off x="7192070" y="2248991"/>
            <a:ext cx="1084560" cy="401241"/>
          </a:xfrm>
          <a:prstGeom prst="roundRect">
            <a:avLst>
              <a:gd name="adj" fmla="val 18991"/>
            </a:avLst>
          </a:prstGeom>
          <a:solidFill>
            <a:srgbClr val="0D1120"/>
          </a:solidFill>
          <a:ln/>
        </p:spPr>
        <p:txBody>
          <a:bodyPr wrap="square" lIns="41182" tIns="79282" rIns="41182" bIns="53882" rtlCol="0" anchor="t">
            <a:normAutofit/>
          </a:bodyPr>
          <a:lstStyle/>
          <a:p>
            <a:pPr algn="ctr" indent="0" marL="0">
              <a:lnSpc>
                <a:spcPts val="1560"/>
              </a:lnSpc>
              <a:buNone/>
            </a:pPr>
            <a:r>
              <a:rPr lang="en-US" sz="1300" b="1" dirty="0">
                <a:solidFill>
                  <a:srgbClr val="F4F5FA"/>
                </a:solidFill>
                <a:latin typeface="IBM Plex Sans" pitchFamily="34" charset="0"/>
                <a:ea typeface="IBM Plex Sans" pitchFamily="34" charset="-122"/>
                <a:cs typeface="IBM Plex Sans" pitchFamily="34" charset="-120"/>
              </a:rPr>
              <a:t>Clean data</a:t>
            </a:r>
            <a:endParaRPr lang="en-US" sz="1300" dirty="0"/>
          </a:p>
        </p:txBody>
      </p:sp>
      <p:pic>
        <p:nvPicPr>
          <p:cNvPr id="17" name="Image 4" descr="arrow-right">    </p:cNvPr>
          <p:cNvPicPr>
            <a:picLocks noChangeAspect="1"/>
          </p:cNvPicPr>
          <p:nvPr/>
        </p:nvPicPr>
        <p:blipFill>
          <a:blip r:embed="rId5"/>
          <a:srcRect l="0" r="0" t="0" b="0"/>
          <a:stretch/>
        </p:blipFill>
        <p:spPr>
          <a:xfrm>
            <a:off x="8352830" y="2386112"/>
            <a:ext cx="203200" cy="127000"/>
          </a:xfrm>
          <a:prstGeom prst="rect">
            <a:avLst/>
          </a:prstGeom>
        </p:spPr>
      </p:pic>
      <p:sp>
        <p:nvSpPr>
          <p:cNvPr id="18" name="Text 11"/>
          <p:cNvSpPr/>
          <p:nvPr/>
        </p:nvSpPr>
        <p:spPr>
          <a:xfrm>
            <a:off x="8632230" y="2248991"/>
            <a:ext cx="1084560" cy="401241"/>
          </a:xfrm>
          <a:prstGeom prst="roundRect">
            <a:avLst>
              <a:gd name="adj" fmla="val 18991"/>
            </a:avLst>
          </a:prstGeom>
          <a:solidFill>
            <a:srgbClr val="3DDC97"/>
          </a:solidFill>
          <a:ln/>
        </p:spPr>
        <p:txBody>
          <a:bodyPr wrap="square" lIns="41182" tIns="79282" rIns="41182" bIns="53882" rtlCol="0" anchor="t">
            <a:normAutofit/>
          </a:bodyPr>
          <a:lstStyle/>
          <a:p>
            <a:pPr algn="ctr" indent="0" marL="0">
              <a:lnSpc>
                <a:spcPts val="1560"/>
              </a:lnSpc>
              <a:buNone/>
            </a:pPr>
            <a:r>
              <a:rPr lang="en-US" sz="1300" b="1" dirty="0">
                <a:solidFill>
                  <a:srgbClr val="06070D"/>
                </a:solidFill>
                <a:latin typeface="IBM Plex Sans" pitchFamily="34" charset="0"/>
                <a:ea typeface="IBM Plex Sans" pitchFamily="34" charset="-122"/>
                <a:cs typeface="IBM Plex Sans" pitchFamily="34" charset="-120"/>
              </a:rPr>
              <a:t>Feature</a:t>
            </a:r>
            <a:endParaRPr lang="en-US" sz="1300" dirty="0"/>
          </a:p>
        </p:txBody>
      </p:sp>
      <p:pic>
        <p:nvPicPr>
          <p:cNvPr id="19" name="Image 5" descr="arrow-right">    </p:cNvPr>
          <p:cNvPicPr>
            <a:picLocks noChangeAspect="1"/>
          </p:cNvPicPr>
          <p:nvPr/>
        </p:nvPicPr>
        <p:blipFill>
          <a:blip r:embed="rId6"/>
          <a:srcRect l="0" r="0" t="0" b="0"/>
          <a:stretch/>
        </p:blipFill>
        <p:spPr>
          <a:xfrm>
            <a:off x="9792990" y="2386112"/>
            <a:ext cx="203200" cy="127000"/>
          </a:xfrm>
          <a:prstGeom prst="rect">
            <a:avLst/>
          </a:prstGeom>
        </p:spPr>
      </p:pic>
      <p:sp>
        <p:nvSpPr>
          <p:cNvPr id="20" name="Text 12"/>
          <p:cNvSpPr/>
          <p:nvPr/>
        </p:nvSpPr>
        <p:spPr>
          <a:xfrm>
            <a:off x="10078740" y="2057301"/>
            <a:ext cx="1097260" cy="784622"/>
          </a:xfrm>
          <a:prstGeom prst="roundRect">
            <a:avLst>
              <a:gd name="adj" fmla="val 8902"/>
            </a:avLst>
          </a:prstGeom>
          <a:solidFill>
            <a:srgbClr val="0D1120"/>
          </a:solidFill>
          <a:ln w="12700">
            <a:solidFill>
              <a:srgbClr val="FFB347"/>
            </a:solidFill>
            <a:prstDash val="dash"/>
          </a:ln>
        </p:spPr>
        <p:txBody>
          <a:bodyPr wrap="square" lIns="49392" tIns="74792" rIns="49392" bIns="49392" rtlCol="0" anchor="t">
            <a:normAutofit/>
          </a:bodyPr>
          <a:lstStyle/>
          <a:p>
            <a:pPr algn="ctr" indent="0" marL="0">
              <a:lnSpc>
                <a:spcPts val="1560"/>
              </a:lnSpc>
              <a:buNone/>
            </a:pPr>
            <a:r>
              <a:rPr lang="en-US" sz="1300" b="1" dirty="0">
                <a:solidFill>
                  <a:srgbClr val="FFB347"/>
                </a:solidFill>
                <a:latin typeface="IBM Plex Sans" pitchFamily="34" charset="0"/>
                <a:ea typeface="IBM Plex Sans" pitchFamily="34" charset="-122"/>
                <a:cs typeface="IBM Plex Sans" pitchFamily="34" charset="-120"/>
              </a:rPr>
              <a:t>Second source later</a:t>
            </a:r>
            <a:endParaRPr lang="en-US" sz="1300" dirty="0"/>
          </a:p>
        </p:txBody>
      </p:sp>
      <p:sp>
        <p:nvSpPr>
          <p:cNvPr id="21" name="Text 13"/>
          <p:cNvSpPr/>
          <p:nvPr/>
        </p:nvSpPr>
        <p:spPr>
          <a:xfrm>
            <a:off x="4311650" y="2975273"/>
            <a:ext cx="707682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Get one source working end to end first. Add the second source only when the first feature runs on saved data.</a:t>
            </a:r>
            <a:endParaRPr lang="en-US" sz="1300" dirty="0"/>
          </a:p>
        </p:txBody>
      </p:sp>
      <p:sp>
        <p:nvSpPr>
          <p:cNvPr id="22" name="Text 14"/>
          <p:cNvSpPr/>
          <p:nvPr/>
        </p:nvSpPr>
        <p:spPr>
          <a:xfrm>
            <a:off x="812800" y="42770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3B1F"/>
                </a:solidFill>
                <a:latin typeface="IBM Plex Sans" pitchFamily="34" charset="0"/>
                <a:ea typeface="IBM Plex Sans" pitchFamily="34" charset="-122"/>
                <a:cs typeface="IBM Plex Sans" pitchFamily="34" charset="-120"/>
              </a:rPr>
              <a:t>COMMON MISTAKES</a:t>
            </a:r>
            <a:endParaRPr lang="en-US" sz="1200" dirty="0"/>
          </a:p>
        </p:txBody>
      </p:sp>
      <p:sp>
        <p:nvSpPr>
          <p:cNvPr id="23" name="Text 15"/>
          <p:cNvSpPr/>
          <p:nvPr/>
        </p:nvSpPr>
        <p:spPr>
          <a:xfrm>
            <a:off x="819150" y="4585593"/>
            <a:ext cx="1688902" cy="345380"/>
          </a:xfrm>
          <a:prstGeom prst="roundRect">
            <a:avLst>
              <a:gd name="adj" fmla="val 50000"/>
            </a:avLst>
          </a:prstGeom>
          <a:noFill/>
          <a:ln w="12700">
            <a:solidFill>
              <a:srgbClr val="FF3B1F"/>
            </a:solidFill>
            <a:prstDash val="solid"/>
          </a:ln>
        </p:spPr>
        <p:txBody>
          <a:bodyPr wrap="none" lIns="0" tIns="0" rIns="0" bIns="0" rtlCol="0" anchor="ctr">
            <a:normAutofit/>
          </a:bodyPr>
          <a:lstStyle/>
          <a:p>
            <a:pPr algn="ct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Many APIs at once</a:t>
            </a:r>
            <a:endParaRPr lang="en-US" sz="1300" dirty="0"/>
          </a:p>
        </p:txBody>
      </p:sp>
      <p:sp>
        <p:nvSpPr>
          <p:cNvPr id="24" name="Text 16"/>
          <p:cNvSpPr/>
          <p:nvPr/>
        </p:nvSpPr>
        <p:spPr>
          <a:xfrm>
            <a:off x="2609652" y="4585593"/>
            <a:ext cx="2591495" cy="345380"/>
          </a:xfrm>
          <a:prstGeom prst="roundRect">
            <a:avLst>
              <a:gd name="adj" fmla="val 50000"/>
            </a:avLst>
          </a:prstGeom>
          <a:noFill/>
          <a:ln w="12700">
            <a:solidFill>
              <a:srgbClr val="FF3B1F"/>
            </a:solidFill>
            <a:prstDash val="solid"/>
          </a:ln>
        </p:spPr>
        <p:txBody>
          <a:bodyPr wrap="none" lIns="0" tIns="0" rIns="0" bIns="0" rtlCol="0" anchor="ctr">
            <a:normAutofit/>
          </a:bodyPr>
          <a:lstStyle/>
          <a:p>
            <a:pPr algn="ct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Your own backend or database</a:t>
            </a:r>
            <a:endParaRPr lang="en-US" sz="1300" dirty="0"/>
          </a:p>
        </p:txBody>
      </p:sp>
      <p:sp>
        <p:nvSpPr>
          <p:cNvPr id="25" name="Text 17"/>
          <p:cNvSpPr/>
          <p:nvPr/>
        </p:nvSpPr>
        <p:spPr>
          <a:xfrm>
            <a:off x="5302746" y="4585593"/>
            <a:ext cx="1553468" cy="345380"/>
          </a:xfrm>
          <a:prstGeom prst="roundRect">
            <a:avLst>
              <a:gd name="adj" fmla="val 50000"/>
            </a:avLst>
          </a:prstGeom>
          <a:noFill/>
          <a:ln w="12700">
            <a:solidFill>
              <a:srgbClr val="FF3B1F"/>
            </a:solidFill>
            <a:prstDash val="solid"/>
          </a:ln>
        </p:spPr>
        <p:txBody>
          <a:bodyPr wrap="none" lIns="0" tIns="0" rIns="0" bIns="0" rtlCol="0" anchor="ctr">
            <a:normAutofit/>
          </a:bodyPr>
          <a:lstStyle/>
          <a:p>
            <a:pPr algn="ct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Huge downloads</a:t>
            </a:r>
            <a:endParaRPr lang="en-US" sz="1300" dirty="0"/>
          </a:p>
        </p:txBody>
      </p:sp>
      <p:sp>
        <p:nvSpPr>
          <p:cNvPr id="26" name="Text 18"/>
          <p:cNvSpPr/>
          <p:nvPr/>
        </p:nvSpPr>
        <p:spPr>
          <a:xfrm>
            <a:off x="6957814" y="4585593"/>
            <a:ext cx="2153146" cy="345380"/>
          </a:xfrm>
          <a:prstGeom prst="roundRect">
            <a:avLst>
              <a:gd name="adj" fmla="val 50000"/>
            </a:avLst>
          </a:prstGeom>
          <a:noFill/>
          <a:ln w="12700">
            <a:solidFill>
              <a:srgbClr val="FF3B1F"/>
            </a:solidFill>
            <a:prstDash val="solid"/>
          </a:ln>
        </p:spPr>
        <p:txBody>
          <a:bodyPr wrap="none" lIns="0" tIns="0" rIns="0" bIns="0" rtlCol="0" anchor="ctr">
            <a:normAutofit/>
          </a:bodyPr>
          <a:lstStyle/>
          <a:p>
            <a:pPr algn="ctr" indent="0" marL="0">
              <a:lnSpc>
                <a:spcPts val="1820"/>
              </a:lnSpc>
              <a:buNone/>
            </a:pPr>
            <a:r>
              <a:rPr lang="en-US" sz="1300" dirty="0">
                <a:solidFill>
                  <a:srgbClr val="F4F5FA"/>
                </a:solidFill>
                <a:latin typeface="IBM Plex Sans" pitchFamily="34" charset="0"/>
                <a:ea typeface="IBM Plex Sans" pitchFamily="34" charset="-122"/>
                <a:cs typeface="IBM Plex Sans" pitchFamily="34" charset="-120"/>
              </a:rPr>
              <a:t>A “perfect” data pipeline</a:t>
            </a:r>
            <a:endParaRPr lang="en-US" sz="1300" dirty="0"/>
          </a:p>
        </p:txBody>
      </p:sp>
      <p:pic>
        <p:nvPicPr>
          <p:cNvPr id="27" name="Image 6" descr="NASA Space Apps Cairo logo">    </p:cNvPr>
          <p:cNvPicPr>
            <a:picLocks noChangeAspect="1"/>
          </p:cNvPicPr>
          <p:nvPr/>
        </p:nvPicPr>
        <p:blipFill>
          <a:blip r:embed="rId7"/>
          <a:srcRect l="-70" r="-70" t="0" b="0"/>
          <a:stretch/>
        </p:blipFill>
        <p:spPr>
          <a:xfrm>
            <a:off x="812800" y="6146800"/>
            <a:ext cx="908050" cy="355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Code-along: from the docs to a feature</a:t>
            </a:r>
            <a:endParaRPr lang="en-US" sz="3200" dirty="0"/>
          </a:p>
        </p:txBody>
      </p:sp>
      <p:sp>
        <p:nvSpPr>
          <p:cNvPr id="3" name="Text 1"/>
          <p:cNvSpPr/>
          <p:nvPr/>
        </p:nvSpPr>
        <p:spPr>
          <a:xfrm>
            <a:off x="812800" y="15137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01</a:t>
            </a:r>
            <a:endParaRPr lang="en-US" sz="1400" dirty="0"/>
          </a:p>
        </p:txBody>
      </p:sp>
      <p:sp>
        <p:nvSpPr>
          <p:cNvPr id="4" name="Text 2"/>
          <p:cNvSpPr/>
          <p:nvPr/>
        </p:nvSpPr>
        <p:spPr>
          <a:xfrm>
            <a:off x="1206500" y="15137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Need</a:t>
            </a:r>
            <a:endParaRPr lang="en-US" sz="1500" dirty="0"/>
          </a:p>
        </p:txBody>
      </p:sp>
      <p:sp>
        <p:nvSpPr>
          <p:cNvPr id="5" name="Text 3"/>
          <p:cNvSpPr/>
          <p:nvPr/>
        </p:nvSpPr>
        <p:spPr>
          <a:xfrm>
            <a:off x="812800" y="18820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02</a:t>
            </a:r>
            <a:endParaRPr lang="en-US" sz="1400" dirty="0"/>
          </a:p>
        </p:txBody>
      </p:sp>
      <p:sp>
        <p:nvSpPr>
          <p:cNvPr id="6" name="Text 4"/>
          <p:cNvSpPr/>
          <p:nvPr/>
        </p:nvSpPr>
        <p:spPr>
          <a:xfrm>
            <a:off x="1206500" y="18820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Find the API</a:t>
            </a:r>
            <a:endParaRPr lang="en-US" sz="1500" dirty="0"/>
          </a:p>
        </p:txBody>
      </p:sp>
      <p:sp>
        <p:nvSpPr>
          <p:cNvPr id="7" name="Text 5"/>
          <p:cNvSpPr/>
          <p:nvPr/>
        </p:nvSpPr>
        <p:spPr>
          <a:xfrm>
            <a:off x="812800" y="22503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03</a:t>
            </a:r>
            <a:endParaRPr lang="en-US" sz="1400" dirty="0"/>
          </a:p>
        </p:txBody>
      </p:sp>
      <p:sp>
        <p:nvSpPr>
          <p:cNvPr id="8" name="Text 6"/>
          <p:cNvSpPr/>
          <p:nvPr/>
        </p:nvSpPr>
        <p:spPr>
          <a:xfrm>
            <a:off x="1206500" y="22503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Read the docs</a:t>
            </a:r>
            <a:endParaRPr lang="en-US" sz="1500" dirty="0"/>
          </a:p>
        </p:txBody>
      </p:sp>
      <p:sp>
        <p:nvSpPr>
          <p:cNvPr id="9" name="Text 7"/>
          <p:cNvSpPr/>
          <p:nvPr/>
        </p:nvSpPr>
        <p:spPr>
          <a:xfrm>
            <a:off x="812800" y="26186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04</a:t>
            </a:r>
            <a:endParaRPr lang="en-US" sz="1400" dirty="0"/>
          </a:p>
        </p:txBody>
      </p:sp>
      <p:sp>
        <p:nvSpPr>
          <p:cNvPr id="10" name="Text 8"/>
          <p:cNvSpPr/>
          <p:nvPr/>
        </p:nvSpPr>
        <p:spPr>
          <a:xfrm>
            <a:off x="1206500" y="26186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Test the URL in the browser</a:t>
            </a:r>
            <a:endParaRPr lang="en-US" sz="1500" dirty="0"/>
          </a:p>
        </p:txBody>
      </p:sp>
      <p:sp>
        <p:nvSpPr>
          <p:cNvPr id="11" name="Text 9"/>
          <p:cNvSpPr/>
          <p:nvPr/>
        </p:nvSpPr>
        <p:spPr>
          <a:xfrm>
            <a:off x="812800" y="29869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05</a:t>
            </a:r>
            <a:endParaRPr lang="en-US" sz="1400" dirty="0"/>
          </a:p>
        </p:txBody>
      </p:sp>
      <p:sp>
        <p:nvSpPr>
          <p:cNvPr id="12" name="Text 10"/>
          <p:cNvSpPr/>
          <p:nvPr/>
        </p:nvSpPr>
        <p:spPr>
          <a:xfrm>
            <a:off x="1206500" y="29869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Code the call</a:t>
            </a:r>
            <a:endParaRPr lang="en-US" sz="1500" dirty="0"/>
          </a:p>
        </p:txBody>
      </p:sp>
      <p:sp>
        <p:nvSpPr>
          <p:cNvPr id="13" name="Text 11"/>
          <p:cNvSpPr/>
          <p:nvPr/>
        </p:nvSpPr>
        <p:spPr>
          <a:xfrm>
            <a:off x="812800" y="33552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06</a:t>
            </a:r>
            <a:endParaRPr lang="en-US" sz="1400" dirty="0"/>
          </a:p>
        </p:txBody>
      </p:sp>
      <p:sp>
        <p:nvSpPr>
          <p:cNvPr id="14" name="Text 12"/>
          <p:cNvSpPr/>
          <p:nvPr/>
        </p:nvSpPr>
        <p:spPr>
          <a:xfrm>
            <a:off x="1206500" y="33552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Inspect the JSON</a:t>
            </a:r>
            <a:endParaRPr lang="en-US" sz="1500" dirty="0"/>
          </a:p>
        </p:txBody>
      </p:sp>
      <p:sp>
        <p:nvSpPr>
          <p:cNvPr id="15" name="Text 13"/>
          <p:cNvSpPr/>
          <p:nvPr/>
        </p:nvSpPr>
        <p:spPr>
          <a:xfrm>
            <a:off x="4470400" y="15137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07</a:t>
            </a:r>
            <a:endParaRPr lang="en-US" sz="1400" dirty="0"/>
          </a:p>
        </p:txBody>
      </p:sp>
      <p:sp>
        <p:nvSpPr>
          <p:cNvPr id="16" name="Text 14"/>
          <p:cNvSpPr/>
          <p:nvPr/>
        </p:nvSpPr>
        <p:spPr>
          <a:xfrm>
            <a:off x="4864100" y="15137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Pick the fields</a:t>
            </a:r>
            <a:endParaRPr lang="en-US" sz="1500" dirty="0"/>
          </a:p>
        </p:txBody>
      </p:sp>
      <p:sp>
        <p:nvSpPr>
          <p:cNvPr id="17" name="Text 15"/>
          <p:cNvSpPr/>
          <p:nvPr/>
        </p:nvSpPr>
        <p:spPr>
          <a:xfrm>
            <a:off x="4470400" y="18820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08</a:t>
            </a:r>
            <a:endParaRPr lang="en-US" sz="1400" dirty="0"/>
          </a:p>
        </p:txBody>
      </p:sp>
      <p:sp>
        <p:nvSpPr>
          <p:cNvPr id="18" name="Text 16"/>
          <p:cNvSpPr/>
          <p:nvPr/>
        </p:nvSpPr>
        <p:spPr>
          <a:xfrm>
            <a:off x="4864100" y="18820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Clean</a:t>
            </a:r>
            <a:endParaRPr lang="en-US" sz="1500" dirty="0"/>
          </a:p>
        </p:txBody>
      </p:sp>
      <p:sp>
        <p:nvSpPr>
          <p:cNvPr id="19" name="Text 17"/>
          <p:cNvSpPr/>
          <p:nvPr/>
        </p:nvSpPr>
        <p:spPr>
          <a:xfrm>
            <a:off x="4470400" y="22503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09</a:t>
            </a:r>
            <a:endParaRPr lang="en-US" sz="1400" dirty="0"/>
          </a:p>
        </p:txBody>
      </p:sp>
      <p:sp>
        <p:nvSpPr>
          <p:cNvPr id="20" name="Text 18"/>
          <p:cNvSpPr/>
          <p:nvPr/>
        </p:nvSpPr>
        <p:spPr>
          <a:xfrm>
            <a:off x="4864100" y="22503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Save a backup</a:t>
            </a:r>
            <a:endParaRPr lang="en-US" sz="1500" dirty="0"/>
          </a:p>
        </p:txBody>
      </p:sp>
      <p:sp>
        <p:nvSpPr>
          <p:cNvPr id="21" name="Text 19"/>
          <p:cNvSpPr/>
          <p:nvPr/>
        </p:nvSpPr>
        <p:spPr>
          <a:xfrm>
            <a:off x="4470400" y="26186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A3B8"/>
                </a:solidFill>
                <a:latin typeface="JetBrains Mono" pitchFamily="49" charset="0"/>
                <a:ea typeface="JetBrains Mono" pitchFamily="49" charset="-122"/>
                <a:cs typeface="JetBrains Mono" pitchFamily="49" charset="-120"/>
              </a:rPr>
              <a:t>10</a:t>
            </a:r>
            <a:endParaRPr lang="en-US" sz="1400" dirty="0"/>
          </a:p>
        </p:txBody>
      </p:sp>
      <p:sp>
        <p:nvSpPr>
          <p:cNvPr id="22" name="Text 20"/>
          <p:cNvSpPr/>
          <p:nvPr/>
        </p:nvSpPr>
        <p:spPr>
          <a:xfrm>
            <a:off x="4864100" y="26186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5FA"/>
                </a:solidFill>
                <a:latin typeface="IBM Plex Sans" pitchFamily="34" charset="0"/>
                <a:ea typeface="IBM Plex Sans" pitchFamily="34" charset="-122"/>
                <a:cs typeface="IBM Plex Sans" pitchFamily="34" charset="-120"/>
              </a:rPr>
              <a:t>Build the feature</a:t>
            </a:r>
            <a:endParaRPr lang="en-US" sz="1500" dirty="0"/>
          </a:p>
        </p:txBody>
      </p:sp>
      <p:sp>
        <p:nvSpPr>
          <p:cNvPr id="23" name="Text 21"/>
          <p:cNvSpPr/>
          <p:nvPr/>
        </p:nvSpPr>
        <p:spPr>
          <a:xfrm>
            <a:off x="4470400" y="2986980"/>
            <a:ext cx="355600" cy="2921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3B1F"/>
                </a:solidFill>
                <a:latin typeface="JetBrains Mono" pitchFamily="49" charset="0"/>
                <a:ea typeface="JetBrains Mono" pitchFamily="49" charset="-122"/>
                <a:cs typeface="JetBrains Mono" pitchFamily="49" charset="-120"/>
              </a:rPr>
              <a:t>11</a:t>
            </a:r>
            <a:endParaRPr lang="en-US" sz="1400" dirty="0"/>
          </a:p>
        </p:txBody>
      </p:sp>
      <p:sp>
        <p:nvSpPr>
          <p:cNvPr id="24" name="Text 22"/>
          <p:cNvSpPr/>
          <p:nvPr/>
        </p:nvSpPr>
        <p:spPr>
          <a:xfrm>
            <a:off x="4864100" y="2986980"/>
            <a:ext cx="315252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3B1F"/>
                </a:solidFill>
                <a:latin typeface="IBM Plex Sans" pitchFamily="34" charset="0"/>
                <a:ea typeface="IBM Plex Sans" pitchFamily="34" charset="-122"/>
                <a:cs typeface="IBM Plex Sans" pitchFamily="34" charset="-120"/>
              </a:rPr>
              <a:t>Handle errors</a:t>
            </a:r>
            <a:endParaRPr lang="en-US" sz="1500" dirty="0"/>
          </a:p>
        </p:txBody>
      </p:sp>
      <p:sp>
        <p:nvSpPr>
          <p:cNvPr id="25" name="Text 23"/>
          <p:cNvSpPr/>
          <p:nvPr/>
        </p:nvSpPr>
        <p:spPr>
          <a:xfrm>
            <a:off x="4470400" y="3355280"/>
            <a:ext cx="35580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8"/>
                </a:solidFill>
                <a:latin typeface="IBM Plex Sans" pitchFamily="34" charset="0"/>
                <a:ea typeface="IBM Plex Sans" pitchFamily="34" charset="-122"/>
                <a:cs typeface="IBM Plex Sans" pitchFamily="34" charset="-120"/>
              </a:rPr>
              <a:t>wrong key on purpose → message → saved copy</a:t>
            </a:r>
            <a:endParaRPr lang="en-US" sz="1200" dirty="0"/>
          </a:p>
        </p:txBody>
      </p:sp>
      <p:sp>
        <p:nvSpPr>
          <p:cNvPr id="26" name="Shape 24"/>
          <p:cNvSpPr/>
          <p:nvPr/>
        </p:nvSpPr>
        <p:spPr>
          <a:xfrm>
            <a:off x="812800" y="3825180"/>
            <a:ext cx="2286000" cy="759420"/>
          </a:xfrm>
          <a:prstGeom prst="roundRect">
            <a:avLst>
              <a:gd name="adj" fmla="val 13379"/>
            </a:avLst>
          </a:prstGeom>
          <a:solidFill>
            <a:srgbClr val="141A2E"/>
          </a:solidFill>
          <a:ln/>
        </p:spPr>
        <p:txBody>
          <a:bodyPr/>
          <a:p/>
        </p:txBody>
      </p:sp>
      <p:sp>
        <p:nvSpPr>
          <p:cNvPr id="27" name="Text 25"/>
          <p:cNvSpPr/>
          <p:nvPr/>
        </p:nvSpPr>
        <p:spPr>
          <a:xfrm>
            <a:off x="965200" y="395218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3B1F"/>
                </a:solidFill>
                <a:latin typeface="JetBrains Mono" pitchFamily="49" charset="0"/>
                <a:ea typeface="JetBrains Mono" pitchFamily="49" charset="-122"/>
                <a:cs typeface="JetBrains Mono" pitchFamily="49" charset="-120"/>
              </a:rPr>
              <a:t>MIN 85</a:t>
            </a:r>
            <a:endParaRPr lang="en-US" sz="1200" dirty="0"/>
          </a:p>
        </p:txBody>
      </p:sp>
      <p:sp>
        <p:nvSpPr>
          <p:cNvPr id="28" name="Text 26"/>
          <p:cNvSpPr/>
          <p:nvPr/>
        </p:nvSpPr>
        <p:spPr>
          <a:xfrm>
            <a:off x="965200" y="4190901"/>
            <a:ext cx="20406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200 OK</a:t>
            </a:r>
            <a:endParaRPr lang="en-US" sz="1500" dirty="0"/>
          </a:p>
        </p:txBody>
      </p:sp>
      <p:sp>
        <p:nvSpPr>
          <p:cNvPr id="29" name="Shape 27"/>
          <p:cNvSpPr/>
          <p:nvPr/>
        </p:nvSpPr>
        <p:spPr>
          <a:xfrm>
            <a:off x="3225800" y="3825180"/>
            <a:ext cx="2286000" cy="759420"/>
          </a:xfrm>
          <a:prstGeom prst="roundRect">
            <a:avLst>
              <a:gd name="adj" fmla="val 13379"/>
            </a:avLst>
          </a:prstGeom>
          <a:solidFill>
            <a:srgbClr val="141A2E"/>
          </a:solidFill>
          <a:ln/>
        </p:spPr>
        <p:txBody>
          <a:bodyPr/>
          <a:p/>
        </p:txBody>
      </p:sp>
      <p:sp>
        <p:nvSpPr>
          <p:cNvPr id="30" name="Text 28"/>
          <p:cNvSpPr/>
          <p:nvPr/>
        </p:nvSpPr>
        <p:spPr>
          <a:xfrm>
            <a:off x="3378200" y="395218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3B1F"/>
                </a:solidFill>
                <a:latin typeface="JetBrains Mono" pitchFamily="49" charset="0"/>
                <a:ea typeface="JetBrains Mono" pitchFamily="49" charset="-122"/>
                <a:cs typeface="JetBrains Mono" pitchFamily="49" charset="-120"/>
              </a:rPr>
              <a:t>MIN 95</a:t>
            </a:r>
            <a:endParaRPr lang="en-US" sz="1200" dirty="0"/>
          </a:p>
        </p:txBody>
      </p:sp>
      <p:sp>
        <p:nvSpPr>
          <p:cNvPr id="31" name="Text 29"/>
          <p:cNvSpPr/>
          <p:nvPr/>
        </p:nvSpPr>
        <p:spPr>
          <a:xfrm>
            <a:off x="3378200" y="4190901"/>
            <a:ext cx="20406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clean table</a:t>
            </a:r>
            <a:endParaRPr lang="en-US" sz="1500" dirty="0"/>
          </a:p>
        </p:txBody>
      </p:sp>
      <p:sp>
        <p:nvSpPr>
          <p:cNvPr id="32" name="Shape 30"/>
          <p:cNvSpPr/>
          <p:nvPr/>
        </p:nvSpPr>
        <p:spPr>
          <a:xfrm>
            <a:off x="5638800" y="3825180"/>
            <a:ext cx="2286000" cy="759420"/>
          </a:xfrm>
          <a:prstGeom prst="roundRect">
            <a:avLst>
              <a:gd name="adj" fmla="val 13379"/>
            </a:avLst>
          </a:prstGeom>
          <a:solidFill>
            <a:srgbClr val="141A2E"/>
          </a:solidFill>
          <a:ln/>
        </p:spPr>
        <p:txBody>
          <a:bodyPr/>
          <a:p/>
        </p:txBody>
      </p:sp>
      <p:sp>
        <p:nvSpPr>
          <p:cNvPr id="33" name="Text 31"/>
          <p:cNvSpPr/>
          <p:nvPr/>
        </p:nvSpPr>
        <p:spPr>
          <a:xfrm>
            <a:off x="5791200" y="395218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3B1F"/>
                </a:solidFill>
                <a:latin typeface="JetBrains Mono" pitchFamily="49" charset="0"/>
                <a:ea typeface="JetBrains Mono" pitchFamily="49" charset="-122"/>
                <a:cs typeface="JetBrains Mono" pitchFamily="49" charset="-120"/>
              </a:rPr>
              <a:t>MIN 108</a:t>
            </a:r>
            <a:endParaRPr lang="en-US" sz="1200" dirty="0"/>
          </a:p>
        </p:txBody>
      </p:sp>
      <p:sp>
        <p:nvSpPr>
          <p:cNvPr id="34" name="Text 32"/>
          <p:cNvSpPr/>
          <p:nvPr/>
        </p:nvSpPr>
        <p:spPr>
          <a:xfrm>
            <a:off x="5791200" y="4190901"/>
            <a:ext cx="20406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5FA"/>
                </a:solidFill>
                <a:latin typeface="IBM Plex Sans" pitchFamily="34" charset="0"/>
                <a:ea typeface="IBM Plex Sans" pitchFamily="34" charset="-122"/>
                <a:cs typeface="IBM Plex Sans" pitchFamily="34" charset="-120"/>
              </a:rPr>
              <a:t>feature + saved file</a:t>
            </a:r>
            <a:endParaRPr lang="en-US" sz="1500" dirty="0"/>
          </a:p>
        </p:txBody>
      </p:sp>
      <p:sp>
        <p:nvSpPr>
          <p:cNvPr id="35" name="Shape 33"/>
          <p:cNvSpPr/>
          <p:nvPr/>
        </p:nvSpPr>
        <p:spPr>
          <a:xfrm>
            <a:off x="8229600" y="1513780"/>
            <a:ext cx="3149600" cy="3070820"/>
          </a:xfrm>
          <a:prstGeom prst="roundRect">
            <a:avLst>
              <a:gd name="adj" fmla="val 4136"/>
            </a:avLst>
          </a:prstGeom>
          <a:solidFill>
            <a:srgbClr val="141A2E"/>
          </a:solidFill>
          <a:ln/>
        </p:spPr>
        <p:txBody>
          <a:bodyPr/>
          <a:p/>
        </p:txBody>
      </p:sp>
      <p:pic>
        <p:nvPicPr>
          <p:cNvPr id="36" name="Image 0" descr="Code">    </p:cNvPr>
          <p:cNvPicPr>
            <a:picLocks noChangeAspect="1"/>
          </p:cNvPicPr>
          <p:nvPr/>
        </p:nvPicPr>
        <p:blipFill>
          <a:blip r:embed="rId1"/>
          <a:srcRect l="0" r="0" t="0" b="0"/>
          <a:stretch/>
        </p:blipFill>
        <p:spPr>
          <a:xfrm>
            <a:off x="8458200" y="1742380"/>
            <a:ext cx="355600" cy="355600"/>
          </a:xfrm>
          <a:prstGeom prst="rect">
            <a:avLst/>
          </a:prstGeom>
        </p:spPr>
      </p:pic>
      <p:sp>
        <p:nvSpPr>
          <p:cNvPr id="37" name="Text 34"/>
          <p:cNvSpPr/>
          <p:nvPr/>
        </p:nvSpPr>
        <p:spPr>
          <a:xfrm>
            <a:off x="8458200" y="2199580"/>
            <a:ext cx="2773172"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5FA"/>
                </a:solidFill>
                <a:latin typeface="Space Grotesk" pitchFamily="34" charset="0"/>
                <a:ea typeface="Space Grotesk" pitchFamily="34" charset="-122"/>
                <a:cs typeface="Space Grotesk" pitchFamily="34" charset="-120"/>
              </a:rPr>
              <a:t>Open the notebook in Colab</a:t>
            </a:r>
            <a:endParaRPr lang="en-US" sz="1800" dirty="0"/>
          </a:p>
        </p:txBody>
      </p:sp>
      <p:sp>
        <p:nvSpPr>
          <p:cNvPr id="38" name="Text 35"/>
          <p:cNvSpPr/>
          <p:nvPr/>
        </p:nvSpPr>
        <p:spPr>
          <a:xfrm>
            <a:off x="8458200" y="2849662"/>
            <a:ext cx="27731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8"/>
                </a:solidFill>
                <a:latin typeface="IBM Plex Sans" pitchFamily="34" charset="0"/>
                <a:ea typeface="IBM Plex Sans" pitchFamily="34" charset="-122"/>
                <a:cs typeface="IBM Plex Sans" pitchFamily="34" charset="-120"/>
              </a:rPr>
              <a:t>File → Save a copy in Drive</a:t>
            </a:r>
            <a:endParaRPr lang="en-US" sz="1300" dirty="0"/>
          </a:p>
        </p:txBody>
      </p:sp>
      <p:sp>
        <p:nvSpPr>
          <p:cNvPr id="39" name="Text 36">
            <a:hlinkClick r:id="rId5"/>
          </p:cNvPr>
          <p:cNvSpPr/>
          <p:nvPr/>
        </p:nvSpPr>
        <p:spPr>
          <a:xfrm>
            <a:off x="9702800" y="3327400"/>
            <a:ext cx="1625600" cy="990600"/>
          </a:xfrm>
          <a:prstGeom prst="roundRect">
            <a:avLst>
              <a:gd name="adj" fmla="val 10702"/>
            </a:avLst>
          </a:prstGeom>
          <a:noFill/>
          <a:ln w="12700">
            <a:noFill/>
            <a:prstDash val="dash"/>
          </a:ln>
        </p:spPr>
        <p:txBody>
          <a:bodyPr wrap="square" lIns="100192" tIns="74792" rIns="27040" bIns="49392" rtlCol="0" anchor="t">
            <a:normAutofit/>
          </a:bodyPr>
          <a:lstStyle/>
          <a:p>
            <a:pPr algn="l" indent="0" marL="0">
              <a:lnSpc>
                <a:spcPts val="1820"/>
              </a:lnSpc>
              <a:buNone/>
            </a:pPr>
            <a:r>
              <a:rPr lang="en-US" sz="1050" dirty="0" b="0">
                <a:solidFill>
                  <a:srgbClr val="6EA8FE"/>
                </a:solidFill>
                <a:latin typeface="IBM Plex Sans" pitchFamily="34" charset="0"/>
                <a:ea typeface="IBM Plex Sans" pitchFamily="34" charset="-122"/>
                <a:cs typeface="IBM Plex Sans" pitchFamily="34" charset="-120"/>
              </a:rPr>
              <a:t>Scan or open:</a:t>
            </a:r>
            <a:endParaRPr lang="en-US" sz="1300" dirty="0"/>
          </a:p>
          <a:p>
            <a:r>
              <a:rPr sz="1050" b="0">
                <a:solidFill>
                  <a:srgbClr val="6EA8FE"/>
                </a:solidFill>
                <a:latin typeface="IBM Plex Sans"/>
              </a:rPr>
              <a:t>github.com/</a:t>
            </a:r>
          </a:p>
          <a:p>
            <a:r>
              <a:rPr sz="1050" b="0">
                <a:solidFill>
                  <a:srgbClr val="6EA8FE"/>
                </a:solidFill>
                <a:latin typeface="IBM Plex Sans"/>
              </a:rPr>
              <a:t>moghazy17/</a:t>
            </a:r>
          </a:p>
          <a:p>
            <a:r>
              <a:rPr sz="1050" b="0">
                <a:solidFill>
                  <a:srgbClr val="6EA8FE"/>
                </a:solidFill>
                <a:latin typeface="IBM Plex Sans"/>
              </a:rPr>
              <a:t>nsac-2026-</a:t>
            </a:r>
          </a:p>
          <a:p>
            <a:r>
              <a:rPr sz="1050" b="0">
                <a:solidFill>
                  <a:srgbClr val="6EA8FE"/>
                </a:solidFill>
                <a:latin typeface="IBM Plex Sans"/>
              </a:rPr>
              <a:t>api-workshop</a:t>
            </a:r>
          </a:p>
        </p:txBody>
      </p:sp>
      <p:pic>
        <p:nvPicPr>
          <p:cNvPr id="40" name="Image 1" descr="NASA Space Apps Cairo logo">    </p:cNvPr>
          <p:cNvPicPr>
            <a:picLocks noChangeAspect="1"/>
          </p:cNvPicPr>
          <p:nvPr/>
        </p:nvPicPr>
        <p:blipFill>
          <a:blip r:embed="rId2"/>
          <a:srcRect l="-70" r="-70" t="0" b="0"/>
          <a:stretch/>
        </p:blipFill>
        <p:spPr>
          <a:xfrm>
            <a:off x="812800" y="6146800"/>
            <a:ext cx="908050" cy="355600"/>
          </a:xfrm>
          <a:prstGeom prst="rect">
            <a:avLst/>
          </a:prstGeom>
        </p:spPr>
      </p:pic>
      <p:pic>
        <p:nvPicPr>
          <p:cNvPr id="41" name="Picture 40" descr="repo_qr.png">
            <a:hlinkClick r:id="rId5"/>
          </p:cNvPr>
          <p:cNvPicPr>
            <a:picLocks noChangeAspect="1"/>
          </p:cNvPicPr>
          <p:nvPr/>
        </p:nvPicPr>
        <p:blipFill>
          <a:blip r:embed="rId6"/>
          <a:stretch>
            <a:fillRect/>
          </a:stretch>
        </p:blipFill>
        <p:spPr>
          <a:xfrm>
            <a:off x="8458200" y="3225800"/>
            <a:ext cx="1117600" cy="11176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Pick one API card with your partner</a:t>
            </a:r>
            <a:endParaRPr lang="en-US" sz="3200" dirty="0"/>
          </a:p>
        </p:txBody>
      </p:sp>
      <p:sp>
        <p:nvSpPr>
          <p:cNvPr id="3" name="Shape 1"/>
          <p:cNvSpPr/>
          <p:nvPr/>
        </p:nvSpPr>
        <p:spPr>
          <a:xfrm>
            <a:off x="812800" y="1564580"/>
            <a:ext cx="3386634" cy="3548658"/>
          </a:xfrm>
          <a:prstGeom prst="roundRect">
            <a:avLst>
              <a:gd name="adj" fmla="val 3750"/>
            </a:avLst>
          </a:prstGeom>
          <a:solidFill>
            <a:srgbClr val="141A2E"/>
          </a:solidFill>
          <a:ln/>
        </p:spPr>
      </p:sp>
      <p:pic>
        <p:nvPicPr>
          <p:cNvPr id="4" name="Image 0" descr="Earth seen from space, centered on Africa and the Middle East">    </p:cNvPr>
          <p:cNvPicPr>
            <a:picLocks noChangeAspect="1"/>
          </p:cNvPicPr>
          <p:nvPr/>
        </p:nvPicPr>
        <p:blipFill>
          <a:blip r:embed="rId1"/>
          <a:srcRect l="1" r="1" t="0" b="0"/>
          <a:stretch/>
        </p:blipFill>
        <p:spPr>
          <a:xfrm>
            <a:off x="965200" y="1716980"/>
            <a:ext cx="3424238" cy="1524000"/>
          </a:xfrm>
          <a:prstGeom prst="roundRect">
            <a:avLst>
              <a:gd name="adj" fmla="val 5000"/>
            </a:avLst>
          </a:prstGeom>
        </p:spPr>
      </p:pic>
      <p:sp>
        <p:nvSpPr>
          <p:cNvPr id="5" name="Text 2"/>
          <p:cNvSpPr/>
          <p:nvPr/>
        </p:nvSpPr>
        <p:spPr>
          <a:xfrm>
            <a:off x="965200" y="3317180"/>
            <a:ext cx="31742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EASY · FREE KEY</a:t>
            </a:r>
            <a:endParaRPr lang="en-US" sz="1200" dirty="0"/>
          </a:p>
        </p:txBody>
      </p:sp>
      <p:sp>
        <p:nvSpPr>
          <p:cNvPr id="6" name="Text 3"/>
          <p:cNvSpPr/>
          <p:nvPr/>
        </p:nvSpPr>
        <p:spPr>
          <a:xfrm>
            <a:off x="965200" y="3606701"/>
            <a:ext cx="3174289"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4F5FA"/>
                </a:solidFill>
                <a:latin typeface="Space Grotesk" pitchFamily="34" charset="0"/>
                <a:ea typeface="Space Grotesk" pitchFamily="34" charset="-122"/>
                <a:cs typeface="Space Grotesk" pitchFamily="34" charset="-120"/>
              </a:rPr>
              <a:t>EPIC: Earth from space</a:t>
            </a:r>
            <a:endParaRPr lang="en-US" sz="1900" dirty="0"/>
          </a:p>
        </p:txBody>
      </p:sp>
      <p:sp>
        <p:nvSpPr>
          <p:cNvPr id="7" name="Text 4"/>
          <p:cNvSpPr/>
          <p:nvPr/>
        </p:nvSpPr>
        <p:spPr>
          <a:xfrm>
            <a:off x="965200" y="3960316"/>
            <a:ext cx="31742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Pick a date, list the day’s photos, show an Earth card</a:t>
            </a:r>
            <a:endParaRPr lang="en-US" sz="1300" dirty="0"/>
          </a:p>
        </p:txBody>
      </p:sp>
      <p:sp>
        <p:nvSpPr>
          <p:cNvPr id="8" name="Text 5"/>
          <p:cNvSpPr/>
          <p:nvPr/>
        </p:nvSpPr>
        <p:spPr>
          <a:xfrm>
            <a:off x="965200" y="4498677"/>
            <a:ext cx="31742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B347"/>
                </a:solidFill>
                <a:latin typeface="IBM Plex Sans" pitchFamily="34" charset="0"/>
                <a:ea typeface="IBM Plex Sans" pitchFamily="34" charset="-122"/>
                <a:cs typeface="IBM Plex Sans" pitchFamily="34" charset="-120"/>
              </a:rPr>
              <a:t>Trap: an empty list on dates with no photos</a:t>
            </a:r>
            <a:endParaRPr lang="en-US" sz="1300" dirty="0"/>
          </a:p>
        </p:txBody>
      </p:sp>
      <p:sp>
        <p:nvSpPr>
          <p:cNvPr id="9" name="Shape 6"/>
          <p:cNvSpPr/>
          <p:nvPr/>
        </p:nvSpPr>
        <p:spPr>
          <a:xfrm>
            <a:off x="4402634" y="1564580"/>
            <a:ext cx="3386733" cy="3548658"/>
          </a:xfrm>
          <a:prstGeom prst="roundRect">
            <a:avLst>
              <a:gd name="adj" fmla="val 3750"/>
            </a:avLst>
          </a:prstGeom>
          <a:solidFill>
            <a:srgbClr val="141A2E"/>
          </a:solidFill>
          <a:ln/>
        </p:spPr>
      </p:sp>
      <p:pic>
        <p:nvPicPr>
          <p:cNvPr id="10" name="Image 1" descr="Illustration of the DART spacecraft approaching an asteroid">    </p:cNvPr>
          <p:cNvPicPr>
            <a:picLocks noChangeAspect="1"/>
          </p:cNvPicPr>
          <p:nvPr/>
        </p:nvPicPr>
        <p:blipFill>
          <a:blip r:embed="rId2"/>
          <a:srcRect l="0" r="0" t="0" b="0"/>
          <a:stretch/>
        </p:blipFill>
        <p:spPr>
          <a:xfrm>
            <a:off x="4555034" y="1716980"/>
            <a:ext cx="3429000" cy="1524000"/>
          </a:xfrm>
          <a:prstGeom prst="roundRect">
            <a:avLst>
              <a:gd name="adj" fmla="val 5000"/>
            </a:avLst>
          </a:prstGeom>
        </p:spPr>
      </p:pic>
      <p:sp>
        <p:nvSpPr>
          <p:cNvPr id="11" name="Text 7"/>
          <p:cNvSpPr/>
          <p:nvPr/>
        </p:nvSpPr>
        <p:spPr>
          <a:xfrm>
            <a:off x="4555034" y="3317180"/>
            <a:ext cx="317439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IBM Plex Sans" pitchFamily="34" charset="0"/>
                <a:ea typeface="IBM Plex Sans" pitchFamily="34" charset="-122"/>
                <a:cs typeface="IBM Plex Sans" pitchFamily="34" charset="-120"/>
              </a:rPr>
              <a:t>MEDIUM · FREE KEY</a:t>
            </a:r>
            <a:endParaRPr lang="en-US" sz="1200" dirty="0"/>
          </a:p>
        </p:txBody>
      </p:sp>
      <p:sp>
        <p:nvSpPr>
          <p:cNvPr id="12" name="Text 8"/>
          <p:cNvSpPr/>
          <p:nvPr/>
        </p:nvSpPr>
        <p:spPr>
          <a:xfrm>
            <a:off x="4555034" y="3606701"/>
            <a:ext cx="3174391"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4F5FA"/>
                </a:solidFill>
                <a:latin typeface="Space Grotesk" pitchFamily="34" charset="0"/>
                <a:ea typeface="Space Grotesk" pitchFamily="34" charset="-122"/>
                <a:cs typeface="Space Grotesk" pitchFamily="34" charset="-120"/>
              </a:rPr>
              <a:t>NeoWs: asteroid list</a:t>
            </a:r>
            <a:endParaRPr lang="en-US" sz="1900" dirty="0"/>
          </a:p>
        </p:txBody>
      </p:sp>
      <p:sp>
        <p:nvSpPr>
          <p:cNvPr id="13" name="Text 9"/>
          <p:cNvSpPr/>
          <p:nvPr/>
        </p:nvSpPr>
        <p:spPr>
          <a:xfrm>
            <a:off x="4555034" y="3960316"/>
            <a:ext cx="31743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Your twist: only hazardous, the biggest, or per day</a:t>
            </a:r>
            <a:endParaRPr lang="en-US" sz="1300" dirty="0"/>
          </a:p>
        </p:txBody>
      </p:sp>
      <p:sp>
        <p:nvSpPr>
          <p:cNvPr id="14" name="Text 10"/>
          <p:cNvSpPr/>
          <p:nvPr/>
        </p:nvSpPr>
        <p:spPr>
          <a:xfrm>
            <a:off x="4555034" y="4498677"/>
            <a:ext cx="31743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B347"/>
                </a:solidFill>
                <a:latin typeface="IBM Plex Sans" pitchFamily="34" charset="0"/>
                <a:ea typeface="IBM Plex Sans" pitchFamily="34" charset="-122"/>
                <a:cs typeface="IBM Plex Sans" pitchFamily="34" charset="-120"/>
              </a:rPr>
              <a:t>Trap: numbers arrive as text; 7-day limit</a:t>
            </a:r>
            <a:endParaRPr lang="en-US" sz="1300" dirty="0"/>
          </a:p>
        </p:txBody>
      </p:sp>
      <p:sp>
        <p:nvSpPr>
          <p:cNvPr id="15" name="Shape 11"/>
          <p:cNvSpPr/>
          <p:nvPr/>
        </p:nvSpPr>
        <p:spPr>
          <a:xfrm>
            <a:off x="7992566" y="1564580"/>
            <a:ext cx="3386634" cy="3548658"/>
          </a:xfrm>
          <a:prstGeom prst="roundRect">
            <a:avLst>
              <a:gd name="adj" fmla="val 3750"/>
            </a:avLst>
          </a:prstGeom>
          <a:solidFill>
            <a:srgbClr val="141A2E"/>
          </a:solidFill>
          <a:ln/>
        </p:spPr>
      </p:sp>
      <p:pic>
        <p:nvPicPr>
          <p:cNvPr id="16" name="Image 2" descr="City lights of Cairo at night seen from the International Space Station">    </p:cNvPr>
          <p:cNvPicPr>
            <a:picLocks noChangeAspect="1"/>
          </p:cNvPicPr>
          <p:nvPr/>
        </p:nvPicPr>
        <p:blipFill>
          <a:blip r:embed="rId3"/>
          <a:srcRect l="1" r="1" t="0" b="0"/>
          <a:stretch/>
        </p:blipFill>
        <p:spPr>
          <a:xfrm>
            <a:off x="8144966" y="1716980"/>
            <a:ext cx="3424238" cy="1524000"/>
          </a:xfrm>
          <a:prstGeom prst="roundRect">
            <a:avLst>
              <a:gd name="adj" fmla="val 5000"/>
            </a:avLst>
          </a:prstGeom>
        </p:spPr>
      </p:pic>
      <p:sp>
        <p:nvSpPr>
          <p:cNvPr id="17" name="Text 12"/>
          <p:cNvSpPr/>
          <p:nvPr/>
        </p:nvSpPr>
        <p:spPr>
          <a:xfrm>
            <a:off x="8144966" y="3317180"/>
            <a:ext cx="31742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3B1F"/>
                </a:solidFill>
                <a:latin typeface="IBM Plex Sans" pitchFamily="34" charset="0"/>
                <a:ea typeface="IBM Plex Sans" pitchFamily="34" charset="-122"/>
                <a:cs typeface="IBM Plex Sans" pitchFamily="34" charset="-120"/>
              </a:rPr>
              <a:t>HARDER · NO KEY</a:t>
            </a:r>
            <a:endParaRPr lang="en-US" sz="1200" dirty="0"/>
          </a:p>
        </p:txBody>
      </p:sp>
      <p:sp>
        <p:nvSpPr>
          <p:cNvPr id="18" name="Text 13"/>
          <p:cNvSpPr/>
          <p:nvPr/>
        </p:nvSpPr>
        <p:spPr>
          <a:xfrm>
            <a:off x="8144966" y="3606701"/>
            <a:ext cx="3174289"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4F5FA"/>
                </a:solidFill>
                <a:latin typeface="Space Grotesk" pitchFamily="34" charset="0"/>
                <a:ea typeface="Space Grotesk" pitchFamily="34" charset="-122"/>
                <a:cs typeface="Space Grotesk" pitchFamily="34" charset="-120"/>
              </a:rPr>
              <a:t>POWER: a very hot day?</a:t>
            </a:r>
            <a:endParaRPr lang="en-US" sz="1900" dirty="0"/>
          </a:p>
        </p:txBody>
      </p:sp>
      <p:sp>
        <p:nvSpPr>
          <p:cNvPr id="19" name="Text 14"/>
          <p:cNvSpPr/>
          <p:nvPr/>
        </p:nvSpPr>
        <p:spPr>
          <a:xfrm>
            <a:off x="8144966" y="3960316"/>
            <a:ext cx="31742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D8"/>
                </a:solidFill>
                <a:latin typeface="IBM Plex Sans" pitchFamily="34" charset="0"/>
                <a:ea typeface="IBM Plex Sans" pitchFamily="34" charset="-122"/>
                <a:cs typeface="IBM Plex Sans" pitchFamily="34" charset="-120"/>
              </a:rPr>
              <a:t>20 years of Cairo data → % of days above 35 °C</a:t>
            </a:r>
            <a:endParaRPr lang="en-US" sz="1300" dirty="0"/>
          </a:p>
        </p:txBody>
      </p:sp>
      <p:sp>
        <p:nvSpPr>
          <p:cNvPr id="20" name="Text 15"/>
          <p:cNvSpPr/>
          <p:nvPr/>
        </p:nvSpPr>
        <p:spPr>
          <a:xfrm>
            <a:off x="8144966" y="4498677"/>
            <a:ext cx="31742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B347"/>
                </a:solidFill>
                <a:latin typeface="IBM Plex Sans" pitchFamily="34" charset="0"/>
                <a:ea typeface="IBM Plex Sans" pitchFamily="34" charset="-122"/>
                <a:cs typeface="IBM Plex Sans" pitchFamily="34" charset="-120"/>
              </a:rPr>
              <a:t>Trap: -999 means missing</a:t>
            </a:r>
            <a:endParaRPr lang="en-US" sz="1300" dirty="0"/>
          </a:p>
        </p:txBody>
      </p:sp>
      <p:pic>
        <p:nvPicPr>
          <p:cNvPr id="21" name="Image 3" descr="NASA Space Apps Cairo logo">    </p:cNvPr>
          <p:cNvPicPr>
            <a:picLocks noChangeAspect="1"/>
          </p:cNvPicPr>
          <p:nvPr/>
        </p:nvPicPr>
        <p:blipFill>
          <a:blip r:embed="rId4"/>
          <a:srcRect l="-70" r="-70" t="0" b="0"/>
          <a:stretch/>
        </p:blipFill>
        <p:spPr>
          <a:xfrm>
            <a:off x="812800" y="6146800"/>
            <a:ext cx="908050" cy="355600"/>
          </a:xfrm>
          <a:prstGeom prst="rect">
            <a:avLst/>
          </a:prstGeom>
        </p:spPr>
      </p:pic>
      <p:sp>
        <p:nvSpPr>
          <p:cNvPr id="22" name="Text 16"/>
          <p:cNvSpPr/>
          <p:nvPr/>
        </p:nvSpPr>
        <p:spPr>
          <a:xfrm>
            <a:off x="3321304" y="6248400"/>
            <a:ext cx="80578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3B8"/>
                </a:solidFill>
                <a:latin typeface="IBM Plex Sans" pitchFamily="34" charset="0"/>
                <a:ea typeface="IBM Plex Sans" pitchFamily="34" charset="-122"/>
                <a:cs typeface="IBM Plex Sans" pitchFamily="34" charset="-120"/>
              </a:rPr>
              <a:t>Photos: NASA EPIC · NASA/Johns Hopkins APL (DART, illustration) · ISS crew</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607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Your 48-hour data plan</a:t>
            </a:r>
            <a:endParaRPr lang="en-US" sz="3200" dirty="0"/>
          </a:p>
        </p:txBody>
      </p:sp>
      <p:sp>
        <p:nvSpPr>
          <p:cNvPr id="3" name="Shape 1"/>
          <p:cNvSpPr/>
          <p:nvPr/>
        </p:nvSpPr>
        <p:spPr>
          <a:xfrm>
            <a:off x="812800" y="1564580"/>
            <a:ext cx="3149600" cy="1137841"/>
          </a:xfrm>
          <a:prstGeom prst="roundRect">
            <a:avLst>
              <a:gd name="adj" fmla="val 11161"/>
            </a:avLst>
          </a:prstGeom>
          <a:solidFill>
            <a:srgbClr val="141A2E"/>
          </a:solidFill>
          <a:ln/>
        </p:spPr>
      </p:sp>
      <p:sp>
        <p:nvSpPr>
          <p:cNvPr id="4" name="Text 2"/>
          <p:cNvSpPr/>
          <p:nvPr/>
        </p:nvSpPr>
        <p:spPr>
          <a:xfrm>
            <a:off x="1016000" y="1742380"/>
            <a:ext cx="28254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3B1F"/>
                </a:solidFill>
                <a:latin typeface="IBM Plex Sans" pitchFamily="34" charset="0"/>
                <a:ea typeface="IBM Plex Sans" pitchFamily="34" charset="-122"/>
                <a:cs typeface="IBM Plex Sans" pitchFamily="34" charset="-120"/>
              </a:rPr>
              <a:t>HOURS 0–3</a:t>
            </a:r>
            <a:endParaRPr lang="en-US" sz="1200" dirty="0"/>
          </a:p>
        </p:txBody>
      </p:sp>
      <p:sp>
        <p:nvSpPr>
          <p:cNvPr id="5" name="Text 3"/>
          <p:cNvSpPr/>
          <p:nvPr/>
        </p:nvSpPr>
        <p:spPr>
          <a:xfrm>
            <a:off x="1016000" y="2006501"/>
            <a:ext cx="2825496"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One real call working, response saved</a:t>
            </a:r>
            <a:endParaRPr lang="en-US" sz="1700" dirty="0"/>
          </a:p>
        </p:txBody>
      </p:sp>
      <p:pic>
        <p:nvPicPr>
          <p:cNvPr id="6" name="Image 0" descr="arrow-right">    </p:cNvPr>
          <p:cNvPicPr>
            <a:picLocks noChangeAspect="1"/>
          </p:cNvPicPr>
          <p:nvPr/>
        </p:nvPicPr>
        <p:blipFill>
          <a:blip r:embed="rId1"/>
          <a:srcRect l="0" r="0" t="0" b="0"/>
          <a:stretch/>
        </p:blipFill>
        <p:spPr>
          <a:xfrm>
            <a:off x="4089400" y="2044601"/>
            <a:ext cx="304800" cy="177800"/>
          </a:xfrm>
          <a:prstGeom prst="rect">
            <a:avLst/>
          </a:prstGeom>
        </p:spPr>
      </p:pic>
      <p:sp>
        <p:nvSpPr>
          <p:cNvPr id="7" name="Shape 4"/>
          <p:cNvSpPr/>
          <p:nvPr/>
        </p:nvSpPr>
        <p:spPr>
          <a:xfrm>
            <a:off x="4521200" y="1564580"/>
            <a:ext cx="3149600" cy="1137841"/>
          </a:xfrm>
          <a:prstGeom prst="roundRect">
            <a:avLst>
              <a:gd name="adj" fmla="val 11161"/>
            </a:avLst>
          </a:prstGeom>
          <a:solidFill>
            <a:srgbClr val="141A2E"/>
          </a:solidFill>
          <a:ln/>
        </p:spPr>
      </p:sp>
      <p:sp>
        <p:nvSpPr>
          <p:cNvPr id="8" name="Text 5"/>
          <p:cNvSpPr/>
          <p:nvPr/>
        </p:nvSpPr>
        <p:spPr>
          <a:xfrm>
            <a:off x="4724400" y="1742380"/>
            <a:ext cx="28254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IBM Plex Sans" pitchFamily="34" charset="0"/>
                <a:ea typeface="IBM Plex Sans" pitchFamily="34" charset="-122"/>
                <a:cs typeface="IBM Plex Sans" pitchFamily="34" charset="-120"/>
              </a:rPr>
              <a:t>NEXT</a:t>
            </a:r>
            <a:endParaRPr lang="en-US" sz="1200" dirty="0"/>
          </a:p>
        </p:txBody>
      </p:sp>
      <p:sp>
        <p:nvSpPr>
          <p:cNvPr id="9" name="Text 6"/>
          <p:cNvSpPr/>
          <p:nvPr/>
        </p:nvSpPr>
        <p:spPr>
          <a:xfrm>
            <a:off x="4724400" y="2006501"/>
            <a:ext cx="2825496"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Build the feature on the saved copy</a:t>
            </a:r>
            <a:endParaRPr lang="en-US" sz="1700" dirty="0"/>
          </a:p>
        </p:txBody>
      </p:sp>
      <p:pic>
        <p:nvPicPr>
          <p:cNvPr id="10" name="Image 1" descr="arrow-right">    </p:cNvPr>
          <p:cNvPicPr>
            <a:picLocks noChangeAspect="1"/>
          </p:cNvPicPr>
          <p:nvPr/>
        </p:nvPicPr>
        <p:blipFill>
          <a:blip r:embed="rId2"/>
          <a:srcRect l="0" r="0" t="0" b="0"/>
          <a:stretch/>
        </p:blipFill>
        <p:spPr>
          <a:xfrm>
            <a:off x="7797800" y="2044601"/>
            <a:ext cx="304800" cy="177800"/>
          </a:xfrm>
          <a:prstGeom prst="rect">
            <a:avLst/>
          </a:prstGeom>
        </p:spPr>
      </p:pic>
      <p:sp>
        <p:nvSpPr>
          <p:cNvPr id="11" name="Shape 7"/>
          <p:cNvSpPr/>
          <p:nvPr/>
        </p:nvSpPr>
        <p:spPr>
          <a:xfrm>
            <a:off x="8229600" y="1564580"/>
            <a:ext cx="3149600" cy="1137841"/>
          </a:xfrm>
          <a:prstGeom prst="roundRect">
            <a:avLst>
              <a:gd name="adj" fmla="val 11161"/>
            </a:avLst>
          </a:prstGeom>
          <a:solidFill>
            <a:srgbClr val="141A2E"/>
          </a:solidFill>
          <a:ln/>
        </p:spPr>
      </p:sp>
      <p:sp>
        <p:nvSpPr>
          <p:cNvPr id="12" name="Text 8"/>
          <p:cNvSpPr/>
          <p:nvPr/>
        </p:nvSpPr>
        <p:spPr>
          <a:xfrm>
            <a:off x="8432800" y="1742380"/>
            <a:ext cx="28254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DC97"/>
                </a:solidFill>
                <a:latin typeface="IBM Plex Sans" pitchFamily="34" charset="0"/>
                <a:ea typeface="IBM Plex Sans" pitchFamily="34" charset="-122"/>
                <a:cs typeface="IBM Plex Sans" pitchFamily="34" charset="-120"/>
              </a:rPr>
              <a:t>LATER</a:t>
            </a:r>
            <a:endParaRPr lang="en-US" sz="1200" dirty="0"/>
          </a:p>
        </p:txBody>
      </p:sp>
      <p:sp>
        <p:nvSpPr>
          <p:cNvPr id="13" name="Text 9"/>
          <p:cNvSpPr/>
          <p:nvPr/>
        </p:nvSpPr>
        <p:spPr>
          <a:xfrm>
            <a:off x="8432800" y="2006501"/>
            <a:ext cx="2825496"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5FA"/>
                </a:solidFill>
                <a:latin typeface="Space Grotesk" pitchFamily="34" charset="0"/>
                <a:ea typeface="Space Grotesk" pitchFamily="34" charset="-122"/>
                <a:cs typeface="Space Grotesk" pitchFamily="34" charset="-120"/>
              </a:rPr>
              <a:t>Go live; join a second source by date or place</a:t>
            </a:r>
            <a:endParaRPr lang="en-US" sz="1700" dirty="0"/>
          </a:p>
        </p:txBody>
      </p:sp>
      <p:sp>
        <p:nvSpPr>
          <p:cNvPr id="14" name="Text 10"/>
          <p:cNvSpPr/>
          <p:nvPr/>
        </p:nvSpPr>
        <p:spPr>
          <a:xfrm>
            <a:off x="812800" y="3007221"/>
            <a:ext cx="52324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F3B1F"/>
                </a:solidFill>
                <a:latin typeface="Space Grotesk" pitchFamily="34" charset="0"/>
                <a:ea typeface="Space Grotesk" pitchFamily="34" charset="-122"/>
                <a:cs typeface="Space Grotesk" pitchFamily="34" charset="-120"/>
              </a:rPr>
              <a:t>Don’t waste time on</a:t>
            </a:r>
            <a:endParaRPr lang="en-US" sz="2000" dirty="0"/>
          </a:p>
        </p:txBody>
      </p:sp>
      <p:sp>
        <p:nvSpPr>
          <p:cNvPr id="15" name="Text 11"/>
          <p:cNvSpPr/>
          <p:nvPr/>
        </p:nvSpPr>
        <p:spPr>
          <a:xfrm>
            <a:off x="891032" y="3388221"/>
            <a:ext cx="5146548"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Your own backend or database</a:t>
            </a:r>
            <a:endParaRPr lang="en-US" sz="1400" dirty="0"/>
          </a:p>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Many APIs at once</a:t>
            </a:r>
            <a:endParaRPr lang="en-US" sz="1400" dirty="0"/>
          </a:p>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Huge downloads</a:t>
            </a:r>
            <a:endParaRPr lang="en-US" sz="1400" dirty="0"/>
          </a:p>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A “perfect” data pipeline</a:t>
            </a:r>
            <a:endParaRPr lang="en-US" sz="1400" dirty="0"/>
          </a:p>
        </p:txBody>
      </p:sp>
      <p:sp>
        <p:nvSpPr>
          <p:cNvPr id="16" name="Text 12"/>
          <p:cNvSpPr/>
          <p:nvPr/>
        </p:nvSpPr>
        <p:spPr>
          <a:xfrm>
            <a:off x="6299200" y="3007221"/>
            <a:ext cx="52324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6EA8FF"/>
                </a:solidFill>
                <a:latin typeface="Space Grotesk" pitchFamily="34" charset="0"/>
                <a:ea typeface="Space Grotesk" pitchFamily="34" charset="-122"/>
                <a:cs typeface="Space Grotesk" pitchFamily="34" charset="-120"/>
              </a:rPr>
              <a:t>AI assistants: useful, but check them</a:t>
            </a:r>
            <a:endParaRPr lang="en-US" sz="2000" dirty="0"/>
          </a:p>
        </p:txBody>
      </p:sp>
      <p:sp>
        <p:nvSpPr>
          <p:cNvPr id="17" name="Text 13"/>
          <p:cNvSpPr/>
          <p:nvPr/>
        </p:nvSpPr>
        <p:spPr>
          <a:xfrm>
            <a:off x="6377432" y="3388221"/>
            <a:ext cx="5146548"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Ask them to explain docs and draft parsing code</a:t>
            </a:r>
            <a:endParaRPr lang="en-US" sz="1400" dirty="0"/>
          </a:p>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Check every field against the real response: an AI gave us danger_level and diameter_km, which don’t exist</a:t>
            </a:r>
            <a:endParaRPr lang="en-US" sz="1400" dirty="0"/>
          </a:p>
          <a:p>
            <a:pPr algn="l" marL="175768" indent="-175768">
              <a:lnSpc>
                <a:spcPts val="2100"/>
              </a:lnSpc>
              <a:buSzPct val="100000"/>
              <a:buChar char="•"/>
            </a:pPr>
            <a:r>
              <a:rPr lang="en-US" sz="1400" dirty="0">
                <a:solidFill>
                  <a:srgbClr val="BFC6D8"/>
                </a:solidFill>
                <a:latin typeface="IBM Plex Sans" pitchFamily="34" charset="0"/>
                <a:ea typeface="IBM Plex Sans" pitchFamily="34" charset="-122"/>
                <a:cs typeface="IBM Plex Sans" pitchFamily="34" charset="-120"/>
              </a:rPr>
              <a:t>Never paste a paid key into code you share</a:t>
            </a:r>
            <a:endParaRPr lang="en-US" sz="1400" dirty="0"/>
          </a:p>
        </p:txBody>
      </p:sp>
      <p:pic>
        <p:nvPicPr>
          <p:cNvPr id="18" name="Image 2" descr="NASA Space Apps Cairo logo">    </p:cNvPr>
          <p:cNvPicPr>
            <a:picLocks noChangeAspect="1"/>
          </p:cNvPicPr>
          <p:nvPr/>
        </p:nvPicPr>
        <p:blipFill>
          <a:blip r:embed="rId3"/>
          <a:srcRect l="-70" r="-70" t="0" b="0"/>
          <a:stretch/>
        </p:blipFill>
        <p:spPr>
          <a:xfrm>
            <a:off x="812800" y="6146800"/>
            <a:ext cx="908050" cy="3556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6070D"/>
        </a:solidFill>
      </p:bgPr>
    </p:bg>
    <p:spTree>
      <p:nvGrpSpPr>
        <p:cNvPr id="1" name=""/>
        <p:cNvGrpSpPr/>
        <p:nvPr/>
      </p:nvGrpSpPr>
      <p:grpSpPr>
        <a:xfrm>
          <a:off x="0" y="0"/>
          <a:ext cx="0" cy="0"/>
          <a:chOff x="0" y="0"/>
          <a:chExt cx="0" cy="0"/>
        </a:xfrm>
      </p:grpSpPr>
      <p:pic>
        <p:nvPicPr>
          <p:cNvPr id="2" name="Image 0" descr="Cairo at night seen from the International Space Station">    </p:cNvPr>
          <p:cNvPicPr>
            <a:picLocks noChangeAspect="1"/>
          </p:cNvPicPr>
          <p:nvPr/>
        </p:nvPicPr>
        <p:blipFill>
          <a:blip r:embed="rId1"/>
          <a:srcRect l="4718" r="4718" t="0" b="0"/>
          <a:stretch/>
        </p:blipFill>
        <p:spPr>
          <a:xfrm>
            <a:off x="7366000" y="0"/>
            <a:ext cx="4826000" cy="6858000"/>
          </a:xfrm>
          <a:prstGeom prst="rect">
            <a:avLst/>
          </a:prstGeom>
        </p:spPr>
      </p:pic>
      <p:sp>
        <p:nvSpPr>
          <p:cNvPr id="3" name="Text 0"/>
          <p:cNvSpPr/>
          <p:nvPr>
            <p:ph type="title"/>
          </p:nvPr>
        </p:nvSpPr>
        <p:spPr>
          <a:xfrm>
            <a:off x="812800" y="812800"/>
            <a:ext cx="627888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A"/>
                </a:solidFill>
                <a:latin typeface="Space Grotesk" pitchFamily="34" charset="0"/>
                <a:ea typeface="Space Grotesk" pitchFamily="34" charset="-122"/>
                <a:cs typeface="Space Grotesk" pitchFamily="34" charset="-120"/>
              </a:rPr>
              <a:t>5 things to remember</a:t>
            </a:r>
            <a:endParaRPr lang="en-US" sz="3200" dirty="0"/>
          </a:p>
        </p:txBody>
      </p:sp>
      <p:sp>
        <p:nvSpPr>
          <p:cNvPr id="4" name="Text 1"/>
          <p:cNvSpPr/>
          <p:nvPr/>
        </p:nvSpPr>
        <p:spPr>
          <a:xfrm>
            <a:off x="812800" y="1513780"/>
            <a:ext cx="330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FF3B1F"/>
                </a:solidFill>
                <a:latin typeface="Space Grotesk" pitchFamily="34" charset="0"/>
                <a:ea typeface="Space Grotesk" pitchFamily="34" charset="-122"/>
                <a:cs typeface="Space Grotesk" pitchFamily="34" charset="-120"/>
              </a:rPr>
              <a:t>1</a:t>
            </a:r>
            <a:endParaRPr lang="en-US" sz="2600" dirty="0"/>
          </a:p>
        </p:txBody>
      </p:sp>
      <p:sp>
        <p:nvSpPr>
          <p:cNvPr id="5" name="Text 2"/>
          <p:cNvSpPr/>
          <p:nvPr/>
        </p:nvSpPr>
        <p:spPr>
          <a:xfrm>
            <a:off x="1270000" y="1621036"/>
            <a:ext cx="58079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5FA"/>
                </a:solidFill>
                <a:latin typeface="IBM Plex Sans" pitchFamily="34" charset="0"/>
                <a:ea typeface="IBM Plex Sans" pitchFamily="34" charset="-122"/>
                <a:cs typeface="IBM Plex Sans" pitchFamily="34" charset="-120"/>
              </a:rPr>
              <a:t>Test the API URL in your browser first</a:t>
            </a:r>
            <a:endParaRPr lang="en-US" sz="1500" dirty="0"/>
          </a:p>
        </p:txBody>
      </p:sp>
      <p:sp>
        <p:nvSpPr>
          <p:cNvPr id="6" name="Text 3"/>
          <p:cNvSpPr/>
          <p:nvPr/>
        </p:nvSpPr>
        <p:spPr>
          <a:xfrm>
            <a:off x="812800" y="2115741"/>
            <a:ext cx="330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FF3B1F"/>
                </a:solidFill>
                <a:latin typeface="Space Grotesk" pitchFamily="34" charset="0"/>
                <a:ea typeface="Space Grotesk" pitchFamily="34" charset="-122"/>
                <a:cs typeface="Space Grotesk" pitchFamily="34" charset="-120"/>
              </a:rPr>
              <a:t>2</a:t>
            </a:r>
            <a:endParaRPr lang="en-US" sz="2600" dirty="0"/>
          </a:p>
        </p:txBody>
      </p:sp>
      <p:sp>
        <p:nvSpPr>
          <p:cNvPr id="7" name="Text 4"/>
          <p:cNvSpPr/>
          <p:nvPr/>
        </p:nvSpPr>
        <p:spPr>
          <a:xfrm>
            <a:off x="1270000" y="2222996"/>
            <a:ext cx="58079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5FA"/>
                </a:solidFill>
                <a:latin typeface="IBM Plex Sans" pitchFamily="34" charset="0"/>
                <a:ea typeface="IBM Plex Sans" pitchFamily="34" charset="-122"/>
                <a:cs typeface="IBM Plex Sans" pitchFamily="34" charset="-120"/>
              </a:rPr>
              <a:t>Get your own free key; a paid key never goes public</a:t>
            </a:r>
            <a:endParaRPr lang="en-US" sz="1500" dirty="0"/>
          </a:p>
        </p:txBody>
      </p:sp>
      <p:sp>
        <p:nvSpPr>
          <p:cNvPr id="8" name="Text 5"/>
          <p:cNvSpPr/>
          <p:nvPr/>
        </p:nvSpPr>
        <p:spPr>
          <a:xfrm>
            <a:off x="812800" y="2717701"/>
            <a:ext cx="330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FF3B1F"/>
                </a:solidFill>
                <a:latin typeface="Space Grotesk" pitchFamily="34" charset="0"/>
                <a:ea typeface="Space Grotesk" pitchFamily="34" charset="-122"/>
                <a:cs typeface="Space Grotesk" pitchFamily="34" charset="-120"/>
              </a:rPr>
              <a:t>3</a:t>
            </a:r>
            <a:endParaRPr lang="en-US" sz="2600" dirty="0"/>
          </a:p>
        </p:txBody>
      </p:sp>
      <p:sp>
        <p:nvSpPr>
          <p:cNvPr id="9" name="Text 6"/>
          <p:cNvSpPr/>
          <p:nvPr/>
        </p:nvSpPr>
        <p:spPr>
          <a:xfrm>
            <a:off x="1270000" y="2824956"/>
            <a:ext cx="58079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5FA"/>
                </a:solidFill>
                <a:latin typeface="IBM Plex Sans" pitchFamily="34" charset="0"/>
                <a:ea typeface="IBM Plex Sans" pitchFamily="34" charset="-122"/>
                <a:cs typeface="IBM Plex Sans" pitchFamily="34" charset="-120"/>
              </a:rPr>
              <a:t>Save a copy the moment your call works</a:t>
            </a:r>
            <a:endParaRPr lang="en-US" sz="1500" dirty="0"/>
          </a:p>
        </p:txBody>
      </p:sp>
      <p:sp>
        <p:nvSpPr>
          <p:cNvPr id="10" name="Text 7"/>
          <p:cNvSpPr/>
          <p:nvPr/>
        </p:nvSpPr>
        <p:spPr>
          <a:xfrm>
            <a:off x="812800" y="3319661"/>
            <a:ext cx="330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FF3B1F"/>
                </a:solidFill>
                <a:latin typeface="Space Grotesk" pitchFamily="34" charset="0"/>
                <a:ea typeface="Space Grotesk" pitchFamily="34" charset="-122"/>
                <a:cs typeface="Space Grotesk" pitchFamily="34" charset="-120"/>
              </a:rPr>
              <a:t>4</a:t>
            </a:r>
            <a:endParaRPr lang="en-US" sz="2600" dirty="0"/>
          </a:p>
        </p:txBody>
      </p:sp>
      <p:sp>
        <p:nvSpPr>
          <p:cNvPr id="11" name="Text 8"/>
          <p:cNvSpPr/>
          <p:nvPr/>
        </p:nvSpPr>
        <p:spPr>
          <a:xfrm>
            <a:off x="1270000" y="3426916"/>
            <a:ext cx="58079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5FA"/>
                </a:solidFill>
                <a:latin typeface="IBM Plex Sans" pitchFamily="34" charset="0"/>
                <a:ea typeface="IBM Plex Sans" pitchFamily="34" charset="-122"/>
                <a:cs typeface="IBM Plex Sans" pitchFamily="34" charset="-120"/>
              </a:rPr>
              <a:t>Take only the fields you need; check units and -999</a:t>
            </a:r>
            <a:endParaRPr lang="en-US" sz="1500" dirty="0"/>
          </a:p>
        </p:txBody>
      </p:sp>
      <p:sp>
        <p:nvSpPr>
          <p:cNvPr id="12" name="Text 9"/>
          <p:cNvSpPr/>
          <p:nvPr/>
        </p:nvSpPr>
        <p:spPr>
          <a:xfrm>
            <a:off x="812800" y="3921621"/>
            <a:ext cx="330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FF3B1F"/>
                </a:solidFill>
                <a:latin typeface="Space Grotesk" pitchFamily="34" charset="0"/>
                <a:ea typeface="Space Grotesk" pitchFamily="34" charset="-122"/>
                <a:cs typeface="Space Grotesk" pitchFamily="34" charset="-120"/>
              </a:rPr>
              <a:t>5</a:t>
            </a:r>
            <a:endParaRPr lang="en-US" sz="2600" dirty="0"/>
          </a:p>
        </p:txBody>
      </p:sp>
      <p:sp>
        <p:nvSpPr>
          <p:cNvPr id="13" name="Text 10"/>
          <p:cNvSpPr/>
          <p:nvPr/>
        </p:nvSpPr>
        <p:spPr>
          <a:xfrm>
            <a:off x="1270000" y="4028877"/>
            <a:ext cx="58079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5FA"/>
                </a:solidFill>
                <a:latin typeface="IBM Plex Sans" pitchFamily="34" charset="0"/>
                <a:ea typeface="IBM Plex Sans" pitchFamily="34" charset="-122"/>
                <a:cs typeface="IBM Plex Sans" pitchFamily="34" charset="-120"/>
              </a:rPr>
              <a:t>Plan for failure: a clear message + your saved data</a:t>
            </a:r>
            <a:endParaRPr lang="en-US" sz="1500" dirty="0"/>
          </a:p>
        </p:txBody>
      </p:sp>
      <p:sp>
        <p:nvSpPr>
          <p:cNvPr id="14" name="Text 11"/>
          <p:cNvSpPr/>
          <p:nvPr/>
        </p:nvSpPr>
        <p:spPr>
          <a:xfrm>
            <a:off x="812800" y="4637881"/>
            <a:ext cx="62788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4F5FA"/>
                </a:solidFill>
                <a:latin typeface="Space Grotesk" pitchFamily="34" charset="0"/>
                <a:ea typeface="Space Grotesk" pitchFamily="34" charset="-122"/>
                <a:cs typeface="Space Grotesk" pitchFamily="34" charset="-120"/>
              </a:rPr>
              <a:t>Thank you! Questions?</a:t>
            </a:r>
            <a:endParaRPr lang="en-US" sz="2200" dirty="0"/>
          </a:p>
        </p:txBody>
      </p:sp>
      <p:sp>
        <p:nvSpPr>
          <p:cNvPr id="15" name="Text 12"/>
          <p:cNvSpPr/>
          <p:nvPr/>
        </p:nvSpPr>
        <p:spPr>
          <a:xfrm>
            <a:off x="812800" y="5079802"/>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3B8"/>
                </a:solidFill>
                <a:latin typeface="IBM Plex Sans" pitchFamily="34" charset="0"/>
                <a:ea typeface="IBM Plex Sans" pitchFamily="34" charset="-122"/>
                <a:cs typeface="IBM Plex Sans" pitchFamily="34" charset="-120"/>
              </a:rPr>
              <a:t>Fouad Soliman · AI &amp; Data Analytics Senior Specialist, e&amp; Egypt</a:t>
            </a:r>
            <a:endParaRPr lang="en-US" sz="1400" dirty="0"/>
          </a:p>
        </p:txBody>
      </p:sp>
      <p:sp>
        <p:nvSpPr>
          <p:cNvPr id="16" name="Text 13">
            <a:hlinkClick r:id="rId6"/>
          </p:cNvPr>
          <p:cNvSpPr/>
          <p:nvPr/>
        </p:nvSpPr>
        <p:spPr>
          <a:xfrm>
            <a:off x="812800" y="5379442"/>
            <a:ext cx="5080000" cy="256480"/>
          </a:xfrm>
          <a:prstGeom prst="rect">
            <a:avLst/>
          </a:prstGeom>
          <a:noFill/>
          <a:ln/>
        </p:spPr>
        <p:txBody>
          <a:bodyPr wrap="square" lIns="0" tIns="0" rIns="0" bIns="0" rtlCol="0" anchor="t">
            <a:normAutofit/>
          </a:bodyPr>
          <a:lstStyle/>
          <a:p>
            <a:pPr algn="l" indent="0" marL="0">
              <a:lnSpc>
                <a:spcPts val="1820"/>
              </a:lnSpc>
              <a:buNone/>
            </a:pPr>
            <a:r>
              <a:rPr lang="en-US" sz="1200" dirty="0" b="0">
                <a:solidFill>
                  <a:srgbClr val="6EA8FE"/>
                </a:solidFill>
                <a:latin typeface="IBM Plex Sans" pitchFamily="34" charset="0"/>
                <a:ea typeface="IBM Plex Sans" pitchFamily="34" charset="-122"/>
                <a:cs typeface="IBM Plex Sans" pitchFamily="34" charset="-120"/>
              </a:rPr>
              <a:t>Notebooks, API cards, cheat sheet:</a:t>
            </a:r>
            <a:endParaRPr lang="en-US" sz="1300" dirty="0"/>
          </a:p>
          <a:p>
            <a:r>
              <a:rPr sz="1200" b="0">
                <a:solidFill>
                  <a:srgbClr val="6EA8FE"/>
                </a:solidFill>
                <a:latin typeface="IBM Plex Sans"/>
              </a:rPr>
              <a:t>github.com/moghazy17/nsac-2026-api-workshop</a:t>
            </a:r>
          </a:p>
        </p:txBody>
      </p:sp>
      <p:pic>
        <p:nvPicPr>
          <p:cNvPr id="17" name="Image 1" descr="NASA Space Apps Cairo logo">    </p:cNvPr>
          <p:cNvPicPr>
            <a:picLocks noChangeAspect="1"/>
          </p:cNvPicPr>
          <p:nvPr/>
        </p:nvPicPr>
        <p:blipFill>
          <a:blip r:embed="rId2"/>
          <a:srcRect l="-70" r="-70" t="0" b="0"/>
          <a:stretch/>
        </p:blipFill>
        <p:spPr>
          <a:xfrm>
            <a:off x="812800" y="6146800"/>
            <a:ext cx="908050" cy="355600"/>
          </a:xfrm>
          <a:prstGeom prst="rect">
            <a:avLst/>
          </a:prstGeom>
        </p:spPr>
      </p:pic>
      <p:pic>
        <p:nvPicPr>
          <p:cNvPr id="18" name="Image 2" descr="IEEE Young Professionals Egypt logo">    </p:cNvPr>
          <p:cNvPicPr>
            <a:picLocks noChangeAspect="1"/>
          </p:cNvPicPr>
          <p:nvPr/>
        </p:nvPicPr>
        <p:blipFill>
          <a:blip r:embed="rId3"/>
          <a:srcRect l="0" r="0" t="-3530" b="-3530"/>
          <a:stretch/>
        </p:blipFill>
        <p:spPr>
          <a:xfrm>
            <a:off x="1968500" y="6146800"/>
            <a:ext cx="1333500" cy="342900"/>
          </a:xfrm>
          <a:prstGeom prst="rect">
            <a:avLst/>
          </a:prstGeom>
        </p:spPr>
      </p:pic>
      <p:sp>
        <p:nvSpPr>
          <p:cNvPr id="19" name="Text 14"/>
          <p:cNvSpPr/>
          <p:nvPr/>
        </p:nvSpPr>
        <p:spPr>
          <a:xfrm>
            <a:off x="7376414" y="6248400"/>
            <a:ext cx="40027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EBF5"/>
                </a:solidFill>
                <a:latin typeface="IBM Plex Sans" pitchFamily="34" charset="0"/>
                <a:ea typeface="IBM Plex Sans" pitchFamily="34" charset="-122"/>
                <a:cs typeface="IBM Plex Sans" pitchFamily="34" charset="-120"/>
              </a:rPr>
              <a:t>Cairo at night from the ISS · NASA, Jul 2026</a:t>
            </a:r>
            <a:endParaRPr lang="en-US" sz="1200" dirty="0"/>
          </a:p>
        </p:txBody>
      </p:sp>
      <p:pic>
        <p:nvPicPr>
          <p:cNvPr id="20" name="Picture 19" descr="repo_qr.png">
            <a:hlinkClick r:id="rId6"/>
          </p:cNvPr>
          <p:cNvPicPr>
            <a:picLocks noChangeAspect="1"/>
          </p:cNvPicPr>
          <p:nvPr/>
        </p:nvPicPr>
        <p:blipFill>
          <a:blip r:embed="rId7"/>
          <a:stretch>
            <a:fillRect/>
          </a:stretch>
        </p:blipFill>
        <p:spPr>
          <a:xfrm>
            <a:off x="6045200" y="4572000"/>
            <a:ext cx="1041400" cy="1041400"/>
          </a:xfrm>
          <a:prstGeom prst="rect">
            <a:avLst/>
          </a:prstGeom>
        </p:spPr>
      </p:pic>
    </p:spTree>
  </p:cSld>
  <p:clrMapOvr>
    <a:masterClrMapping/>
  </p:clrMapOvr>
</p:sld>
</file>

<file path=ppt/theme/theme1.xml><?xml version="1.0" encoding="utf-8"?>
<a:theme xmlns:a="http://schemas.openxmlformats.org/drawingml/2006/main" name="From a NASA API Call to a Working Feature">
  <a:themeElements>
    <a:clrScheme name="From a NASA API Call to a Working Feature">
      <a:dk1>
        <a:srgbClr val="06070D"/>
      </a:dk1>
      <a:lt1>
        <a:srgbClr val="F4F5FA"/>
      </a:lt1>
      <a:dk2>
        <a:srgbClr val="1E1F25"/>
      </a:dk2>
      <a:lt2>
        <a:srgbClr val="B9BABF"/>
      </a:lt2>
      <a:accent1>
        <a:srgbClr val="FF3B1F"/>
      </a:accent1>
      <a:accent2>
        <a:srgbClr val="FFB347"/>
      </a:accent2>
      <a:accent3>
        <a:srgbClr val="6EA8FF"/>
      </a:accent3>
      <a:accent4>
        <a:srgbClr val="3DDC97"/>
      </a:accent4>
      <a:accent5>
        <a:srgbClr val="1F2746"/>
      </a:accent5>
      <a:accent6>
        <a:srgbClr val="242D51"/>
      </a:accent6>
      <a:hlink>
        <a:srgbClr val="0563C1"/>
      </a:hlink>
      <a:folHlink>
        <a:srgbClr val="954F72"/>
      </a:folHlink>
    </a:clrScheme>
    <a:fontScheme name="From a NASA API Call to a Working Featur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NASA API Call to a Working Feature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2026-10-30T07:33:19Z</dcterms:created>
  <dcterms:modified xsi:type="dcterms:W3CDTF">2026-10-30T07:33:19Z</dcterms:modified>
</cp:coreProperties>
</file>